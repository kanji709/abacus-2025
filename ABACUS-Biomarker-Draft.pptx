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6800" cy="42799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F44FF8-B9EB-FA9D-F1DC-765EA9B77120}" name="Jie Kang" initials="JK" userId="S::jie.kang@sydney.edu.au::d78ddd34-7d97-4c31-bf59-5ae79f5124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41B"/>
    <a:srgbClr val="71A399"/>
    <a:srgbClr val="FC441B"/>
    <a:srgbClr val="8F9FC9"/>
    <a:srgbClr val="FB441B"/>
    <a:srgbClr val="E64626"/>
    <a:srgbClr val="424142"/>
    <a:srgbClr val="1A3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4" autoAdjust="0"/>
    <p:restoredTop sz="96327" autoAdjust="0"/>
  </p:normalViewPr>
  <p:slideViewPr>
    <p:cSldViewPr>
      <p:cViewPr>
        <p:scale>
          <a:sx n="42" d="100"/>
          <a:sy n="42" d="100"/>
        </p:scale>
        <p:origin x="1160" y="-4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B550FC-6CE2-B84A-8605-CEC9297EE71F}" authorId="{AEF44FF8-B9EB-FA9D-F1DC-765EA9B77120}" created="2025-11-17T23:42:12.6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37" creationId="{C975CF96-0818-4E80-6348-B754FCE211AE}"/>
      <ac:txMk cp="0" len="28">
        <ac:context len="29" hash="515628052"/>
      </ac:txMk>
    </ac:txMkLst>
    <p188:pos x="8915706" y="1486022"/>
    <p188:txBody>
      <a:bodyPr/>
      <a:lstStyle/>
      <a:p>
        <a:r>
          <a:rPr lang="en-AU"/>
          <a:t>Get rid of this</a:t>
        </a:r>
      </a:p>
    </p188:txBody>
  </p188:cm>
  <p188:cm id="{75E91231-3090-5B4C-8FB6-521FA12AC52F}" authorId="{AEF44FF8-B9EB-FA9D-F1DC-765EA9B77120}" created="2025-11-17T23:42:29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32" creationId="{657A26FD-87C7-9ED9-F4B6-753DB3BCE25C}"/>
      <ac:txMk cp="14" len="15">
        <ac:context len="30" hash="977904209"/>
      </ac:txMk>
    </ac:txMkLst>
    <p188:pos x="18715726" y="1498001"/>
    <p188:txBody>
      <a:bodyPr/>
      <a:lstStyle/>
      <a:p>
        <a:r>
          <a:rPr lang="en-AU"/>
          <a:t>Reduce the CPOP component</a:t>
        </a:r>
      </a:p>
    </p188:txBody>
  </p188:cm>
  <p188:cm id="{57901EEC-D287-364D-8368-432555AE5ADC}" authorId="{AEF44FF8-B9EB-FA9D-F1DC-765EA9B77120}" created="2025-11-17T23:43:08.8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028" creationId="{9044152E-986D-AB29-EF0E-707CDAD95910}"/>
    </ac:deMkLst>
    <p188:replyLst>
      <p188:reply id="{59595FB3-DE6E-0E4A-AF96-30B7E9ED3A19}" authorId="{AEF44FF8-B9EB-FA9D-F1DC-765EA9B77120}" created="2025-11-17T23:43:32.660">
        <p188:txBody>
          <a:bodyPr/>
          <a:lstStyle/>
          <a:p>
            <a:r>
              <a:rPr lang="en-AU"/>
              <a:t>Need to talk about how to generate the short list</a:t>
            </a:r>
          </a:p>
        </p188:txBody>
      </p188:reply>
      <p188:reply id="{7EA2F4F5-A68F-C142-9FAB-FA7C1F328C1E}" authorId="{AEF44FF8-B9EB-FA9D-F1DC-765EA9B77120}" created="2025-11-17T23:43:49.590">
        <p188:txBody>
          <a:bodyPr/>
          <a:lstStyle/>
          <a:p>
            <a:r>
              <a:rPr lang="en-AU"/>
              <a:t>Different ways to generate the short list</a:t>
            </a:r>
          </a:p>
        </p188:txBody>
      </p188:reply>
      <p188:reply id="{41FF1DC6-6796-4F4F-A4EA-C93275D9CC90}" authorId="{AEF44FF8-B9EB-FA9D-F1DC-765EA9B77120}" created="2025-11-17T23:44:06.082">
        <p188:txBody>
          <a:bodyPr/>
          <a:lstStyle/>
          <a:p>
            <a:r>
              <a:rPr lang="en-AU"/>
              <a:t>Emphasise more on this part</a:t>
            </a:r>
          </a:p>
        </p188:txBody>
      </p188:reply>
    </p188:replyLst>
    <p188:txBody>
      <a:bodyPr/>
      <a:lstStyle/>
      <a:p>
        <a:r>
          <a:rPr lang="en-AU"/>
          <a:t>Moving from sensitivity to short list</a:t>
        </a:r>
      </a:p>
    </p188:txBody>
  </p188:cm>
  <p188:cm id="{B1B516C7-4FDC-1F4A-B20A-8B78D62692BB}" authorId="{AEF44FF8-B9EB-FA9D-F1DC-765EA9B77120}" created="2025-11-17T23:44:27.36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025" creationId="{B5CB878E-612A-1985-FB8E-9E38B02CA910}"/>
    </ac:deMkLst>
    <p188:txBody>
      <a:bodyPr/>
      <a:lstStyle/>
      <a:p>
        <a:r>
          <a:rPr lang="en-AU"/>
          <a:t>Drawing from Wenze</a:t>
        </a:r>
      </a:p>
    </p188:txBody>
  </p188:cm>
  <p188:cm id="{890F3BF1-A0A3-F649-9938-5E1B59E17695}" authorId="{AEF44FF8-B9EB-FA9D-F1DC-765EA9B77120}" created="2025-11-17T23:45:05.4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32" creationId="{657A26FD-87C7-9ED9-F4B6-753DB3BCE25C}"/>
      <ac:txMk cp="14" len="15">
        <ac:context len="30" hash="977904209"/>
      </ac:txMk>
    </ac:txMkLst>
    <p188:pos x="18628071" y="924260"/>
    <p188:txBody>
      <a:bodyPr/>
      <a:lstStyle/>
      <a:p>
        <a:r>
          <a:rPr lang="en-AU"/>
          <a:t>Tone down transferability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50A57-7EC6-7C49-94D3-E4D93714FE27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B5940-D787-5348-8E2A-8CE91C0A3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9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B5940-D787-5348-8E2A-8CE91C0A3D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12.png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24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10" Type="http://schemas.openxmlformats.org/officeDocument/2006/relationships/image" Target="../media/image1.png"/><Relationship Id="rId19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microsoft.com/office/2018/10/relationships/comments" Target="../comments/modernComment_100_0.xml"/><Relationship Id="rId1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Picture 8">
            <a:extLst>
              <a:ext uri="{FF2B5EF4-FFF2-40B4-BE49-F238E27FC236}">
                <a16:creationId xmlns:a16="http://schemas.microsoft.com/office/drawing/2014/main" id="{56A4F772-0D4A-A042-8B16-D87282FB8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0200" y="18323749"/>
            <a:ext cx="8645273" cy="100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EFABC36F-0BAC-4D4C-00B6-8C6DCC1E8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176" y="15144616"/>
            <a:ext cx="10670330" cy="889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44677B3-B5CE-F6E0-EFA5-947E4A33C34E}"/>
              </a:ext>
            </a:extLst>
          </p:cNvPr>
          <p:cNvSpPr/>
          <p:nvPr/>
        </p:nvSpPr>
        <p:spPr>
          <a:xfrm flipV="1">
            <a:off x="-108476" y="-97063"/>
            <a:ext cx="30410675" cy="5757764"/>
          </a:xfrm>
          <a:prstGeom prst="rect">
            <a:avLst/>
          </a:prstGeom>
          <a:solidFill>
            <a:srgbClr val="FA4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15" dirty="0">
              <a:solidFill>
                <a:srgbClr val="D220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7256" y="2387097"/>
            <a:ext cx="1937509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Jie Kang</a:t>
            </a:r>
            <a:r>
              <a:rPr lang="en-US" sz="3600" baseline="30000" dirty="0"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1,2,3</a:t>
            </a:r>
            <a:r>
              <a:rPr lang="en-US" sz="3600" dirty="0"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, 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Lucy Bartho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Wenze Ding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Harry Robertson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Kevin Wang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3600" dirty="0" err="1">
                <a:latin typeface="Arial" panose="020B0604020202020204" pitchFamily="34" charset="0"/>
                <a:cs typeface="Arial" panose="020B0604020202020204" pitchFamily="34" charset="0"/>
              </a:rPr>
              <a:t>Yingxin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Lin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Stephen Tong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3600" dirty="0" err="1">
                <a:latin typeface="Arial" panose="020B0604020202020204" pitchFamily="34" charset="0"/>
                <a:cs typeface="Arial" panose="020B0604020202020204" pitchFamily="34" charset="0"/>
              </a:rPr>
              <a:t>Tu’uhevaha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Kaitu'u-Lino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and Jean Yang</a:t>
            </a:r>
            <a:r>
              <a:rPr lang="en-AU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1,2,3</a:t>
            </a:r>
            <a:endParaRPr lang="en-US" sz="3600" dirty="0"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107702" y="234054"/>
            <a:ext cx="22300032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82"/>
              </a:lnSpc>
            </a:pP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Multi-objective </a:t>
            </a:r>
            <a:r>
              <a:rPr lang="en-US" sz="60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optimisation</a:t>
            </a:r>
            <a:r>
              <a:rPr lang="en-US" sz="6000" b="1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 for biomarker identification, transferability and translation in precision medicine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53537" y="40378374"/>
            <a:ext cx="1460453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2800" b="1" dirty="0">
                <a:solidFill>
                  <a:srgbClr val="FC441B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NEXT STEP: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We will incorporate pathway-level biological information to prioritise biomarker panels that are not only statistically robust but also mechanistically coherent. Adding pathway context is expected to improve the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translatability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transferability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patentability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of the selected 4-plexes. In parallel, we will package the MOO optimisation into an open-source R package to support reproducible biomarker panel development</a:t>
            </a:r>
            <a:r>
              <a:rPr lang="en-AU" sz="2800" dirty="0"/>
              <a:t>.</a:t>
            </a:r>
          </a:p>
          <a:p>
            <a:pPr>
              <a:lnSpc>
                <a:spcPts val="3249"/>
              </a:lnSpc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5248C3-3F50-F62A-5873-368D88DF78F0}"/>
              </a:ext>
            </a:extLst>
          </p:cNvPr>
          <p:cNvSpPr txBox="1">
            <a:spLocks/>
          </p:cNvSpPr>
          <p:nvPr/>
        </p:nvSpPr>
        <p:spPr>
          <a:xfrm>
            <a:off x="9160592" y="3610670"/>
            <a:ext cx="131175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Charles Perkins Centre, The University of Sydney </a:t>
            </a:r>
          </a:p>
          <a:p>
            <a:r>
              <a:rPr lang="en-AU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Sydney Precision Data Science Centre, University of Sydney</a:t>
            </a:r>
            <a:br>
              <a:rPr lang="en-AU" sz="2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400" b="0" i="0" u="none" strike="noStrike" baseline="30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AU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 of Mathematics and Statistics, The University of Sydney</a:t>
            </a:r>
            <a:br>
              <a:rPr lang="en-AU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400" b="0" i="0" u="none" strike="noStrike" baseline="30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Translational Obstetrics Group, Mercy Hospital for Women, University of Melbourne</a:t>
            </a:r>
            <a:endParaRPr lang="en-AU" sz="24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9BB7F1-39B3-9BBB-1A24-441526FD58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458" y="563753"/>
            <a:ext cx="7175539" cy="3812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8B1A94-6FBB-27B6-549F-BD2CD8A83A36}"/>
              </a:ext>
            </a:extLst>
          </p:cNvPr>
          <p:cNvSpPr/>
          <p:nvPr/>
        </p:nvSpPr>
        <p:spPr>
          <a:xfrm>
            <a:off x="155065" y="5890100"/>
            <a:ext cx="17280960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Aptamer-based biomarker for </a:t>
            </a:r>
            <a:r>
              <a:rPr lang="en-NZ" sz="4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fetal</a:t>
            </a:r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growth restriction (FGR)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6297056-D17C-6EF9-8D8D-3D24FD61C128}"/>
              </a:ext>
            </a:extLst>
          </p:cNvPr>
          <p:cNvSpPr txBox="1">
            <a:spLocks/>
          </p:cNvSpPr>
          <p:nvPr/>
        </p:nvSpPr>
        <p:spPr>
          <a:xfrm>
            <a:off x="215742" y="14177194"/>
            <a:ext cx="299059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 clinically deployable biomarker must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generalise beyond its training set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Transferability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is essential: selected aptamers must maintain effect direction and magnitude across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cohorts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platforms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regardless of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assay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differences.</a:t>
            </a:r>
          </a:p>
          <a:p>
            <a:b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C97644E-FF05-D8EB-F824-5D9D37DD2B7F}"/>
              </a:ext>
            </a:extLst>
          </p:cNvPr>
          <p:cNvSpPr txBox="1">
            <a:spLocks/>
          </p:cNvSpPr>
          <p:nvPr/>
        </p:nvSpPr>
        <p:spPr>
          <a:xfrm>
            <a:off x="186169" y="7328682"/>
            <a:ext cx="667599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</a:p>
          <a:p>
            <a:pPr defTabSz="914400">
              <a:defRPr/>
            </a:pPr>
            <a:endParaRPr lang="en-NZ" sz="1000" b="1" dirty="0">
              <a:solidFill>
                <a:srgbClr val="E64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FGR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affects 3–9% of pregnancies in high-income countries and ~25% in low- and middle-income regions (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Damhuis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et al., 2021).</a:t>
            </a: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FGR increases the risk of stillbirth, neonatal complications and long-term disease.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NZ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High-resolution ultrasound can detect FGR but is costly, highlighting the need for better biomarkers to enable timely intervention and reduce harm.</a:t>
            </a:r>
          </a:p>
          <a:p>
            <a:pPr defTabSz="914400">
              <a:defRPr/>
            </a:pP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5D56D62-691F-BEA3-08F3-F0BEAA01CBAC}"/>
              </a:ext>
            </a:extLst>
          </p:cNvPr>
          <p:cNvSpPr txBox="1"/>
          <p:nvPr/>
        </p:nvSpPr>
        <p:spPr>
          <a:xfrm>
            <a:off x="17995927" y="28563812"/>
            <a:ext cx="60946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3B94FAF-7254-3667-90ED-98DD70A6BEBA}"/>
              </a:ext>
            </a:extLst>
          </p:cNvPr>
          <p:cNvSpPr txBox="1"/>
          <p:nvPr/>
        </p:nvSpPr>
        <p:spPr>
          <a:xfrm>
            <a:off x="12892272" y="28611742"/>
            <a:ext cx="8760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E33AFCF-DA9D-9692-3AAC-18A9D5F95E1A}"/>
              </a:ext>
            </a:extLst>
          </p:cNvPr>
          <p:cNvSpPr txBox="1">
            <a:spLocks/>
          </p:cNvSpPr>
          <p:nvPr/>
        </p:nvSpPr>
        <p:spPr>
          <a:xfrm>
            <a:off x="17679712" y="6783684"/>
            <a:ext cx="1226341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Z" sz="28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sz="2800" b="1" dirty="0">
                <a:solidFill>
                  <a:srgbClr val="E64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of biomarker identification in precision medicine:</a:t>
            </a:r>
          </a:p>
          <a:p>
            <a:pPr defTabSz="914400">
              <a:defRPr/>
            </a:pPr>
            <a:endParaRPr lang="en-AU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Transferability – Biomarkers often fail across cohorts due to distributional shift (demographics, prevalence, assay differences).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vs clinical metrics – Model selection typically relies on ML metrics (AUC) that don’t reflect clinical performance requirements (sensitivity and specificity).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size – Diagnostic platforms have strict panel limits (e.g., 3–4 markers), restricting feasible biomarker sets.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Patentability – Biomarker panels must be resilient to substitution to maintain commercial and IP protection.</a:t>
            </a: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NZ" sz="1000" b="1" dirty="0">
              <a:solidFill>
                <a:srgbClr val="FB44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NZ" sz="2800" b="1" dirty="0">
                <a:solidFill>
                  <a:srgbClr val="FB44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multi-objective optimisation (MOO) framework is needed to balance predictive performance with these real-world requirements.</a:t>
            </a:r>
          </a:p>
          <a:p>
            <a:pPr>
              <a:defRPr/>
            </a:pP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NZ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B864149-C661-B66C-F03E-B7EB99BFF623}"/>
              </a:ext>
            </a:extLst>
          </p:cNvPr>
          <p:cNvSpPr/>
          <p:nvPr/>
        </p:nvSpPr>
        <p:spPr>
          <a:xfrm>
            <a:off x="17701659" y="5890100"/>
            <a:ext cx="12420076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57A26FD-87C7-9ED9-F4B6-753DB3BCE25C}"/>
              </a:ext>
            </a:extLst>
          </p:cNvPr>
          <p:cNvSpPr/>
          <p:nvPr/>
        </p:nvSpPr>
        <p:spPr>
          <a:xfrm>
            <a:off x="215741" y="12827599"/>
            <a:ext cx="29905993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I - Transferability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975CF96-0818-4E80-6348-B754FCE211AE}"/>
              </a:ext>
            </a:extLst>
          </p:cNvPr>
          <p:cNvSpPr/>
          <p:nvPr/>
        </p:nvSpPr>
        <p:spPr>
          <a:xfrm>
            <a:off x="19938694" y="28418245"/>
            <a:ext cx="10004430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IV – Patentability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BAD5734-C70E-037C-EDB0-7F39FF4F23F4}"/>
              </a:ext>
            </a:extLst>
          </p:cNvPr>
          <p:cNvSpPr/>
          <p:nvPr/>
        </p:nvSpPr>
        <p:spPr>
          <a:xfrm>
            <a:off x="215742" y="28416178"/>
            <a:ext cx="9543304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II – Performance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8F4C50FA-8D02-8F34-F708-A846E36BFAA0}"/>
              </a:ext>
            </a:extLst>
          </p:cNvPr>
          <p:cNvSpPr/>
          <p:nvPr/>
        </p:nvSpPr>
        <p:spPr>
          <a:xfrm>
            <a:off x="127000" y="40411903"/>
            <a:ext cx="12341205" cy="2171014"/>
          </a:xfrm>
          <a:prstGeom prst="roundRect">
            <a:avLst>
              <a:gd name="adj" fmla="val 0"/>
            </a:avLst>
          </a:prstGeom>
          <a:solidFill>
            <a:srgbClr val="FCED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1186634-57FD-82B8-D172-B4ADB1A15AD7}"/>
              </a:ext>
            </a:extLst>
          </p:cNvPr>
          <p:cNvSpPr txBox="1"/>
          <p:nvPr/>
        </p:nvSpPr>
        <p:spPr>
          <a:xfrm>
            <a:off x="515149" y="40791848"/>
            <a:ext cx="19669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Scan for more from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SCDNEY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3305DA5-8C73-3E3E-FEAC-5BCB7FE4A49C}"/>
              </a:ext>
            </a:extLst>
          </p:cNvPr>
          <p:cNvSpPr txBox="1"/>
          <p:nvPr/>
        </p:nvSpPr>
        <p:spPr>
          <a:xfrm>
            <a:off x="5246214" y="40497377"/>
            <a:ext cx="72219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References: </a:t>
            </a:r>
          </a:p>
          <a:p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Damhuis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SE. et al. Abnormal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fetal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growth: small for gestational age,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fetal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growth restriction, large for gestational age: definitions and epidemiology. </a:t>
            </a:r>
            <a:r>
              <a:rPr lang="en-AU" i="1" dirty="0" err="1">
                <a:latin typeface="Arial" panose="020B0604020202020204" pitchFamily="34" charset="0"/>
                <a:cs typeface="Arial" panose="020B0604020202020204" pitchFamily="34" charset="0"/>
              </a:rPr>
              <a:t>Obstet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i="1" dirty="0" err="1">
                <a:latin typeface="Arial" panose="020B0604020202020204" pitchFamily="34" charset="0"/>
                <a:cs typeface="Arial" panose="020B0604020202020204" pitchFamily="34" charset="0"/>
              </a:rPr>
              <a:t>Gynecol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Clin North Am.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2021;48(2):267–279.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Wang, Kevin YX, et al. "Cross-Platform Omics Prediction procedure: a statistical machine learning framework for wider implementation of precision medicine." </a:t>
            </a:r>
            <a:r>
              <a:rPr lang="en-AU" i="1" dirty="0" err="1">
                <a:latin typeface="Arial" panose="020B0604020202020204" pitchFamily="34" charset="0"/>
                <a:cs typeface="Arial" panose="020B0604020202020204" pitchFamily="34" charset="0"/>
              </a:rPr>
              <a:t>npj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Digital Medicine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 5.1 (2022): 85.</a:t>
            </a: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A2E8DFB-B3A8-9626-013E-5290D685D4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883119" y="8221826"/>
            <a:ext cx="1783757" cy="4021933"/>
          </a:xfrm>
          <a:prstGeom prst="rect">
            <a:avLst/>
          </a:prstGeom>
        </p:spPr>
      </p:pic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C0C27C5B-9E70-EEE9-A266-D432FD9008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198428" y="8055501"/>
            <a:ext cx="5153953" cy="2877830"/>
          </a:xfrm>
          <a:prstGeom prst="rect">
            <a:avLst/>
          </a:prstGeom>
        </p:spPr>
      </p:pic>
      <p:pic>
        <p:nvPicPr>
          <p:cNvPr id="75" name="Image 2" descr="preencoded.png">
            <a:extLst>
              <a:ext uri="{FF2B5EF4-FFF2-40B4-BE49-F238E27FC236}">
                <a16:creationId xmlns:a16="http://schemas.microsoft.com/office/drawing/2014/main" id="{2A3330AD-F8A0-1470-8BAC-F233E6B900E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3009818" y="8596577"/>
            <a:ext cx="2529620" cy="1339343"/>
          </a:xfrm>
          <a:prstGeom prst="rect">
            <a:avLst/>
          </a:prstGeom>
        </p:spPr>
      </p:pic>
      <p:pic>
        <p:nvPicPr>
          <p:cNvPr id="88" name="Image 3" descr="preencoded.png">
            <a:extLst>
              <a:ext uri="{FF2B5EF4-FFF2-40B4-BE49-F238E27FC236}">
                <a16:creationId xmlns:a16="http://schemas.microsoft.com/office/drawing/2014/main" id="{F6BE0D39-6153-CE65-0479-C9999B6BBC8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1188389" y="10616207"/>
            <a:ext cx="6247096" cy="1749346"/>
          </a:xfrm>
          <a:prstGeom prst="rect">
            <a:avLst/>
          </a:prstGeom>
        </p:spPr>
      </p:pic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4B73F7ED-714F-5780-90E3-33BEAC4C495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2153174" y="9145541"/>
            <a:ext cx="883986" cy="238192"/>
          </a:xfrm>
          <a:prstGeom prst="rect">
            <a:avLst/>
          </a:prstGeom>
        </p:spPr>
      </p:pic>
      <p:pic>
        <p:nvPicPr>
          <p:cNvPr id="94" name="Image 5" descr="preencoded.png">
            <a:extLst>
              <a:ext uri="{FF2B5EF4-FFF2-40B4-BE49-F238E27FC236}">
                <a16:creationId xmlns:a16="http://schemas.microsoft.com/office/drawing/2014/main" id="{04EFE107-29D1-13FB-ED5B-68881774ABC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2277771" y="9967573"/>
            <a:ext cx="3993722" cy="429527"/>
          </a:xfrm>
          <a:prstGeom prst="rect">
            <a:avLst/>
          </a:prstGeom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B5CB878E-612A-1985-FB8E-9E38B02CA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44" y="20222161"/>
            <a:ext cx="8143560" cy="817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12860862-432F-A615-E088-E9E4FB7744F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64245" y="40497376"/>
            <a:ext cx="2072341" cy="2031326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505B331-B034-AC10-6728-1F22397337B4}"/>
              </a:ext>
            </a:extLst>
          </p:cNvPr>
          <p:cNvSpPr txBox="1"/>
          <p:nvPr/>
        </p:nvSpPr>
        <p:spPr>
          <a:xfrm>
            <a:off x="268971" y="15207468"/>
            <a:ext cx="83228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1. Framework for assessing transferability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To evaluate transferability, we implemented a multi-cohort workflow combining model development (Cohort 1 + Cohort 2), repeated cross-validation, internal hold-out testing and external validation in the Cambridge cohort. 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This framework allows us to quantify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model stability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under resampling and assess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external validity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under a true distributional shift using an independent cohort.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74E6F8-8F40-09CE-B8B2-22F936EBEA24}"/>
              </a:ext>
            </a:extLst>
          </p:cNvPr>
          <p:cNvSpPr txBox="1"/>
          <p:nvPr/>
        </p:nvSpPr>
        <p:spPr>
          <a:xfrm>
            <a:off x="8795544" y="24370192"/>
            <a:ext cx="898776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2. Transferable biomarkers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LIMMA differential expression (DE) analyses in Cohort 1 and Cohort 2 show strong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concordance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for top DE proteins. 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preserved effect direction and magnitude demonstrate that the underlying biological signal is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transferable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across cohorts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providing a stable foundation for model building.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734AE22-B393-6412-A81F-142A71AE32D5}"/>
              </a:ext>
            </a:extLst>
          </p:cNvPr>
          <p:cNvSpPr txBox="1"/>
          <p:nvPr/>
        </p:nvSpPr>
        <p:spPr>
          <a:xfrm>
            <a:off x="17995927" y="15094525"/>
            <a:ext cx="1131287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3. Transferable models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CPOP (Cross-Platform Omics Prediction; Wang et al., 2022) enhances transferability by representing proteins as log-ratio features and retaining only those pairs that satisfy CPOP’s cross-cohort effect-consistency criterion. This reduces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-,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- and 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normalisation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-induced variation and yields a modelling basis composed of log-ratio features that remain </a:t>
            </a:r>
            <a:r>
              <a:rPr lang="en-AU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transferable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under distributional shift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7" name="Curved Connector 176">
            <a:extLst>
              <a:ext uri="{FF2B5EF4-FFF2-40B4-BE49-F238E27FC236}">
                <a16:creationId xmlns:a16="http://schemas.microsoft.com/office/drawing/2014/main" id="{1CB5A613-4CC5-10C0-4CE2-C3D961C5A9E3}"/>
              </a:ext>
            </a:extLst>
          </p:cNvPr>
          <p:cNvCxnSpPr>
            <a:cxnSpLocks/>
            <a:stCxn id="1064" idx="0"/>
          </p:cNvCxnSpPr>
          <p:nvPr/>
        </p:nvCxnSpPr>
        <p:spPr>
          <a:xfrm rot="16200000" flipH="1">
            <a:off x="19318021" y="25720308"/>
            <a:ext cx="246192" cy="1733559"/>
          </a:xfrm>
          <a:prstGeom prst="curvedConnector4">
            <a:avLst>
              <a:gd name="adj1" fmla="val -39794"/>
              <a:gd name="adj2" fmla="val 7562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8BD5D61C-803B-EC34-CCB1-FD7E02BF2323}"/>
              </a:ext>
            </a:extLst>
          </p:cNvPr>
          <p:cNvSpPr txBox="1"/>
          <p:nvPr/>
        </p:nvSpPr>
        <p:spPr>
          <a:xfrm>
            <a:off x="26809729" y="18421349"/>
            <a:ext cx="3019825" cy="3970318"/>
          </a:xfrm>
          <a:custGeom>
            <a:avLst/>
            <a:gdLst>
              <a:gd name="csX0" fmla="*/ 0 w 3019825"/>
              <a:gd name="csY0" fmla="*/ 0 h 3970318"/>
              <a:gd name="csX1" fmla="*/ 3019825 w 3019825"/>
              <a:gd name="csY1" fmla="*/ 0 h 3970318"/>
              <a:gd name="csX2" fmla="*/ 3019825 w 3019825"/>
              <a:gd name="csY2" fmla="*/ 3970318 h 3970318"/>
              <a:gd name="csX3" fmla="*/ 0 w 3019825"/>
              <a:gd name="csY3" fmla="*/ 3970318 h 3970318"/>
              <a:gd name="csX4" fmla="*/ 0 w 3019825"/>
              <a:gd name="csY4" fmla="*/ 0 h 3970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19825" h="3970318" extrusionOk="0">
                <a:moveTo>
                  <a:pt x="0" y="0"/>
                </a:moveTo>
                <a:cubicBezTo>
                  <a:pt x="390433" y="118645"/>
                  <a:pt x="1871556" y="116012"/>
                  <a:pt x="3019825" y="0"/>
                </a:cubicBezTo>
                <a:cubicBezTo>
                  <a:pt x="2886943" y="803291"/>
                  <a:pt x="3104776" y="2770379"/>
                  <a:pt x="3019825" y="3970318"/>
                </a:cubicBezTo>
                <a:cubicBezTo>
                  <a:pt x="2380206" y="4104918"/>
                  <a:pt x="835602" y="3813122"/>
                  <a:pt x="0" y="3970318"/>
                </a:cubicBezTo>
                <a:cubicBezTo>
                  <a:pt x="-20187" y="3558178"/>
                  <a:pt x="-152480" y="514097"/>
                  <a:pt x="0" y="0"/>
                </a:cubicBezTo>
                <a:close/>
              </a:path>
            </a:pathLst>
          </a:custGeom>
          <a:noFill/>
          <a:ln>
            <a:solidFill>
              <a:srgbClr val="FA441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represent log-ratio features retained because their effect estimates meet CPOP’s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cross-cohort effect-consistency requirement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054" name="Curved Connector 1053">
            <a:extLst>
              <a:ext uri="{FF2B5EF4-FFF2-40B4-BE49-F238E27FC236}">
                <a16:creationId xmlns:a16="http://schemas.microsoft.com/office/drawing/2014/main" id="{81E97BF9-44BC-401D-CA0C-B0E8FCD61B5F}"/>
              </a:ext>
            </a:extLst>
          </p:cNvPr>
          <p:cNvCxnSpPr>
            <a:cxnSpLocks/>
            <a:stCxn id="190" idx="1"/>
          </p:cNvCxnSpPr>
          <p:nvPr/>
        </p:nvCxnSpPr>
        <p:spPr>
          <a:xfrm rot="10800000">
            <a:off x="24902961" y="20131514"/>
            <a:ext cx="1906768" cy="274994"/>
          </a:xfrm>
          <a:prstGeom prst="curvedConnector3">
            <a:avLst>
              <a:gd name="adj1" fmla="val 6198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6D3B7E76-D854-AEDA-A066-99BA5DD2CDFC}"/>
              </a:ext>
            </a:extLst>
          </p:cNvPr>
          <p:cNvSpPr txBox="1"/>
          <p:nvPr/>
        </p:nvSpPr>
        <p:spPr>
          <a:xfrm>
            <a:off x="27258067" y="22850026"/>
            <a:ext cx="2522994" cy="3108543"/>
          </a:xfrm>
          <a:custGeom>
            <a:avLst/>
            <a:gdLst>
              <a:gd name="csX0" fmla="*/ 0 w 2522994"/>
              <a:gd name="csY0" fmla="*/ 0 h 3108543"/>
              <a:gd name="csX1" fmla="*/ 2522994 w 2522994"/>
              <a:gd name="csY1" fmla="*/ 0 h 3108543"/>
              <a:gd name="csX2" fmla="*/ 2522994 w 2522994"/>
              <a:gd name="csY2" fmla="*/ 3108543 h 3108543"/>
              <a:gd name="csX3" fmla="*/ 0 w 2522994"/>
              <a:gd name="csY3" fmla="*/ 3108543 h 3108543"/>
              <a:gd name="csX4" fmla="*/ 0 w 2522994"/>
              <a:gd name="csY4" fmla="*/ 0 h 3108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2994" h="3108543" extrusionOk="0">
                <a:moveTo>
                  <a:pt x="0" y="0"/>
                </a:moveTo>
                <a:cubicBezTo>
                  <a:pt x="718754" y="118645"/>
                  <a:pt x="1654735" y="116012"/>
                  <a:pt x="2522994" y="0"/>
                </a:cubicBezTo>
                <a:cubicBezTo>
                  <a:pt x="2390112" y="1295741"/>
                  <a:pt x="2607945" y="1859368"/>
                  <a:pt x="2522994" y="3108543"/>
                </a:cubicBezTo>
                <a:cubicBezTo>
                  <a:pt x="1927410" y="3243143"/>
                  <a:pt x="1245166" y="2951347"/>
                  <a:pt x="0" y="3108543"/>
                </a:cubicBezTo>
                <a:cubicBezTo>
                  <a:pt x="-20187" y="2019290"/>
                  <a:pt x="-152480" y="784935"/>
                  <a:pt x="0" y="0"/>
                </a:cubicBezTo>
                <a:close/>
              </a:path>
            </a:pathLst>
          </a:custGeom>
          <a:noFill/>
          <a:ln>
            <a:solidFill>
              <a:srgbClr val="FA441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Edge colour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encodes the sign of the log-ratio effect. Red is positive and blue is negative. </a:t>
            </a:r>
          </a:p>
        </p:txBody>
      </p:sp>
      <p:cxnSp>
        <p:nvCxnSpPr>
          <p:cNvPr id="1056" name="Curved Connector 1055">
            <a:extLst>
              <a:ext uri="{FF2B5EF4-FFF2-40B4-BE49-F238E27FC236}">
                <a16:creationId xmlns:a16="http://schemas.microsoft.com/office/drawing/2014/main" id="{DF9A7218-5534-74EF-3EBC-E96F4D46A79B}"/>
              </a:ext>
            </a:extLst>
          </p:cNvPr>
          <p:cNvCxnSpPr>
            <a:cxnSpLocks/>
            <a:stCxn id="1055" idx="1"/>
          </p:cNvCxnSpPr>
          <p:nvPr/>
        </p:nvCxnSpPr>
        <p:spPr>
          <a:xfrm rot="10800000" flipV="1">
            <a:off x="25425533" y="24404298"/>
            <a:ext cx="1832535" cy="742528"/>
          </a:xfrm>
          <a:prstGeom prst="curvedConnector3">
            <a:avLst>
              <a:gd name="adj1" fmla="val 259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9" name="Curved Connector 1058">
            <a:extLst>
              <a:ext uri="{FF2B5EF4-FFF2-40B4-BE49-F238E27FC236}">
                <a16:creationId xmlns:a16="http://schemas.microsoft.com/office/drawing/2014/main" id="{D9068FFB-A15A-69F1-6FCC-99A5EECD2930}"/>
              </a:ext>
            </a:extLst>
          </p:cNvPr>
          <p:cNvCxnSpPr>
            <a:cxnSpLocks/>
          </p:cNvCxnSpPr>
          <p:nvPr/>
        </p:nvCxnSpPr>
        <p:spPr>
          <a:xfrm rot="16200000" flipV="1">
            <a:off x="25972184" y="23034959"/>
            <a:ext cx="1365870" cy="1087838"/>
          </a:xfrm>
          <a:prstGeom prst="curvedConnector3">
            <a:avLst>
              <a:gd name="adj1" fmla="val 10379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6C9C2E83-0FD9-97A7-6D67-256CED7B0E43}"/>
              </a:ext>
            </a:extLst>
          </p:cNvPr>
          <p:cNvSpPr txBox="1"/>
          <p:nvPr/>
        </p:nvSpPr>
        <p:spPr>
          <a:xfrm>
            <a:off x="17686031" y="26463991"/>
            <a:ext cx="1776614" cy="1384995"/>
          </a:xfrm>
          <a:custGeom>
            <a:avLst/>
            <a:gdLst>
              <a:gd name="csX0" fmla="*/ 0 w 1776614"/>
              <a:gd name="csY0" fmla="*/ 0 h 1384995"/>
              <a:gd name="csX1" fmla="*/ 1776614 w 1776614"/>
              <a:gd name="csY1" fmla="*/ 0 h 1384995"/>
              <a:gd name="csX2" fmla="*/ 1776614 w 1776614"/>
              <a:gd name="csY2" fmla="*/ 1384995 h 1384995"/>
              <a:gd name="csX3" fmla="*/ 0 w 1776614"/>
              <a:gd name="csY3" fmla="*/ 1384995 h 1384995"/>
              <a:gd name="csX4" fmla="*/ 0 w 1776614"/>
              <a:gd name="csY4" fmla="*/ 0 h 1384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76614" h="1384995" extrusionOk="0">
                <a:moveTo>
                  <a:pt x="0" y="0"/>
                </a:moveTo>
                <a:cubicBezTo>
                  <a:pt x="625548" y="85931"/>
                  <a:pt x="901919" y="46086"/>
                  <a:pt x="1776614" y="0"/>
                </a:cubicBezTo>
                <a:cubicBezTo>
                  <a:pt x="1878459" y="614820"/>
                  <a:pt x="1666524" y="1103818"/>
                  <a:pt x="1776614" y="1384995"/>
                </a:cubicBezTo>
                <a:cubicBezTo>
                  <a:pt x="1271778" y="1346919"/>
                  <a:pt x="686694" y="1488516"/>
                  <a:pt x="0" y="1384995"/>
                </a:cubicBezTo>
                <a:cubicBezTo>
                  <a:pt x="94601" y="974904"/>
                  <a:pt x="123757" y="443246"/>
                  <a:pt x="0" y="0"/>
                </a:cubicBezTo>
                <a:close/>
              </a:path>
            </a:pathLst>
          </a:custGeom>
          <a:noFill/>
          <a:ln>
            <a:solidFill>
              <a:srgbClr val="FA441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represent proteins.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87B4F095-B1FD-BB09-3026-8AC327034FD5}"/>
              </a:ext>
            </a:extLst>
          </p:cNvPr>
          <p:cNvSpPr txBox="1"/>
          <p:nvPr/>
        </p:nvSpPr>
        <p:spPr>
          <a:xfrm>
            <a:off x="25425532" y="26393570"/>
            <a:ext cx="4354710" cy="1815882"/>
          </a:xfrm>
          <a:custGeom>
            <a:avLst/>
            <a:gdLst>
              <a:gd name="csX0" fmla="*/ 0 w 4354710"/>
              <a:gd name="csY0" fmla="*/ 0 h 1815882"/>
              <a:gd name="csX1" fmla="*/ 4354710 w 4354710"/>
              <a:gd name="csY1" fmla="*/ 0 h 1815882"/>
              <a:gd name="csX2" fmla="*/ 4354710 w 4354710"/>
              <a:gd name="csY2" fmla="*/ 1815882 h 1815882"/>
              <a:gd name="csX3" fmla="*/ 0 w 4354710"/>
              <a:gd name="csY3" fmla="*/ 1815882 h 1815882"/>
              <a:gd name="csX4" fmla="*/ 0 w 4354710"/>
              <a:gd name="csY4" fmla="*/ 0 h 18158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54710" h="1815882" extrusionOk="0">
                <a:moveTo>
                  <a:pt x="0" y="0"/>
                </a:moveTo>
                <a:cubicBezTo>
                  <a:pt x="520199" y="118645"/>
                  <a:pt x="2186177" y="116012"/>
                  <a:pt x="4354710" y="0"/>
                </a:cubicBezTo>
                <a:cubicBezTo>
                  <a:pt x="4439461" y="610295"/>
                  <a:pt x="4227467" y="1456641"/>
                  <a:pt x="4354710" y="1815882"/>
                </a:cubicBezTo>
                <a:cubicBezTo>
                  <a:pt x="3676765" y="1950482"/>
                  <a:pt x="2150799" y="1658686"/>
                  <a:pt x="0" y="1815882"/>
                </a:cubicBezTo>
                <a:cubicBezTo>
                  <a:pt x="66903" y="1226402"/>
                  <a:pt x="107324" y="324998"/>
                  <a:pt x="0" y="0"/>
                </a:cubicBezTo>
                <a:close/>
              </a:path>
            </a:pathLst>
          </a:custGeom>
          <a:noFill/>
          <a:ln>
            <a:solidFill>
              <a:srgbClr val="FA441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Node size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reflects the magnitude of the CPOP effect estimate (“strength”) for each protein.</a:t>
            </a:r>
          </a:p>
        </p:txBody>
      </p:sp>
      <p:cxnSp>
        <p:nvCxnSpPr>
          <p:cNvPr id="1077" name="Curved Connector 1076">
            <a:extLst>
              <a:ext uri="{FF2B5EF4-FFF2-40B4-BE49-F238E27FC236}">
                <a16:creationId xmlns:a16="http://schemas.microsoft.com/office/drawing/2014/main" id="{C425F2FA-3449-7128-39F5-777892C86D68}"/>
              </a:ext>
            </a:extLst>
          </p:cNvPr>
          <p:cNvCxnSpPr>
            <a:cxnSpLocks/>
            <a:stCxn id="190" idx="1"/>
          </p:cNvCxnSpPr>
          <p:nvPr/>
        </p:nvCxnSpPr>
        <p:spPr>
          <a:xfrm rot="10800000" flipV="1">
            <a:off x="24511001" y="20406508"/>
            <a:ext cx="2298729" cy="992992"/>
          </a:xfrm>
          <a:prstGeom prst="curvedConnector3">
            <a:avLst>
              <a:gd name="adj1" fmla="val 2371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1" name="Curved Connector 1080">
            <a:extLst>
              <a:ext uri="{FF2B5EF4-FFF2-40B4-BE49-F238E27FC236}">
                <a16:creationId xmlns:a16="http://schemas.microsoft.com/office/drawing/2014/main" id="{BF25CEE4-1D32-4D38-650C-265748B1FB77}"/>
              </a:ext>
            </a:extLst>
          </p:cNvPr>
          <p:cNvCxnSpPr>
            <a:cxnSpLocks/>
            <a:stCxn id="1064" idx="0"/>
          </p:cNvCxnSpPr>
          <p:nvPr/>
        </p:nvCxnSpPr>
        <p:spPr>
          <a:xfrm rot="5400000" flipH="1" flipV="1">
            <a:off x="18664146" y="25720261"/>
            <a:ext cx="653922" cy="833538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0" name="Curved Connector 1119">
            <a:extLst>
              <a:ext uri="{FF2B5EF4-FFF2-40B4-BE49-F238E27FC236}">
                <a16:creationId xmlns:a16="http://schemas.microsoft.com/office/drawing/2014/main" id="{ABF34A72-4F01-82D0-598C-79339A7E1C4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472803" y="26348781"/>
            <a:ext cx="1219593" cy="685867"/>
          </a:xfrm>
          <a:prstGeom prst="curvedConnector3">
            <a:avLst>
              <a:gd name="adj1" fmla="val 1102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4" name="Curved Connector 1123">
            <a:extLst>
              <a:ext uri="{FF2B5EF4-FFF2-40B4-BE49-F238E27FC236}">
                <a16:creationId xmlns:a16="http://schemas.microsoft.com/office/drawing/2014/main" id="{61069AE1-2752-0855-68C2-145AC4384674}"/>
              </a:ext>
            </a:extLst>
          </p:cNvPr>
          <p:cNvCxnSpPr>
            <a:cxnSpLocks/>
            <a:stCxn id="1071" idx="1"/>
          </p:cNvCxnSpPr>
          <p:nvPr/>
        </p:nvCxnSpPr>
        <p:spPr>
          <a:xfrm rot="10800000">
            <a:off x="23291800" y="25889295"/>
            <a:ext cx="2133732" cy="141221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E581E39C-0FC2-ABCF-F6E0-E997063526C1}"/>
              </a:ext>
            </a:extLst>
          </p:cNvPr>
          <p:cNvSpPr/>
          <p:nvPr/>
        </p:nvSpPr>
        <p:spPr>
          <a:xfrm>
            <a:off x="9873320" y="28409900"/>
            <a:ext cx="9935224" cy="1260000"/>
          </a:xfrm>
          <a:prstGeom prst="rect">
            <a:avLst/>
          </a:prstGeom>
          <a:solidFill>
            <a:srgbClr val="FA441B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4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III – Size</a:t>
            </a:r>
            <a:endParaRPr lang="en-AU" sz="4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5659B295-A938-1E98-7CD7-1091DC2750B2}"/>
              </a:ext>
            </a:extLst>
          </p:cNvPr>
          <p:cNvSpPr txBox="1"/>
          <p:nvPr/>
        </p:nvSpPr>
        <p:spPr>
          <a:xfrm>
            <a:off x="232101" y="29694906"/>
            <a:ext cx="949609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AUC shows limited variation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but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sensitivity at 90% specificity varies widely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meaning models with similar AUC differ substantially at the clinical decision threshold.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Translation relies on fixed-specificity performance, so AUC alone is not sufficient.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87" name="Picture 1186">
            <a:extLst>
              <a:ext uri="{FF2B5EF4-FFF2-40B4-BE49-F238E27FC236}">
                <a16:creationId xmlns:a16="http://schemas.microsoft.com/office/drawing/2014/main" id="{090A0718-68F7-CB84-00DA-CC35E09156E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1814" y="32313299"/>
            <a:ext cx="9396386" cy="801536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44152E-986D-AB29-EF0E-707CDAD95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207" y="32240976"/>
            <a:ext cx="9418438" cy="784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9764DC-46E7-776D-0922-98869927DC6E}"/>
              </a:ext>
            </a:extLst>
          </p:cNvPr>
          <p:cNvSpPr txBox="1"/>
          <p:nvPr/>
        </p:nvSpPr>
        <p:spPr>
          <a:xfrm>
            <a:off x="9873320" y="29678245"/>
            <a:ext cx="995109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Translation requires a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biomarker panel.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MOO algorithm selects the top 4-plex panels, and we evaluate each biomarker’s average sensitivity and inclusion frequency to identify markers that provide robust performance for translation.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E0078-B5E9-00A2-3CE3-3B850AB85D1F}"/>
              </a:ext>
            </a:extLst>
          </p:cNvPr>
          <p:cNvSpPr txBox="1"/>
          <p:nvPr/>
        </p:nvSpPr>
        <p:spPr>
          <a:xfrm>
            <a:off x="19938693" y="29704995"/>
            <a:ext cx="1000443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Patentability requires that compact biomarker panels are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not easily substituted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A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When biomarkers in the top 4-plex panels are replaced, sensitivity at 90% specificity drops, demonstrating that the panel functions as an integrated, non-interchangeable set.</a:t>
            </a:r>
          </a:p>
        </p:txBody>
      </p:sp>
      <p:pic>
        <p:nvPicPr>
          <p:cNvPr id="1034" name="Picture 10" descr="biomarkerPanels hex sticker">
            <a:extLst>
              <a:ext uri="{FF2B5EF4-FFF2-40B4-BE49-F238E27FC236}">
                <a16:creationId xmlns:a16="http://schemas.microsoft.com/office/drawing/2014/main" id="{BB0E8BBD-BCCB-EABF-DAE9-FF98D7444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4639" y="40015811"/>
            <a:ext cx="2497012" cy="273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27496-8C36-5D8C-FE7B-415C479B74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938693" y="32054100"/>
            <a:ext cx="9232197" cy="78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9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e689f13-f4b0-411c-863e-2c1a3693a473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be689f13-f4b0-411c-863e-2c1a3693a473&quot;:{&quot;type&quot;:&quot;FIGURE_OBJECT&quot;,&quot;id&quot;:&quot;be689f13-f4b0-411c-863e-2c1a3693a473&quot;,&quot;parent&quot;:{&quot;type&quot;:&quot;CHILD&quot;,&quot;parentId&quot;:&quot;69ed8831-b396-4d9a-ba73-58696945131d&quot;,&quot;order&quot;:&quot;1&quot;},&quot;relativeTransform&quot;:{&quot;translate&quot;:{&quot;x&quot;:1455.8344958267194,&quot;y&quot;:592.8701550342894},&quot;rotate&quot;:0,&quot;skewX&quot;:0,&quot;scale&quot;:{&quot;x&quot;:1,&quot;y&quot;:1}},&quot;opacity&quot;:1},&quot;583df851-6c52-4c94-8fcf-fca956eddb4c&quot;:{&quot;id&quot;:&quot;583df851-6c52-4c94-8fcf-fca956eddb4c&quot;,&quot;name&quot;:&quot;Pregnant mother (trimester 3, long hair)&quot;,&quot;displayName&quot;:&quot;&quot;,&quot;type&quot;:&quot;FIGURE_OBJECT&quot;,&quot;relativeTransform&quot;:{&quot;translate&quot;:{&quot;x&quot;:-1796.3091249237505,&quot;y&quot;:-602.329034494563},&quot;rotate&quot;:0,&quot;skewX&quot;:0,&quot;scale&quot;:{&quot;x&quot;:1.445946226310499,&quot;y&quot;:1.4459462263104985}},&quot;image&quot;:{&quot;url&quot;:&quot;https://icons.biorender.com/biorender/635be44f4bbde20020556827/pregnant-mother-trimester-long-hair-02.png&quot;,&quot;fallbackUrl&quot;:&quot;https://res.cloudinary.com/dlcjuc3ej/image/upload/v1666966605/zkybjd5twm5qkbn2lhkw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&quot;,&quot;isPremium&quot;:true,&quot;size&quot;:{&quot;x&quot;:100,&quot;y&quot;:422.85714285714283}},&quot;source&quot;:{&quot;id&quot;:&quot;60119e83a0981600266d6f2d&quot;,&quot;version&quot;:1666966605,&quot;type&quot;:&quot;ASSETS&quot;},&quot;isPremium&quot;:true,&quot;parent&quot;:{&quot;type&quot;:&quot;CHILD&quot;,&quot;parentId&quot;:&quot;be689f13-f4b0-411c-863e-2c1a3693a473&quot;,&quot;order&quot;:&quot;5&quot;},&quot;opacity&quot;:1},&quot;86232c2f-f18d-49d8-b1c5-32f81fc7ad7f&quot;:{&quot;type&quot;:&quot;FIGURE_OBJECT&quot;,&quot;id&quot;:&quot;86232c2f-f18d-49d8-b1c5-32f81fc7ad7f&quot;,&quot;parent&quot;:{&quot;type&quot;:&quot;CROP&quot;,&quot;parentId&quot;:&quot;be689f13-f4b0-411c-863e-2c1a3693a473&quot;,&quot;order&quot;:&quot;5&quot;},&quot;relativeTransform&quot;:{&quot;translate&quot;:{&quot;x&quot;:-1796.3091249237505,&quot;y&quot;:-743.2446329801384},&quot;rotate&quot;:0,&quot;skewX&quot;:0,&quot;scale&quot;:{&quot;x&quot;:72.29731131552477,&quot;y&quot;:164.79874650578694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9d9c2a76-025a-43b0-a169-141973da405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8095c7c3-ec4d-4e22-91bf-422c79b95065&quot;:{&quot;type&quot;:&quot;FIGURE_OBJECT&quot;,&quot;id&quot;:&quot;8095c7c3-ec4d-4e22-91bf-422c79b95065&quot;,&quot;relativeTransform&quot;:{&quot;translate&quot;:{&quot;x&quot;:-215.4604654372631,&quot;y&quot;:-184.8476987361821},&quot;rotate&quot;:7.2164496600635185e-16,&quot;skewX&quot;:0,&quot;scale&quot;:{&quot;x&quot;:1,&quot;y&quot;:1}}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892c54e1-5de8-4cd2-83f9-0fd7c5fcbce3&quot;,&quot;order&quot;:&quot;2&quot;}},&quot;88babd93-f180-4f84-877b-62f2810eee33&quot;:{&quot;type&quot;:&quot;FIGURE_OBJECT&quot;,&quot;id&quot;:&quot;88babd93-f180-4f84-877b-62f2810eee33&quot;,&quot;name&quot;:&quot;Blood vial&quot;,&quot;relativeTransform&quot;:{&quot;translate&quot;:{&quot;x&quot;:-7.368844603374475e-15,&quot;y&quot;:13.646871311544547},&quot;rotate&quot;:0,&quot;skewX&quot;:-6.975945255140755e-16,&quot;scale&quot;:{&quot;x&quot;:0.46576273117433364,&quot;y&quot;:0.4657627311743335}},&quot;opacity&quot;:1,&quot;image&quot;:{&quot;url&quot;:&quot;https://icons.biorender.com/biorender/5dbafb87c9e7d80004b85b4e/20191031152119/image/blood-vial.png&quot;,&quot;fallbackUrl&quot;:&quot;https://res.cloudinary.com/dlcjuc3ej/image/upload/v1572535279/avppu598ftqswgf927db.svg#/keystone/api/icons/5dbafb87c9e7d80004b85b4e/20191031152119/image/blood-vial.svg&quot;,&quot;size&quot;:{&quot;x&quot;:65,&quot;y&quot;:239},&quot;isPremium&quot;:false,&quot;isPacked&quot;:tru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2&quot;}},&quot;8c197a15-8972-49d1-8fb2-13a9034fbf15&quot;:{&quot;type&quot;:&quot;FIGURE_OBJECT&quot;,&quot;id&quot;:&quot;8c197a15-8972-49d1-8fb2-13a9034fbf15&quot;,&quot;name&quot;:&quot;Blood vial cap&quot;,&quot;relativeTransform&quot;:{&quot;translate&quot;:{&quot;x&quot;:-0.00016662437091414788,&quot;y&quot;:-43.95950926040859},&quot;rotate&quot;:0,&quot;skewX&quot;:-6.975945255140761e-16,&quot;scale&quot;:{&quot;x&quot;:0.46576273117433326,&quot;y&quot;:0.4657627311743335}},&quot;opacity&quot;:1,&quot;image&quot;:{&quot;url&quot;:&quot;https://icons.biorender.com/biorender/5dbafee7c9e7d80004b85b60/blood-vial-cap.png&quot;,&quot;fallbackUrl&quot;:&quot;https://res.cloudinary.com/dlcjuc3ej/image/upload/v1572536037/tlv3njszabmvrha42fta.svg#/keystone/api/icons/5dbafee7c9e7d80004b85b60/blood-vial-cap.svg#/keystone/api/icons/5dbafee7c9e7d80004b85b60/blood-vial-cap.svg#/keystone/api/icons/5dbafee7c9e7d80004b85b60/blood-vial-cap.svg#/keystone/api/icons/5dbafee7c9e7d80004b85b60/blood-vial-cap.svg#/keystone/api/icons/5dbafee7c9e7d80004b85b60/blood-vial-cap.svg&quot;,&quot;size&quot;:{&quot;x&quot;:65,&quot;y&quot;:79},&quot;isPremium&quot;:false,&quot;isPacked&quot;:tru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5&quot;},&quot;styles&quot;:{&quot;vector-hidden&quot;:[{&quot;styleName&quot;:&quot;MONOCHROME_COLOR&quot;,&quot;index&quot;:0,&quot;color&quot;:&quot;#DFDDDD&quot;}]}},&quot;ba6be45b-73a0-4cc5-ad3b-044fb6181c6f&quot;:{&quot;type&quot;:&quot;FIGURE_OBJECT&quot;,&quot;id&quot;:&quot;ba6be45b-73a0-4cc5-ad3b-044fb6181c6f&quot;,&quot;relativeTransform&quot;:{&quot;translate&quot;:{&quot;x&quot;:434.34237981465697,&quot;y&quot;:-1029.9625431089041},&quot;rotate&quot;:0,&quot;skewX&quot;:0,&quot;scale&quot;:{&quot;x&quot;:1,&quot;y&quot;:1}},&quot;opacity&quot;:1,&quot;path&quot;:{&quot;type&quot;:&quot;POLY_LINE&quot;,&quot;points&quot;:[{&quot;x&quot;:-814.9282083183734,&quot;y&quot;:929.5777801751547},{&quot;x&quot;:-752.2532192751057,&quot;y&quot;:890.7341999895515},{&quot;x&quot;:-680.9403006394568,&quot;y&quot;:880.5890346452634}],&quot;closed&quot;:false},&quot;pathStyles&quot;:[{&quot;type&quot;:&quot;FILL&quot;,&quot;fillStyle&quot;:&quot;rgba(0,0,0,0)&quot;},{&quot;type&quot;:&quot;STROKE&quot;,&quot;strokeStyle&quot;:&quot;rgb(129, 134, 137)&quot;,&quot;lineWidth&quot;:4.684949750238434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892c54e1-5de8-4cd2-83f9-0fd7c5fcbce3&quot;,&quot;order&quot;:&quot;5&quot;},&quot;connectorInfo&quot;:{&quot;connectedObjects&quot;:[],&quot;type&quot;:&quot;QUADRATIC&quot;,&quot;offset&quot;:{&quot;x&quot;:0,&quot;y&quot;:0},&quot;bending&quot;:-0.1,&quot;firstElementIsHead&quot;:false,&quot;customized&quot;:true}},&quot;bbf6a7a8-a71e-4190-8aec-145389e8f7b1&quot;:{&quot;relativeTransform&quot;:{&quot;translate&quot;:{&quot;x&quot;:1344.2434562185745,&quot;y&quot;:-82.00253907991366},&quot;rotate&quot;:0,&quot;skewX&quot;:0,&quot;scale&quot;:{&quot;x&quot;:1,&quot;y&quot;:1}},&quot;type&quot;:&quot;FIGURE_OBJECT&quot;,&quot;id&quot;:&quot;bbf6a7a8-a71e-4190-8aec-145389e8f7b1&quot;,&quot;parent&quot;:{&quot;type&quot;:&quot;CHILD&quot;,&quot;parentId&quot;:&quot;9d9c2a76-025a-43b0-a169-141973da405f&quot;,&quot;order&quot;:&quot;5&quot;},&quot;name&quot;:&quot;Proteome of cell lysate in test tube (with protein components callout)&quot;,&quot;displayName&quot;:&quot;Proteome of cell lysate in test tube (with protein components callout)&quot;,&quot;source&quot;:{&quot;id&quot;:&quot;643577dc4e6826d93e4fb72a&quot;,&quot;type&quot;:&quot;ASSETS&quot;},&quot;isPremium&quot;:true},&quot;ffbd5d56-836d-4563-ae5a-e31aef9c05ef&quot;:{&quot;type&quot;:&quot;FIGURE_OBJECT&quot;,&quot;id&quot;:&quot;ffbd5d56-836d-4563-ae5a-e31aef9c05ef&quot;,&quot;relativeTransform&quot;:{&quot;translate&quot;:{&quot;x&quot;:-1431.8373587584729,&quot;y&quot;:-147.5808966695474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1&quot;}},&quot;1032ef6e-676d-4501-802c-dc3aae0b037e&quot;:{&quot;type&quot;:&quot;FIGURE_OBJECT&quot;,&quot;id&quot;:&quot;1032ef6e-676d-4501-802c-dc3aae0b037e&quot;,&quot;relativeTransform&quot;:{&quot;translate&quot;:{&quot;x&quot;:-77.19242003029792,&quot;y&quot;:-0.07065366678880541},&quot;rotate&quot;:0},&quot;opacity&quot;:1,&quot;path&quot;:{&quot;type&quot;:&quot;POLY_LINE&quot;,&quot;points&quot;:[{&quot;x&quot;:-40.704817736061145,&quot;y&quot;:67.4652829615672},{&quot;x&quot;:32.70481773606115,&quot;y&quot;:-40.4652829615671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2&quot;}},&quot;7b6c973c-a11f-4a8e-84f9-b31cda801395&quot;:{&quot;type&quot;:&quot;FIGURE_OBJECT&quot;,&quot;id&quot;:&quot;7b6c973c-a11f-4a8e-84f9-b31cda801395&quot;,&quot;relativeTransform&quot;:{&quot;translate&quot;:{&quot;x&quot;:-54.46534329845883,&quot;y&quot;:56.46987869046946},&quot;rotate&quot;:0},&quot;opacity&quot;:1,&quot;path&quot;:{&quot;type&quot;:&quot;POLY_LINE&quot;,&quot;points&quot;:[{&quot;x&quot;:-64.43189446790026,&quot;y&quot;:16.075249395691074},{&quot;x&quot;:55.43189446790026,&quot;y&quot;:16.07524939569107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5&quot;}},&quot;a7725469-57a1-48b8-816b-b5b8e04c1f05&quot;:{&quot;type&quot;:&quot;FIGURE_OBJECT&quot;,&quot;id&quot;:&quot;a7725469-57a1-48b8-816b-b5b8e04c1f05&quot;,&quot;relativeTransform&quot;:{&quot;translate&quot;:{&quot;x&quot;:18.086798755195588,&quot;y&quot;:-6.301876790973922e-14},&quot;rotate&quot;:0.2700161367257839,&quot;skewX&quot;:-3.54876551147056e-17},&quot;opacity&quot;:1,&quot;path&quot;:{&quot;type&quot;:&quot;ELLIPSE&quot;,&quot;size&quot;:{&quot;x&quot;:148.91143563347035,&quot;y&quot;:148.91143563347043}},&quot;pathStyles&quot;:[{&quot;type&quot;:&quot;FILL&quot;,&quot;fillStyle&quot;:&quot;rgb(243, 241, 248)&quot;},{&quot;type&quot;:&quot;STROKE&quot;,&quot;strokeStyle&quot;:&quot;rgba(23,23,23,1)&quot;,&quot;lineWidth&quot;:1.6629568340370073,&quot;lineJoin&quot;:&quot;round&quot;}],&quot;isLocked&quot;:false,&quot;parent&quot;:{&quot;type&quot;:&quot;CHILD&quot;,&quot;parentId&quot;:&quot;ffbd5d56-836d-4563-ae5a-e31aef9c05ef&quot;,&quot;order&quot;:&quot;7&quot;}},&quot;0095673b-7530-4120-be36-b9b7410e3aff&quot;:{&quot;type&quot;:&quot;FIGURE_OBJECT&quot;,&quot;id&quot;:&quot;0095673b-7530-4120-be36-b9b7410e3aff&quot;,&quot;name&quot;:&quot;Pacman&quot;,&quot;relativeTransform&quot;:{&quot;translate&quot;:{&quot;x&quot;:-1449.6031868351533,&quot;y&quot;:-181.85161795362447},&quot;rotate&quot;:-2.443460952792062e-16,&quot;skewX&quot;:0,&quot;scale&quot;:{&quot;x&quot;:0.16075249395691069,&quot;y&quot;:0.16075249395691069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2&quot;}},&quot;37b07621-0e34-4e43-8595-c2bb583259d5&quot;:{&quot;type&quot;:&quot;FIGURE_OBJECT&quot;,&quot;id&quot;:&quot;37b07621-0e34-4e43-8595-c2bb583259d5&quot;,&quot;name&quot;:&quot;Pacman&quot;,&quot;relativeTransform&quot;:{&quot;translate&quot;:{&quot;x&quot;:-1384.1436932593756,&quot;y&quot;:-160.9162564517369},&quot;rotate&quot;:1.8412412958234115,&quot;skewX&quot;:0,&quot;scale&quot;:{&quot;x&quot;:0.16075249395691066,&quot;y&quot;:0.16075249395691074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3&quot;}},&quot;8a4b96e4-b64f-4b7a-bccd-679d9543f114&quot;:{&quot;type&quot;:&quot;FIGURE_OBJECT&quot;,&quot;id&quot;:&quot;8a4b96e4-b64f-4b7a-bccd-679d9543f114&quot;,&quot;name&quot;:&quot;Pacman&quot;,&quot;relativeTransform&quot;:{&quot;translate&quot;:{&quot;x&quot;:-1403.7304056033215,&quot;y&quot;:-99.43063126965266},&quot;rotate&quot;:0.46969401943335204,&quot;skewX&quot;:-3.356485855275665e-16,&quot;scale&quot;:{&quot;x&quot;:0.16075249395691066,&quot;y&quot;:0.16075249395691063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&quot;}},&quot;efc265d3-f0c3-4ef6-b3c7-4df4bddce3d0&quot;:{&quot;type&quot;:&quot;FIGURE_OBJECT&quot;,&quot;id&quot;:&quot;efc265d3-f0c3-4ef6-b3c7-4df4bddce3d0&quot;,&quot;name&quot;:&quot;Pacman&quot;,&quot;relativeTransform&quot;:{&quot;translate&quot;:{&quot;x&quot;:-1448.9714992183603,&quot;y&quot;:-110.02726730614933},&quot;rotate&quot;:-1.0337425351013334,&quot;skewX&quot;:1.1832875778473496e-15,&quot;scale&quot;:{&quot;x&quot;:0.13805166579614755,&quot;y&quot;:0.1380516657961475}},&quot;opacity&quot;:0.5,&quot;image&quot;:{&quot;url&quot;:&quot;https://icons.biorender.com/biorender/5ee3de774e18d300285a5551/pacman.png&quot;,&quot;fallbackUrl&quot;:&quot;https://res.cloudinary.com/dlcjuc3ej/image/upload/v1591991919/ugeyzt2gzkjfdzzjio1r.svg#/keystone/api/icons/5ee3de774e18d300285a5551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5&quot;}},&quot;c34482cd-e9e9-4e81-b5ac-5a9d8fe88448&quot;:{&quot;type&quot;:&quot;FIGURE_OBJECT&quot;,&quot;id&quot;:&quot;c34482cd-e9e9-4e81-b5ac-5a9d8fe88448&quot;,&quot;relativeTransform&quot;:{&quot;translate&quot;:{&quot;x&quot;:-1397.7687241837564,&quot;y&quot;:-197.0676023117558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6&quot;}},&quot;6e91de12-b701-4c52-afb6-40f32c26cc22&quot;:{&quot;type&quot;:&quot;FIGURE_OBJECT&quot;,&quot;id&quot;:&quot;6e91de12-b701-4c52-afb6-40f32c26cc22&quot;,&quot;relativeTransform&quot;:{&quot;translate&quot;:{&quot;x&quot;:-1356.9154179609138,&quot;y&quot;:-130.09589605352812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7&quot;}},&quot;01e41aa6-8f12-4ccc-9e03-4f263b873424&quot;:{&quot;type&quot;:&quot;FIGURE_OBJECT&quot;,&quot;id&quot;:&quot;01e41aa6-8f12-4ccc-9e03-4f263b873424&quot;,&quot;relativeTransform&quot;:{&quot;translate&quot;:{&quot;x&quot;:-1427.456202889809,&quot;y&quot;:-145.37474259660902},&quot;rotate&quot;:0},&quot;opacity&quot;:0.5,&quot;path&quot;:{&quot;type&quot;:&quot;ELLIPSE&quot;,&quot;size&quot;:{&quot;x&quot;:22.12449748741055,&quot;y&quot;:22.12449748741055}},&quot;pathStyles&quot;:[{&quot;type&quot;:&quot;FILL&quot;,&quot;fillStyle&quot;:&quot;rgba(216,134,81,1)&quot;},{&quot;type&quot;:&quot;STROKE&quot;,&quot;strokeStyle&quot;:&quot;rgba(114, 54, 29, 1)&quot;,&quot;lineWidth&quot;:1.1568981891075552,&quot;lineJoin&quot;:&quot;round&quot;}],&quot;isLocked&quot;:false,&quot;parent&quot;:{&quot;type&quot;:&quot;CHILD&quot;,&quot;parentId&quot;:&quot;bbf6a7a8-a71e-4190-8aec-145389e8f7b1&quot;,&quot;order&quot;:&quot;8&quot;}},&quot;892c54e1-5de8-4cd2-83f9-0fd7c5fcbce3&quot;:{&quot;type&quot;:&quot;FIGURE_OBJECT&quot;,&quot;id&quot;:&quot;892c54e1-5de8-4cd2-83f9-0fd7c5fcbce3&quot;,&quot;parent&quot;:{&quot;type&quot;:&quot;CHILD&quot;,&quot;parentId&quot;:&quot;9d9c2a76-025a-43b0-a169-141973da405f&quot;,&quot;order&quot;:&quot;2&quot;},&quot;relativeTransform&quot;:{}},&quot;9d9c2a76-025a-43b0-a169-141973da405f&quot;:{&quot;type&quot;:&quot;FIGURE_OBJECT&quot;,&quot;id&quot;:&quot;9d9c2a76-025a-43b0-a169-141973da405f&quot;,&quot;parent&quot;:{&quot;type&quot;:&quot;CHILD&quot;,&quot;parentId&quot;:&quot;69ed8831-b396-4d9a-ba73-58696945131d&quot;,&quot;order&quot;:&quot;7&quot;},&quot;relativeTransform&quot;:{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1c277abc-8998-4ba4-ac54-2b710e3b7d19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1c277abc-8998-4ba4-ac54-2b710e3b7d19&quot;:{&quot;type&quot;:&quot;FIGURE_OBJECT&quot;,&quot;id&quot;:&quot;1c277abc-8998-4ba4-ac54-2b710e3b7d19&quot;,&quot;relativeTransform&quot;:{&quot;translate&quot;:{&quot;x&quot;:186.56261298686607,&quot;y&quot;:-229.58343574946116},&quot;rotate&quot;:0,&quot;skewX&quot;:0,&quot;scale&quot;:{&quot;x&quot;:1,&quot;y&quot;:1}},&quot;opacity&quot;:1,&quot;path&quot;:{&quot;type&quot;:&quot;RECT&quot;,&quot;size&quot;:{&quot;x&quot;:186.81604073231458,&quot;y&quot;:91.42061567751564},&quot;cornerRounding&quot;:{&quot;type&quot;:&quot;ARC_LENGTH&quot;,&quot;global&quot;:17.838902770132858}},&quot;pathStyles&quot;:[{&quot;type&quot;:&quot;FILL&quot;,&quot;fillStyle&quot;:&quot;rgba(107, 106, 207, 1)&quot;},{&quot;type&quot;:&quot;STROKE&quot;,&quot;strokeStyle&quot;:&quot;rgba(44, 38, 93, 1)&quot;,&quot;lineWidth&quot;:2.2713196441618795,&quot;lineJoin&quot;:&quot;round&quot;}],&quot;isLocked&quot;:false,&quot;parent&quot;:{&quot;type&quot;:&quot;CHILD&quot;,&quot;parentId&quot;:&quot;69ed8831-b396-4d9a-ba73-58696945131d&quot;,&quot;order&quot;:&quot;8&quot;},&quot;layout&quot;:{&quot;sizeRatio&quot;:{&quot;x&quot;:0.88,&quot;y&quot;:0.88},&quot;keepAspectRatio&quot;:false}},&quot;0393e702-3359-4856-b6a6-2038e8d8fa7f&quot;:{&quot;id&quot;:&quot;0393e702-3359-4856-b6a6-2038e8d8fa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},&quot;range&quot;:[0,12]}],&quot;text&quot;:&quot;SomaScan - 7k&quot;},{&quot;runs&quot;:[],&quot;text&quot;:&quot;&quot;,&quot;baseStyle&quot;:{&quot;fontFamily&quot;:&quot;Roboto&quot;,&quot;fontSize&quot;:21.19898334551086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,&quot;script&quot;:&quot;none&quot;},&quot;range&quot;:[0,13]}],&quot;text&quot;:&quot;~7000 proteins&quot;}],&quot;_lastCaretLocation&quot;:{&quot;lineIndex&quot;:2,&quot;runIndex&quot;:-1,&quot;charIndex&quot;:-1,&quot;endOfLine&quot;:true}},&quot;format&quot;:&quot;BETTER_TEXT&quot;,&quot;size&quot;:{&quot;x&quot;:164.39811584443686,&quot;y&quot;:74.953548257342},&quot;targetSize&quot;:{&quot;x&quot;:164.39811584443686,&quot;y&quot;:2}},&quot;parent&quot;:{&quot;type&quot;:&quot;CHILD&quot;,&quot;parentId&quot;:&quot;1c277abc-8998-4ba4-ac54-2b710e3b7d19&quot;,&quot;order&quot;:&quot;5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095f095-8972-4b18-9ba1-490385f2157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a14a4050-b190-4bc4-81a6-5ffbe4b780e8&quot;:{&quot;id&quot;:&quot;a14a4050-b190-4bc4-81a6-5ffbe4b780e8&quot;,&quot;name&quot;:&quot;image.png&quot;,&quot;type&quot;:&quot;FIGURE_OBJECT&quot;,&quot;relativeTransform&quot;:{&quot;translate&quot;:{&quot;x&quot;:10.567136811747133,&quot;y&quot;:29.262842911323794},&quot;rotate&quot;:0,&quot;skewX&quot;:0,&quot;scale&quot;:{&quot;x&quot;:1.688402433393265,&quot;y&quot;:1.6884024333932652}},&quot;image&quot;:{&quot;url&quot;:&quot;https://core.services.biorender.com/api/uploads/noredirect/68cb8a74130deaa8695fdcfa/1758169716993_c6cf7d3c-8961-4eb7-9148-1c935413cb2c_icon.png&quot;,&quot;isPremium&quot;:false,&quot;isSignedURL&quot;:true,&quot;size&quot;:{&quot;x&quot;:300,&quot;y&quot;:200}},&quot;source&quot;:{&quot;id&quot;:&quot;68cb8a74130deaa8695fdcfa&quot;,&quot;type&quot;:&quot;UPLOADS&quot;},&quot;isPremium&quot;:false,&quot;parent&quot;:{&quot;type&quot;:&quot;CHILD&quot;,&quot;parentId&quot;:&quot;b095f095-8972-4b18-9ba1-490385f2157f&quot;,&quot;order&quot;:&quot;5&quot;}},&quot;b095f095-8972-4b18-9ba1-490385f2157f&quot;:{&quot;type&quot;:&quot;FIGURE_OBJECT&quot;,&quot;id&quot;:&quot;b095f095-8972-4b18-9ba1-490385f2157f&quot;,&quot;parent&quot;:{&quot;type&quot;:&quot;CHILD&quot;,&quot;parentId&quot;:&quot;69ed8831-b396-4d9a-ba73-58696945131d&quot;,&quot;order&quot;:&quot;9&quot;},&quot;relativeTransform&quot;:{&quot;translate&quot;:{&quot;x&quot;:175.99547617511894,&quot;y&quot;:-68.25320334071418},&quot;rotate&quot;:0,&quot;skewX&quot;:0,&quot;scale&quot;:{&quot;x&quot;:1,&quot;y&quot;:1}}},&quot;3e0136fc-fc76-4e29-83f8-a570fbcf6b6d&quot;:{&quot;type&quot;:&quot;FIGURE_OBJECT&quot;,&quot;id&quot;:&quot;3e0136fc-fc76-4e29-83f8-a570fbcf6b6d&quot;,&quot;parent&quot;:{&quot;type&quot;:&quot;CROP&quot;,&quot;parentId&quot;:&quot;b095f095-8972-4b18-9ba1-490385f2157f&quot;,&quot;order&quot;:&quot;5&quot;},&quot;relativeTransform&quot;:{&quot;translate&quot;:{&quot;x&quot;:10.567136811747133,&quot;y&quot;:11.075172428804255},&quot;rotate&quot;:0,&quot;skewX&quot;:0,&quot;scale&quot;:{&quot;x&quot;:253.26036500898974,&quot;y&quot;:71.60225087133108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fc8562c4-e250-46d9-9779-46d90eb78891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c8562c4-e250-46d9-9779-46d90eb78891&quot;:{&quot;type&quot;:&quot;FIGURE_OBJECT&quot;,&quot;id&quot;:&quot;fc8562c4-e250-46d9-9779-46d90eb78891&quot;,&quot;relativeTransform&quot;:{&quot;translate&quot;:{&quot;x&quot;:186.5629130422743,&quot;y&quot;:-154.5094049073502},&quot;rotate&quot;:1.5707963267948966,&quot;skewX&quot;:0,&quot;scale&quot;:{&quot;x&quot;:1,&quot;y&quot;:1}},&quot;opacity&quot;:1,&quot;path&quot;:{&quot;type&quot;:&quot;BRACKET&quot;,&quot;size&quot;:{&quot;x&quot;:15.899237509133155,&quot;y&quot;:304.35683231769184},&quot;handleBase&quot;:{&quot;x&quot;:-1,&quot;y&quot;:0},&quot;handleWidth&quot;:14,&quot;cornerRounding&quot;:{&quot;type&quot;:&quot;ARC_LENGTH&quot;,&quot;global&quot;:19.622793047146143,&quot;perNode&quot;:{&quot;3&quot;:0}}},&quot;pathStyles&quot;:[{&quot;type&quot;:&quot;FILL&quot;,&quot;fillStyle&quot;:&quot;rgba(0,0,0,0)&quot;},{&quot;type&quot;:&quot;STROKE&quot;,&quot;strokeStyle&quot;:&quot;#232323&quot;,&quot;lineWidth&quot;:3.4069794662428183,&quot;lineJoin&quot;:&quot;round&quot;}],&quot;isLocked&quot;:false,&quot;parent&quot;:{&quot;type&quot;:&quot;CHILD&quot;,&quot;parentId&quot;:&quot;69ed8831-b396-4d9a-ba73-58696945131d&quot;,&quot;order&quot;:&quot;97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4233</TotalTime>
  <Words>811</Words>
  <Application>Microsoft Macintosh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HCA poster</dc:title>
  <cp:lastModifiedBy>Jie Kang</cp:lastModifiedBy>
  <cp:revision>25</cp:revision>
  <dcterms:created xsi:type="dcterms:W3CDTF">2006-08-16T00:00:00Z</dcterms:created>
  <dcterms:modified xsi:type="dcterms:W3CDTF">2025-11-18T22:26:30Z</dcterms:modified>
  <dc:identifier>DAGoDfbV5mE</dc:identifier>
</cp:coreProperties>
</file>