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56" r:id="rId2"/>
  </p:sldIdLst>
  <p:sldSz cx="30276800" cy="42799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EF44FF8-B9EB-FA9D-F1DC-765EA9B77120}" name="Jie Kang" initials="JK" userId="S::jie.kang@sydney.edu.au::d78ddd34-7d97-4c31-bf59-5ae79f51249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A441B"/>
    <a:srgbClr val="71A399"/>
    <a:srgbClr val="FC441B"/>
    <a:srgbClr val="8F9FC9"/>
    <a:srgbClr val="FB441B"/>
    <a:srgbClr val="E64626"/>
    <a:srgbClr val="424142"/>
    <a:srgbClr val="1A35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122" autoAdjust="0"/>
    <p:restoredTop sz="96327" autoAdjust="0"/>
  </p:normalViewPr>
  <p:slideViewPr>
    <p:cSldViewPr>
      <p:cViewPr>
        <p:scale>
          <a:sx n="62" d="100"/>
          <a:sy n="62" d="100"/>
        </p:scale>
        <p:origin x="4944" y="-78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550A57-7EC6-7C49-94D3-E4D93714FE27}" type="datetimeFigureOut">
              <a:rPr lang="en-US" smtClean="0"/>
              <a:t>11/20/25</a:t>
            </a:fld>
            <a:endParaRPr lang="en-US"/>
          </a:p>
        </p:txBody>
      </p:sp>
      <p:sp>
        <p:nvSpPr>
          <p:cNvPr id="4" name="Slide Image Placeholder 3"/>
          <p:cNvSpPr>
            <a:spLocks noGrp="1" noRot="1" noChangeAspect="1"/>
          </p:cNvSpPr>
          <p:nvPr>
            <p:ph type="sldImg" idx="2"/>
          </p:nvPr>
        </p:nvSpPr>
        <p:spPr>
          <a:xfrm>
            <a:off x="2336800" y="1143000"/>
            <a:ext cx="2184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EB5940-D787-5348-8E2A-8CE91C0A3DB4}" type="slidenum">
              <a:rPr lang="en-US" smtClean="0"/>
              <a:t>‹#›</a:t>
            </a:fld>
            <a:endParaRPr lang="en-US"/>
          </a:p>
        </p:txBody>
      </p:sp>
    </p:spTree>
    <p:extLst>
      <p:ext uri="{BB962C8B-B14F-4D97-AF65-F5344CB8AC3E}">
        <p14:creationId xmlns:p14="http://schemas.microsoft.com/office/powerpoint/2010/main" val="4008792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EB5940-D787-5348-8E2A-8CE91C0A3DB4}" type="slidenum">
              <a:rPr lang="en-US" smtClean="0"/>
              <a:t>1</a:t>
            </a:fld>
            <a:endParaRPr lang="en-US"/>
          </a:p>
        </p:txBody>
      </p:sp>
    </p:spTree>
    <p:extLst>
      <p:ext uri="{BB962C8B-B14F-4D97-AF65-F5344CB8AC3E}">
        <p14:creationId xmlns:p14="http://schemas.microsoft.com/office/powerpoint/2010/main" val="4035742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13" Type="http://schemas.openxmlformats.org/officeDocument/2006/relationships/image" Target="../media/image5.png"/><Relationship Id="rId18" Type="http://schemas.openxmlformats.org/officeDocument/2006/relationships/image" Target="../media/image10.png"/><Relationship Id="rId3" Type="http://schemas.openxmlformats.org/officeDocument/2006/relationships/tags" Target="../tags/tag3.xml"/><Relationship Id="rId21" Type="http://schemas.openxmlformats.org/officeDocument/2006/relationships/image" Target="../media/image13.png"/><Relationship Id="rId7" Type="http://schemas.openxmlformats.org/officeDocument/2006/relationships/slideLayout" Target="../slideLayouts/slideLayout7.xml"/><Relationship Id="rId12" Type="http://schemas.openxmlformats.org/officeDocument/2006/relationships/image" Target="../media/image4.png"/><Relationship Id="rId17" Type="http://schemas.openxmlformats.org/officeDocument/2006/relationships/image" Target="../media/image9.png"/><Relationship Id="rId2" Type="http://schemas.openxmlformats.org/officeDocument/2006/relationships/tags" Target="../tags/tag2.xml"/><Relationship Id="rId16" Type="http://schemas.openxmlformats.org/officeDocument/2006/relationships/image" Target="../media/image8.png"/><Relationship Id="rId20" Type="http://schemas.openxmlformats.org/officeDocument/2006/relationships/image" Target="../media/image12.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3.png"/><Relationship Id="rId5" Type="http://schemas.openxmlformats.org/officeDocument/2006/relationships/tags" Target="../tags/tag5.xml"/><Relationship Id="rId15" Type="http://schemas.openxmlformats.org/officeDocument/2006/relationships/image" Target="../media/image7.png"/><Relationship Id="rId10" Type="http://schemas.openxmlformats.org/officeDocument/2006/relationships/image" Target="../media/image2.png"/><Relationship Id="rId19" Type="http://schemas.openxmlformats.org/officeDocument/2006/relationships/image" Target="../media/image11.png"/><Relationship Id="rId4" Type="http://schemas.openxmlformats.org/officeDocument/2006/relationships/tags" Target="../tags/tag4.xml"/><Relationship Id="rId9" Type="http://schemas.openxmlformats.org/officeDocument/2006/relationships/image" Target="../media/image1.png"/><Relationship Id="rId14" Type="http://schemas.openxmlformats.org/officeDocument/2006/relationships/image" Target="../media/image6.png"/><Relationship Id="rId22"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2"/>
          <p:cNvSpPr txBox="1"/>
          <p:nvPr/>
        </p:nvSpPr>
        <p:spPr>
          <a:xfrm>
            <a:off x="12653537" y="40378374"/>
            <a:ext cx="14959018" cy="2872581"/>
          </a:xfrm>
          <a:prstGeom prst="rect">
            <a:avLst/>
          </a:prstGeom>
        </p:spPr>
        <p:txBody>
          <a:bodyPr wrap="square" lIns="0" tIns="0" rIns="0" bIns="0" rtlCol="0" anchor="t">
            <a:spAutoFit/>
          </a:bodyPr>
          <a:lstStyle/>
          <a:p>
            <a:pPr>
              <a:lnSpc>
                <a:spcPts val="3249"/>
              </a:lnSpc>
            </a:pPr>
            <a:r>
              <a:rPr lang="en-US" sz="2800" b="1" dirty="0">
                <a:solidFill>
                  <a:srgbClr val="FC441B"/>
                </a:solidFill>
                <a:latin typeface="Arial" panose="020B0604020202020204" pitchFamily="34" charset="0"/>
                <a:ea typeface="Times New Roman"/>
                <a:cs typeface="Arial" panose="020B0604020202020204" pitchFamily="34" charset="0"/>
                <a:sym typeface="Times New Roman"/>
              </a:rPr>
              <a:t>NEXT STEP: </a:t>
            </a:r>
            <a:r>
              <a:rPr lang="en-AU" sz="2800" dirty="0">
                <a:latin typeface="Arial" panose="020B0604020202020204" pitchFamily="34" charset="0"/>
                <a:cs typeface="Arial" panose="020B0604020202020204" pitchFamily="34" charset="0"/>
              </a:rPr>
              <a:t>We will extend the multi-objective optimisation (MOO) framework by incorporating pathway-level biological information directly into the objective space. This will allow the algorithm to prioritise 4-plex panels that are not only high-performing and stable across cohorts, but also biologically coherent. We will also package the enhanced MOO workflow into an open-source R package to support transparent, reproducible, and scalable biomarker panel development.</a:t>
            </a:r>
          </a:p>
          <a:p>
            <a:pPr>
              <a:lnSpc>
                <a:spcPts val="3249"/>
              </a:lnSpc>
            </a:pPr>
            <a:endParaRPr lang="en-US" sz="2800" dirty="0">
              <a:solidFill>
                <a:srgbClr val="000000"/>
              </a:solidFill>
              <a:latin typeface="Arial" panose="020B0604020202020204" pitchFamily="34" charset="0"/>
              <a:ea typeface="Times New Roman"/>
              <a:cs typeface="Arial" panose="020B0604020202020204" pitchFamily="34" charset="0"/>
              <a:sym typeface="Times New Roman"/>
            </a:endParaRPr>
          </a:p>
        </p:txBody>
      </p:sp>
      <p:sp>
        <p:nvSpPr>
          <p:cNvPr id="102" name="TextBox 101">
            <a:extLst>
              <a:ext uri="{FF2B5EF4-FFF2-40B4-BE49-F238E27FC236}">
                <a16:creationId xmlns:a16="http://schemas.microsoft.com/office/drawing/2014/main" id="{96297056-D17C-6EF9-8D8D-3D24FD61C128}"/>
              </a:ext>
            </a:extLst>
          </p:cNvPr>
          <p:cNvSpPr txBox="1">
            <a:spLocks/>
          </p:cNvSpPr>
          <p:nvPr/>
        </p:nvSpPr>
        <p:spPr>
          <a:xfrm>
            <a:off x="215742" y="14024794"/>
            <a:ext cx="16827658" cy="4401205"/>
          </a:xfrm>
          <a:prstGeom prst="rect">
            <a:avLst/>
          </a:prstGeom>
          <a:noFill/>
        </p:spPr>
        <p:txBody>
          <a:bodyPr wrap="square" rtlCol="0">
            <a:spAutoFit/>
          </a:bodyPr>
          <a:lstStyle/>
          <a:p>
            <a:r>
              <a:rPr lang="en-AU" sz="2800" dirty="0">
                <a:latin typeface="Arial" panose="020B0604020202020204" pitchFamily="34" charset="0"/>
                <a:cs typeface="Arial" panose="020B0604020202020204" pitchFamily="34" charset="0"/>
              </a:rPr>
              <a:t>A clinically deployable biomarker must </a:t>
            </a:r>
            <a:r>
              <a:rPr lang="en-AU" sz="2800" b="1" dirty="0">
                <a:latin typeface="Arial" panose="020B0604020202020204" pitchFamily="34" charset="0"/>
                <a:cs typeface="Arial" panose="020B0604020202020204" pitchFamily="34" charset="0"/>
              </a:rPr>
              <a:t>generalise beyond its training set</a:t>
            </a:r>
            <a:r>
              <a:rPr lang="en-AU" sz="2800" dirty="0">
                <a:latin typeface="Arial" panose="020B0604020202020204" pitchFamily="34" charset="0"/>
                <a:cs typeface="Arial" panose="020B0604020202020204" pitchFamily="34" charset="0"/>
              </a:rPr>
              <a:t>. </a:t>
            </a:r>
            <a:r>
              <a:rPr lang="en-AU" sz="2800" b="1" i="1" dirty="0">
                <a:latin typeface="Arial" panose="020B0604020202020204" pitchFamily="34" charset="0"/>
                <a:cs typeface="Arial" panose="020B0604020202020204" pitchFamily="34" charset="0"/>
              </a:rPr>
              <a:t>Transferability</a:t>
            </a:r>
            <a:r>
              <a:rPr lang="en-AU" sz="2800" dirty="0">
                <a:latin typeface="Arial" panose="020B0604020202020204" pitchFamily="34" charset="0"/>
                <a:cs typeface="Arial" panose="020B0604020202020204" pitchFamily="34" charset="0"/>
              </a:rPr>
              <a:t> is essential: selected aptamers must maintain effect direction and magnitude across </a:t>
            </a:r>
            <a:r>
              <a:rPr lang="en-AU" sz="2800" i="1" dirty="0">
                <a:latin typeface="Arial" panose="020B0604020202020204" pitchFamily="34" charset="0"/>
                <a:cs typeface="Arial" panose="020B0604020202020204" pitchFamily="34" charset="0"/>
              </a:rPr>
              <a:t>cohorts </a:t>
            </a:r>
            <a:r>
              <a:rPr lang="en-AU" sz="2800" dirty="0">
                <a:latin typeface="Arial" panose="020B0604020202020204" pitchFamily="34" charset="0"/>
                <a:cs typeface="Arial" panose="020B0604020202020204" pitchFamily="34" charset="0"/>
              </a:rPr>
              <a:t>and </a:t>
            </a:r>
            <a:r>
              <a:rPr lang="en-AU" sz="2800" i="1" dirty="0">
                <a:latin typeface="Arial" panose="020B0604020202020204" pitchFamily="34" charset="0"/>
                <a:cs typeface="Arial" panose="020B0604020202020204" pitchFamily="34" charset="0"/>
              </a:rPr>
              <a:t>platforms</a:t>
            </a:r>
            <a:r>
              <a:rPr lang="en-AU" sz="2800" dirty="0">
                <a:latin typeface="Arial" panose="020B0604020202020204" pitchFamily="34" charset="0"/>
                <a:cs typeface="Arial" panose="020B0604020202020204" pitchFamily="34" charset="0"/>
              </a:rPr>
              <a:t>, regardless of </a:t>
            </a:r>
            <a:r>
              <a:rPr lang="en-AU" sz="2800" i="1" dirty="0">
                <a:latin typeface="Arial" panose="020B0604020202020204" pitchFamily="34" charset="0"/>
                <a:cs typeface="Arial" panose="020B0604020202020204" pitchFamily="34" charset="0"/>
              </a:rPr>
              <a:t>demographic</a:t>
            </a:r>
            <a:r>
              <a:rPr lang="en-AU" sz="2800" dirty="0">
                <a:latin typeface="Arial" panose="020B0604020202020204" pitchFamily="34" charset="0"/>
                <a:cs typeface="Arial" panose="020B0604020202020204" pitchFamily="34" charset="0"/>
              </a:rPr>
              <a:t>, </a:t>
            </a:r>
            <a:r>
              <a:rPr lang="en-AU" sz="2800" i="1" dirty="0">
                <a:latin typeface="Arial" panose="020B0604020202020204" pitchFamily="34" charset="0"/>
                <a:cs typeface="Arial" panose="020B0604020202020204" pitchFamily="34" charset="0"/>
              </a:rPr>
              <a:t>prevalence</a:t>
            </a:r>
            <a:r>
              <a:rPr lang="en-AU" sz="2800" dirty="0">
                <a:latin typeface="Arial" panose="020B0604020202020204" pitchFamily="34" charset="0"/>
                <a:cs typeface="Arial" panose="020B0604020202020204" pitchFamily="34" charset="0"/>
              </a:rPr>
              <a:t>, </a:t>
            </a:r>
            <a:r>
              <a:rPr lang="en-AU" sz="2800" i="1" dirty="0">
                <a:latin typeface="Arial" panose="020B0604020202020204" pitchFamily="34" charset="0"/>
                <a:cs typeface="Arial" panose="020B0604020202020204" pitchFamily="34" charset="0"/>
              </a:rPr>
              <a:t>assay</a:t>
            </a:r>
            <a:r>
              <a:rPr lang="en-AU" sz="2800" dirty="0">
                <a:latin typeface="Arial" panose="020B0604020202020204" pitchFamily="34" charset="0"/>
                <a:cs typeface="Arial" panose="020B0604020202020204" pitchFamily="34" charset="0"/>
              </a:rPr>
              <a:t> or </a:t>
            </a:r>
            <a:r>
              <a:rPr lang="en-AU" sz="2800" i="1" dirty="0">
                <a:latin typeface="Arial" panose="020B0604020202020204" pitchFamily="34" charset="0"/>
                <a:cs typeface="Arial" panose="020B0604020202020204" pitchFamily="34" charset="0"/>
              </a:rPr>
              <a:t>batch</a:t>
            </a:r>
            <a:r>
              <a:rPr lang="en-AU" sz="2800" dirty="0">
                <a:latin typeface="Arial" panose="020B0604020202020204" pitchFamily="34" charset="0"/>
                <a:cs typeface="Arial" panose="020B0604020202020204" pitchFamily="34" charset="0"/>
              </a:rPr>
              <a:t> differences.</a:t>
            </a:r>
          </a:p>
          <a:p>
            <a:br>
              <a:rPr lang="en-AU" sz="2800" dirty="0">
                <a:latin typeface="Arial" panose="020B0604020202020204" pitchFamily="34" charset="0"/>
                <a:cs typeface="Arial" panose="020B0604020202020204" pitchFamily="34" charset="0"/>
              </a:rPr>
            </a:br>
            <a:endParaRPr lang="en-AU" sz="2800" dirty="0">
              <a:latin typeface="Arial" panose="020B0604020202020204" pitchFamily="34" charset="0"/>
              <a:cs typeface="Arial" panose="020B0604020202020204" pitchFamily="34" charset="0"/>
            </a:endParaRPr>
          </a:p>
          <a:p>
            <a:endParaRPr lang="en-AU" sz="2800" dirty="0">
              <a:latin typeface="Arial" panose="020B0604020202020204" pitchFamily="34" charset="0"/>
              <a:cs typeface="Arial" panose="020B0604020202020204" pitchFamily="34" charset="0"/>
            </a:endParaRPr>
          </a:p>
          <a:p>
            <a:endParaRPr lang="en-AU" sz="2800" dirty="0">
              <a:latin typeface="Arial" panose="020B0604020202020204" pitchFamily="34" charset="0"/>
              <a:cs typeface="Arial" panose="020B0604020202020204" pitchFamily="34" charset="0"/>
            </a:endParaRPr>
          </a:p>
          <a:p>
            <a:endParaRPr lang="en-AU" sz="2800" dirty="0">
              <a:latin typeface="Arial" panose="020B0604020202020204" pitchFamily="34" charset="0"/>
              <a:cs typeface="Arial" panose="020B0604020202020204" pitchFamily="34" charset="0"/>
            </a:endParaRPr>
          </a:p>
          <a:p>
            <a:endParaRPr lang="en-AU" sz="2800" dirty="0">
              <a:latin typeface="Arial" panose="020B0604020202020204" pitchFamily="34" charset="0"/>
              <a:cs typeface="Arial" panose="020B0604020202020204" pitchFamily="34" charset="0"/>
            </a:endParaRPr>
          </a:p>
          <a:p>
            <a:endParaRPr lang="en-AU" sz="2800" dirty="0">
              <a:latin typeface="Arial" panose="020B0604020202020204" pitchFamily="34" charset="0"/>
              <a:cs typeface="Arial" panose="020B0604020202020204" pitchFamily="34" charset="0"/>
            </a:endParaRPr>
          </a:p>
        </p:txBody>
      </p:sp>
      <p:sp>
        <p:nvSpPr>
          <p:cNvPr id="96" name="TextBox 95">
            <a:extLst>
              <a:ext uri="{FF2B5EF4-FFF2-40B4-BE49-F238E27FC236}">
                <a16:creationId xmlns:a16="http://schemas.microsoft.com/office/drawing/2014/main" id="{3C97644E-FF05-D8EB-F824-5D9D37DD2B7F}"/>
              </a:ext>
            </a:extLst>
          </p:cNvPr>
          <p:cNvSpPr txBox="1">
            <a:spLocks/>
          </p:cNvSpPr>
          <p:nvPr/>
        </p:nvSpPr>
        <p:spPr>
          <a:xfrm>
            <a:off x="186169" y="7328682"/>
            <a:ext cx="6675998" cy="5847755"/>
          </a:xfrm>
          <a:prstGeom prst="rect">
            <a:avLst/>
          </a:prstGeom>
          <a:noFill/>
        </p:spPr>
        <p:txBody>
          <a:bodyPr wrap="square" rtlCol="0">
            <a:spAutoFit/>
          </a:bodyPr>
          <a:lstStyle/>
          <a:p>
            <a:pPr defTabSz="914400">
              <a:defRPr/>
            </a:pPr>
            <a:r>
              <a:rPr lang="en-NZ" sz="2800" b="1" dirty="0">
                <a:solidFill>
                  <a:srgbClr val="E64626"/>
                </a:solidFill>
                <a:latin typeface="Arial" panose="020B0604020202020204" pitchFamily="34" charset="0"/>
                <a:cs typeface="Arial" panose="020B0604020202020204" pitchFamily="34" charset="0"/>
              </a:rPr>
              <a:t>Motivations</a:t>
            </a:r>
          </a:p>
          <a:p>
            <a:pPr defTabSz="914400">
              <a:defRPr/>
            </a:pPr>
            <a:endParaRPr lang="en-NZ" sz="1000" b="1" dirty="0">
              <a:solidFill>
                <a:srgbClr val="E64626"/>
              </a:solidFill>
              <a:latin typeface="Arial" panose="020B0604020202020204" pitchFamily="34" charset="0"/>
              <a:cs typeface="Arial" panose="020B0604020202020204" pitchFamily="34" charset="0"/>
            </a:endParaRPr>
          </a:p>
          <a:p>
            <a:pPr marL="457200" indent="-457200">
              <a:buFont typeface="Arial" panose="020B0604020202020204" pitchFamily="34" charset="0"/>
              <a:buChar char="•"/>
              <a:defRPr/>
            </a:pPr>
            <a:r>
              <a:rPr lang="en-AU" sz="2800" dirty="0">
                <a:solidFill>
                  <a:prstClr val="black"/>
                </a:solidFill>
                <a:latin typeface="Arial" panose="020B0604020202020204" pitchFamily="34" charset="0"/>
                <a:cs typeface="Arial" panose="020B0604020202020204" pitchFamily="34" charset="0"/>
              </a:rPr>
              <a:t>FGR </a:t>
            </a:r>
            <a:r>
              <a:rPr lang="en-AU" sz="2800" dirty="0">
                <a:latin typeface="Arial" panose="020B0604020202020204" pitchFamily="34" charset="0"/>
                <a:cs typeface="Arial" panose="020B0604020202020204" pitchFamily="34" charset="0"/>
              </a:rPr>
              <a:t>affects 3–9% of pregnancies in high-income countries and ~25% in low- and middle-income regions (</a:t>
            </a:r>
            <a:r>
              <a:rPr lang="en-AU" sz="2800" dirty="0" err="1">
                <a:latin typeface="Arial" panose="020B0604020202020204" pitchFamily="34" charset="0"/>
                <a:cs typeface="Arial" panose="020B0604020202020204" pitchFamily="34" charset="0"/>
              </a:rPr>
              <a:t>Damhuis</a:t>
            </a:r>
            <a:r>
              <a:rPr lang="en-AU" sz="2800" dirty="0">
                <a:latin typeface="Arial" panose="020B0604020202020204" pitchFamily="34" charset="0"/>
                <a:cs typeface="Arial" panose="020B0604020202020204" pitchFamily="34" charset="0"/>
              </a:rPr>
              <a:t> et al., 2021).</a:t>
            </a:r>
            <a:endParaRPr lang="en-NZ" sz="2800" dirty="0">
              <a:solidFill>
                <a:prstClr val="black"/>
              </a:solidFill>
              <a:latin typeface="Arial" panose="020B0604020202020204" pitchFamily="34" charset="0"/>
              <a:cs typeface="Arial" panose="020B0604020202020204" pitchFamily="34" charset="0"/>
            </a:endParaRPr>
          </a:p>
          <a:p>
            <a:pPr marL="457200" indent="-457200">
              <a:buFont typeface="Arial" panose="020B0604020202020204" pitchFamily="34" charset="0"/>
              <a:buChar char="•"/>
              <a:defRPr/>
            </a:pPr>
            <a:r>
              <a:rPr lang="en-NZ" sz="2800" dirty="0">
                <a:solidFill>
                  <a:prstClr val="black"/>
                </a:solidFill>
                <a:latin typeface="Arial" panose="020B0604020202020204" pitchFamily="34" charset="0"/>
                <a:cs typeface="Arial" panose="020B0604020202020204" pitchFamily="34" charset="0"/>
              </a:rPr>
              <a:t>FGR increases the risk of stillbirth, neonatal complications and long-term disease.</a:t>
            </a:r>
          </a:p>
          <a:p>
            <a:pPr marL="457200" indent="-457200">
              <a:buFont typeface="Arial" panose="020B0604020202020204" pitchFamily="34" charset="0"/>
              <a:buChar char="•"/>
              <a:defRPr/>
            </a:pPr>
            <a:r>
              <a:rPr lang="en-NZ" sz="2800" dirty="0">
                <a:solidFill>
                  <a:prstClr val="black"/>
                </a:solidFill>
                <a:latin typeface="Arial" panose="020B0604020202020204" pitchFamily="34" charset="0"/>
                <a:cs typeface="Arial" panose="020B0604020202020204" pitchFamily="34" charset="0"/>
              </a:rPr>
              <a:t>High-resolution ultrasound can detect FGR but is costly, highlighting the need for better biomarkers to enable timely intervention and reduce harm.</a:t>
            </a:r>
          </a:p>
          <a:p>
            <a:pPr defTabSz="914400">
              <a:defRPr/>
            </a:pPr>
            <a:endParaRPr lang="en-NZ" sz="2800" dirty="0">
              <a:solidFill>
                <a:prstClr val="black"/>
              </a:solidFill>
              <a:latin typeface="Arial" panose="020B0604020202020204" pitchFamily="34" charset="0"/>
              <a:cs typeface="Arial" panose="020B0604020202020204" pitchFamily="34" charset="0"/>
            </a:endParaRPr>
          </a:p>
        </p:txBody>
      </p:sp>
      <p:sp>
        <p:nvSpPr>
          <p:cNvPr id="130" name="TextBox 129">
            <a:extLst>
              <a:ext uri="{FF2B5EF4-FFF2-40B4-BE49-F238E27FC236}">
                <a16:creationId xmlns:a16="http://schemas.microsoft.com/office/drawing/2014/main" id="{CE33AFCF-DA9D-9692-3AAC-18A9D5F95E1A}"/>
              </a:ext>
            </a:extLst>
          </p:cNvPr>
          <p:cNvSpPr txBox="1">
            <a:spLocks/>
          </p:cNvSpPr>
          <p:nvPr/>
        </p:nvSpPr>
        <p:spPr>
          <a:xfrm>
            <a:off x="17679712" y="6783684"/>
            <a:ext cx="12263411" cy="6863417"/>
          </a:xfrm>
          <a:prstGeom prst="rect">
            <a:avLst/>
          </a:prstGeom>
          <a:noFill/>
        </p:spPr>
        <p:txBody>
          <a:bodyPr wrap="square" rtlCol="0">
            <a:spAutoFit/>
          </a:bodyPr>
          <a:lstStyle/>
          <a:p>
            <a:endParaRPr lang="en-NZ" sz="2800" b="1" dirty="0">
              <a:solidFill>
                <a:srgbClr val="CC00FF"/>
              </a:solidFill>
              <a:latin typeface="Arial" panose="020B0604020202020204" pitchFamily="34" charset="0"/>
              <a:cs typeface="Arial" panose="020B0604020202020204" pitchFamily="34" charset="0"/>
            </a:endParaRPr>
          </a:p>
          <a:p>
            <a:r>
              <a:rPr lang="en-NZ" sz="2800" b="1" dirty="0">
                <a:solidFill>
                  <a:srgbClr val="E64626"/>
                </a:solidFill>
                <a:latin typeface="Arial" panose="020B0604020202020204" pitchFamily="34" charset="0"/>
                <a:cs typeface="Arial" panose="020B0604020202020204" pitchFamily="34" charset="0"/>
              </a:rPr>
              <a:t>Challenges of biomarker identification in precision medicine:</a:t>
            </a:r>
          </a:p>
          <a:p>
            <a:pPr defTabSz="914400">
              <a:defRPr/>
            </a:pPr>
            <a:endParaRPr lang="en-AU" sz="1000" dirty="0">
              <a:solidFill>
                <a:prstClr val="black"/>
              </a:solidFill>
              <a:latin typeface="Arial" panose="020B0604020202020204" pitchFamily="34" charset="0"/>
              <a:cs typeface="Arial" panose="020B0604020202020204" pitchFamily="34" charset="0"/>
            </a:endParaRPr>
          </a:p>
          <a:p>
            <a:pPr marL="285750" indent="-285750" defTabSz="914400">
              <a:buFont typeface="Arial" panose="020B0604020202020204" pitchFamily="34" charset="0"/>
              <a:buChar char="•"/>
              <a:defRPr/>
            </a:pPr>
            <a:r>
              <a:rPr lang="en-AU" sz="2800" dirty="0">
                <a:solidFill>
                  <a:prstClr val="black"/>
                </a:solidFill>
                <a:latin typeface="Arial" panose="020B0604020202020204" pitchFamily="34" charset="0"/>
                <a:cs typeface="Arial" panose="020B0604020202020204" pitchFamily="34" charset="0"/>
              </a:rPr>
              <a:t>Transferability – Biomarkers often fail across cohorts due to distributional shift (demographics, prevalence, assay differences).</a:t>
            </a:r>
          </a:p>
          <a:p>
            <a:pPr marL="285750" indent="-285750" defTabSz="914400">
              <a:buFont typeface="Arial" panose="020B0604020202020204" pitchFamily="34" charset="0"/>
              <a:buChar char="•"/>
              <a:defRPr/>
            </a:pPr>
            <a:r>
              <a:rPr lang="en-AU" sz="2800" dirty="0">
                <a:solidFill>
                  <a:prstClr val="black"/>
                </a:solidFill>
                <a:latin typeface="Arial" panose="020B0604020202020204" pitchFamily="34" charset="0"/>
                <a:cs typeface="Arial" panose="020B0604020202020204" pitchFamily="34" charset="0"/>
              </a:rPr>
              <a:t>ML vs clinical metrics – Model selection typically relies on ML metrics (AUC) that don’t reflect clinical performance requirements (sensitivity and specificity).</a:t>
            </a:r>
          </a:p>
          <a:p>
            <a:pPr marL="285750" indent="-285750" defTabSz="914400">
              <a:buFont typeface="Arial" panose="020B0604020202020204" pitchFamily="34" charset="0"/>
              <a:buChar char="•"/>
              <a:defRPr/>
            </a:pPr>
            <a:r>
              <a:rPr lang="en-AU" sz="2800" dirty="0">
                <a:solidFill>
                  <a:prstClr val="black"/>
                </a:solidFill>
                <a:latin typeface="Arial" panose="020B0604020202020204" pitchFamily="34" charset="0"/>
                <a:cs typeface="Arial" panose="020B0604020202020204" pitchFamily="34" charset="0"/>
              </a:rPr>
              <a:t>Platform size – Diagnostic platforms have strict panel limits (e.g., 3–4 markers), restricting feasible biomarker sets.</a:t>
            </a:r>
          </a:p>
          <a:p>
            <a:pPr marL="285750" indent="-285750">
              <a:buFont typeface="Arial" panose="020B0604020202020204" pitchFamily="34" charset="0"/>
              <a:buChar char="•"/>
              <a:defRPr/>
            </a:pPr>
            <a:r>
              <a:rPr lang="en-AU" sz="2800" dirty="0">
                <a:solidFill>
                  <a:prstClr val="black"/>
                </a:solidFill>
                <a:latin typeface="Arial" panose="020B0604020202020204" pitchFamily="34" charset="0"/>
                <a:cs typeface="Arial" panose="020B0604020202020204" pitchFamily="34" charset="0"/>
              </a:rPr>
              <a:t>Patentability – Biomarker panels must be resilient to substitution to maintain commercial and IP protection.</a:t>
            </a:r>
            <a:endParaRPr lang="en-NZ" sz="2800" dirty="0">
              <a:solidFill>
                <a:prstClr val="black"/>
              </a:solidFill>
              <a:latin typeface="Arial" panose="020B0604020202020204" pitchFamily="34" charset="0"/>
              <a:cs typeface="Arial" panose="020B0604020202020204" pitchFamily="34" charset="0"/>
            </a:endParaRPr>
          </a:p>
          <a:p>
            <a:pPr>
              <a:defRPr/>
            </a:pPr>
            <a:endParaRPr lang="en-NZ" sz="1000" b="1" dirty="0">
              <a:solidFill>
                <a:srgbClr val="FB441B"/>
              </a:solidFill>
              <a:latin typeface="Arial" panose="020B0604020202020204" pitchFamily="34" charset="0"/>
              <a:cs typeface="Arial" panose="020B0604020202020204" pitchFamily="34" charset="0"/>
            </a:endParaRPr>
          </a:p>
          <a:p>
            <a:pPr>
              <a:defRPr/>
            </a:pPr>
            <a:r>
              <a:rPr lang="en-NZ" sz="2800" b="1" dirty="0">
                <a:solidFill>
                  <a:srgbClr val="FB441B"/>
                </a:solidFill>
                <a:latin typeface="Arial" panose="020B0604020202020204" pitchFamily="34" charset="0"/>
                <a:cs typeface="Arial" panose="020B0604020202020204" pitchFamily="34" charset="0"/>
              </a:rPr>
              <a:t>A multi-objective optimisation (MOO) framework is needed to balance predictive performance with these real-world requirements.</a:t>
            </a:r>
          </a:p>
          <a:p>
            <a:pPr>
              <a:defRPr/>
            </a:pPr>
            <a:endParaRPr lang="en-NZ" sz="2800" dirty="0">
              <a:solidFill>
                <a:prstClr val="black"/>
              </a:solidFill>
              <a:latin typeface="Arial" panose="020B0604020202020204" pitchFamily="34" charset="0"/>
              <a:cs typeface="Arial" panose="020B0604020202020204" pitchFamily="34" charset="0"/>
            </a:endParaRPr>
          </a:p>
          <a:p>
            <a:pPr>
              <a:defRPr/>
            </a:pPr>
            <a:endParaRPr lang="en-NZ" sz="2800" dirty="0">
              <a:solidFill>
                <a:prstClr val="black"/>
              </a:solidFill>
              <a:latin typeface="Arial" panose="020B0604020202020204" pitchFamily="34" charset="0"/>
              <a:cs typeface="Arial" panose="020B0604020202020204" pitchFamily="34" charset="0"/>
            </a:endParaRPr>
          </a:p>
        </p:txBody>
      </p:sp>
      <p:sp>
        <p:nvSpPr>
          <p:cNvPr id="131" name="Rectangle 130">
            <a:extLst>
              <a:ext uri="{FF2B5EF4-FFF2-40B4-BE49-F238E27FC236}">
                <a16:creationId xmlns:a16="http://schemas.microsoft.com/office/drawing/2014/main" id="{9B864149-C661-B66C-F03E-B7EB99BFF623}"/>
              </a:ext>
            </a:extLst>
          </p:cNvPr>
          <p:cNvSpPr/>
          <p:nvPr/>
        </p:nvSpPr>
        <p:spPr>
          <a:xfrm>
            <a:off x="17679712" y="5890100"/>
            <a:ext cx="12442023" cy="1260000"/>
          </a:xfrm>
          <a:prstGeom prst="rect">
            <a:avLst/>
          </a:prstGeom>
          <a:solidFill>
            <a:srgbClr val="FA441B"/>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4400" b="1" dirty="0">
                <a:solidFill>
                  <a:schemeClr val="tx1"/>
                </a:solidFill>
                <a:latin typeface="Arial" panose="020B0604020202020204" pitchFamily="34" charset="0"/>
                <a:cs typeface="Arial" panose="020B0604020202020204" pitchFamily="34" charset="0"/>
              </a:rPr>
              <a:t>Challenges</a:t>
            </a:r>
            <a:endParaRPr lang="en-AU" sz="4400" b="1" dirty="0">
              <a:solidFill>
                <a:schemeClr val="tx1"/>
              </a:solidFill>
              <a:latin typeface="Arial" panose="020B0604020202020204" pitchFamily="34" charset="0"/>
              <a:cs typeface="Arial" panose="020B0604020202020204" pitchFamily="34" charset="0"/>
            </a:endParaRPr>
          </a:p>
        </p:txBody>
      </p:sp>
      <p:sp>
        <p:nvSpPr>
          <p:cNvPr id="132" name="Rectangle 131">
            <a:extLst>
              <a:ext uri="{FF2B5EF4-FFF2-40B4-BE49-F238E27FC236}">
                <a16:creationId xmlns:a16="http://schemas.microsoft.com/office/drawing/2014/main" id="{657A26FD-87C7-9ED9-F4B6-753DB3BCE25C}"/>
              </a:ext>
            </a:extLst>
          </p:cNvPr>
          <p:cNvSpPr/>
          <p:nvPr/>
        </p:nvSpPr>
        <p:spPr>
          <a:xfrm>
            <a:off x="215742" y="12788900"/>
            <a:ext cx="17219744" cy="1260000"/>
          </a:xfrm>
          <a:prstGeom prst="rect">
            <a:avLst/>
          </a:prstGeom>
          <a:solidFill>
            <a:srgbClr val="FA441B"/>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latin typeface="Arial" panose="020B0604020202020204" pitchFamily="34" charset="0"/>
                <a:cs typeface="Arial" panose="020B0604020202020204" pitchFamily="34" charset="0"/>
              </a:rPr>
              <a:t>Multi-objective optimisation (MOO) framework</a:t>
            </a:r>
          </a:p>
        </p:txBody>
      </p:sp>
      <p:sp>
        <p:nvSpPr>
          <p:cNvPr id="140" name="Rectangle 139">
            <a:extLst>
              <a:ext uri="{FF2B5EF4-FFF2-40B4-BE49-F238E27FC236}">
                <a16:creationId xmlns:a16="http://schemas.microsoft.com/office/drawing/2014/main" id="{5BAD5734-C70E-037C-EDB0-7F39FF4F23F4}"/>
              </a:ext>
            </a:extLst>
          </p:cNvPr>
          <p:cNvSpPr/>
          <p:nvPr/>
        </p:nvSpPr>
        <p:spPr>
          <a:xfrm>
            <a:off x="17679173" y="27073700"/>
            <a:ext cx="12178962" cy="1260000"/>
          </a:xfrm>
          <a:prstGeom prst="rect">
            <a:avLst/>
          </a:prstGeom>
          <a:solidFill>
            <a:srgbClr val="FA441B"/>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4400" b="1" dirty="0">
                <a:solidFill>
                  <a:schemeClr val="tx1"/>
                </a:solidFill>
                <a:latin typeface="Arial" panose="020B0604020202020204" pitchFamily="34" charset="0"/>
                <a:cs typeface="Arial" panose="020B0604020202020204" pitchFamily="34" charset="0"/>
              </a:rPr>
              <a:t>Biology</a:t>
            </a:r>
            <a:endParaRPr lang="en-AU" sz="4400" b="1" dirty="0">
              <a:solidFill>
                <a:schemeClr val="tx1"/>
              </a:solidFill>
              <a:latin typeface="Arial" panose="020B0604020202020204" pitchFamily="34" charset="0"/>
              <a:cs typeface="Arial" panose="020B0604020202020204" pitchFamily="34" charset="0"/>
            </a:endParaRPr>
          </a:p>
        </p:txBody>
      </p:sp>
      <p:sp>
        <p:nvSpPr>
          <p:cNvPr id="156" name="Rounded Rectangle 155">
            <a:extLst>
              <a:ext uri="{FF2B5EF4-FFF2-40B4-BE49-F238E27FC236}">
                <a16:creationId xmlns:a16="http://schemas.microsoft.com/office/drawing/2014/main" id="{8F4C50FA-8D02-8F34-F708-A846E36BFAA0}"/>
              </a:ext>
            </a:extLst>
          </p:cNvPr>
          <p:cNvSpPr/>
          <p:nvPr/>
        </p:nvSpPr>
        <p:spPr>
          <a:xfrm>
            <a:off x="127000" y="40411903"/>
            <a:ext cx="12341205" cy="2171014"/>
          </a:xfrm>
          <a:prstGeom prst="roundRect">
            <a:avLst>
              <a:gd name="adj" fmla="val 0"/>
            </a:avLst>
          </a:prstGeom>
          <a:solidFill>
            <a:srgbClr val="FCED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58" name="TextBox 157">
            <a:extLst>
              <a:ext uri="{FF2B5EF4-FFF2-40B4-BE49-F238E27FC236}">
                <a16:creationId xmlns:a16="http://schemas.microsoft.com/office/drawing/2014/main" id="{71186634-57FD-82B8-D172-B4ADB1A15AD7}"/>
              </a:ext>
            </a:extLst>
          </p:cNvPr>
          <p:cNvSpPr txBox="1"/>
          <p:nvPr/>
        </p:nvSpPr>
        <p:spPr>
          <a:xfrm>
            <a:off x="515149" y="40791848"/>
            <a:ext cx="1966937" cy="1384995"/>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Scan for more from </a:t>
            </a:r>
            <a:r>
              <a:rPr lang="en-US" sz="2800" b="1" dirty="0">
                <a:latin typeface="Arial" panose="020B0604020202020204" pitchFamily="34" charset="0"/>
                <a:cs typeface="Arial" panose="020B0604020202020204" pitchFamily="34" charset="0"/>
              </a:rPr>
              <a:t>SCDNEY</a:t>
            </a:r>
          </a:p>
        </p:txBody>
      </p:sp>
      <p:sp>
        <p:nvSpPr>
          <p:cNvPr id="165" name="TextBox 164">
            <a:extLst>
              <a:ext uri="{FF2B5EF4-FFF2-40B4-BE49-F238E27FC236}">
                <a16:creationId xmlns:a16="http://schemas.microsoft.com/office/drawing/2014/main" id="{63305DA5-8C73-3E3E-FEAC-5BCB7FE4A49C}"/>
              </a:ext>
            </a:extLst>
          </p:cNvPr>
          <p:cNvSpPr txBox="1"/>
          <p:nvPr/>
        </p:nvSpPr>
        <p:spPr>
          <a:xfrm>
            <a:off x="5246214" y="40497377"/>
            <a:ext cx="7221991" cy="2031325"/>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References: </a:t>
            </a:r>
          </a:p>
          <a:p>
            <a:r>
              <a:rPr lang="en-AU" dirty="0" err="1">
                <a:latin typeface="Arial" panose="020B0604020202020204" pitchFamily="34" charset="0"/>
                <a:cs typeface="Arial" panose="020B0604020202020204" pitchFamily="34" charset="0"/>
              </a:rPr>
              <a:t>Damhuis</a:t>
            </a:r>
            <a:r>
              <a:rPr lang="en-AU" dirty="0">
                <a:latin typeface="Arial" panose="020B0604020202020204" pitchFamily="34" charset="0"/>
                <a:cs typeface="Arial" panose="020B0604020202020204" pitchFamily="34" charset="0"/>
              </a:rPr>
              <a:t>, SE. et al. Abnormal </a:t>
            </a:r>
            <a:r>
              <a:rPr lang="en-AU" dirty="0" err="1">
                <a:latin typeface="Arial" panose="020B0604020202020204" pitchFamily="34" charset="0"/>
                <a:cs typeface="Arial" panose="020B0604020202020204" pitchFamily="34" charset="0"/>
              </a:rPr>
              <a:t>fetal</a:t>
            </a:r>
            <a:r>
              <a:rPr lang="en-AU" dirty="0">
                <a:latin typeface="Arial" panose="020B0604020202020204" pitchFamily="34" charset="0"/>
                <a:cs typeface="Arial" panose="020B0604020202020204" pitchFamily="34" charset="0"/>
              </a:rPr>
              <a:t> growth: small for gestational age, </a:t>
            </a:r>
            <a:r>
              <a:rPr lang="en-AU" dirty="0" err="1">
                <a:latin typeface="Arial" panose="020B0604020202020204" pitchFamily="34" charset="0"/>
                <a:cs typeface="Arial" panose="020B0604020202020204" pitchFamily="34" charset="0"/>
              </a:rPr>
              <a:t>fetal</a:t>
            </a:r>
            <a:r>
              <a:rPr lang="en-AU" dirty="0">
                <a:latin typeface="Arial" panose="020B0604020202020204" pitchFamily="34" charset="0"/>
                <a:cs typeface="Arial" panose="020B0604020202020204" pitchFamily="34" charset="0"/>
              </a:rPr>
              <a:t> growth restriction, large for gestational age: definitions and epidemiology. </a:t>
            </a:r>
            <a:r>
              <a:rPr lang="en-AU" i="1" dirty="0" err="1">
                <a:latin typeface="Arial" panose="020B0604020202020204" pitchFamily="34" charset="0"/>
                <a:cs typeface="Arial" panose="020B0604020202020204" pitchFamily="34" charset="0"/>
              </a:rPr>
              <a:t>Obstet</a:t>
            </a:r>
            <a:r>
              <a:rPr lang="en-AU" i="1" dirty="0">
                <a:latin typeface="Arial" panose="020B0604020202020204" pitchFamily="34" charset="0"/>
                <a:cs typeface="Arial" panose="020B0604020202020204" pitchFamily="34" charset="0"/>
              </a:rPr>
              <a:t> </a:t>
            </a:r>
            <a:r>
              <a:rPr lang="en-AU" i="1" dirty="0" err="1">
                <a:latin typeface="Arial" panose="020B0604020202020204" pitchFamily="34" charset="0"/>
                <a:cs typeface="Arial" panose="020B0604020202020204" pitchFamily="34" charset="0"/>
              </a:rPr>
              <a:t>Gynecol</a:t>
            </a:r>
            <a:r>
              <a:rPr lang="en-AU" i="1" dirty="0">
                <a:latin typeface="Arial" panose="020B0604020202020204" pitchFamily="34" charset="0"/>
                <a:cs typeface="Arial" panose="020B0604020202020204" pitchFamily="34" charset="0"/>
              </a:rPr>
              <a:t> Clin North Am. </a:t>
            </a:r>
            <a:r>
              <a:rPr lang="en-AU" dirty="0">
                <a:latin typeface="Arial" panose="020B0604020202020204" pitchFamily="34" charset="0"/>
                <a:cs typeface="Arial" panose="020B0604020202020204" pitchFamily="34" charset="0"/>
              </a:rPr>
              <a:t>2021;48(2):267–279.</a:t>
            </a:r>
          </a:p>
          <a:p>
            <a:r>
              <a:rPr lang="en-AU" dirty="0">
                <a:latin typeface="Arial" panose="020B0604020202020204" pitchFamily="34" charset="0"/>
                <a:cs typeface="Arial" panose="020B0604020202020204" pitchFamily="34" charset="0"/>
              </a:rPr>
              <a:t>Wang, Kevin YX, et al. "Cross-Platform Omics Prediction procedure: a statistical machine learning framework for wider implementation of precision medicine." </a:t>
            </a:r>
            <a:r>
              <a:rPr lang="en-AU" i="1" dirty="0" err="1">
                <a:latin typeface="Arial" panose="020B0604020202020204" pitchFamily="34" charset="0"/>
                <a:cs typeface="Arial" panose="020B0604020202020204" pitchFamily="34" charset="0"/>
              </a:rPr>
              <a:t>npj</a:t>
            </a:r>
            <a:r>
              <a:rPr lang="en-AU" i="1" dirty="0">
                <a:latin typeface="Arial" panose="020B0604020202020204" pitchFamily="34" charset="0"/>
                <a:cs typeface="Arial" panose="020B0604020202020204" pitchFamily="34" charset="0"/>
              </a:rPr>
              <a:t> Digital Medicine</a:t>
            </a:r>
            <a:r>
              <a:rPr lang="en-AU" dirty="0">
                <a:latin typeface="Arial" panose="020B0604020202020204" pitchFamily="34" charset="0"/>
                <a:cs typeface="Arial" panose="020B0604020202020204" pitchFamily="34" charset="0"/>
              </a:rPr>
              <a:t> 5.1 (2022): 85.</a:t>
            </a:r>
          </a:p>
        </p:txBody>
      </p:sp>
      <p:pic>
        <p:nvPicPr>
          <p:cNvPr id="25" name="Image 0" descr="preencoded.png">
            <a:extLst>
              <a:ext uri="{FF2B5EF4-FFF2-40B4-BE49-F238E27FC236}">
                <a16:creationId xmlns:a16="http://schemas.microsoft.com/office/drawing/2014/main" id="{EA2E8DFB-B3A8-9626-013E-5290D685D42C}"/>
              </a:ext>
            </a:extLst>
          </p:cNvPr>
          <p:cNvPicPr>
            <a:picLocks noChangeAspect="1"/>
          </p:cNvPicPr>
          <p:nvPr>
            <p:custDataLst>
              <p:tags r:id="rId1"/>
            </p:custDataLst>
          </p:nvPr>
        </p:nvPicPr>
        <p:blipFill>
          <a:blip r:embed="rId9"/>
          <a:stretch>
            <a:fillRect/>
          </a:stretch>
        </p:blipFill>
        <p:spPr>
          <a:xfrm>
            <a:off x="6883119" y="8221826"/>
            <a:ext cx="1783757" cy="4021933"/>
          </a:xfrm>
          <a:prstGeom prst="rect">
            <a:avLst/>
          </a:prstGeom>
        </p:spPr>
      </p:pic>
      <p:pic>
        <p:nvPicPr>
          <p:cNvPr id="28" name="Image 1" descr="preencoded.png">
            <a:extLst>
              <a:ext uri="{FF2B5EF4-FFF2-40B4-BE49-F238E27FC236}">
                <a16:creationId xmlns:a16="http://schemas.microsoft.com/office/drawing/2014/main" id="{C0C27C5B-9E70-EEE9-A266-D432FD9008AF}"/>
              </a:ext>
            </a:extLst>
          </p:cNvPr>
          <p:cNvPicPr>
            <a:picLocks noChangeAspect="1"/>
          </p:cNvPicPr>
          <p:nvPr>
            <p:custDataLst>
              <p:tags r:id="rId2"/>
            </p:custDataLst>
          </p:nvPr>
        </p:nvPicPr>
        <p:blipFill>
          <a:blip r:embed="rId10"/>
          <a:stretch>
            <a:fillRect/>
          </a:stretch>
        </p:blipFill>
        <p:spPr>
          <a:xfrm>
            <a:off x="8003251" y="8018598"/>
            <a:ext cx="5153953" cy="2877830"/>
          </a:xfrm>
          <a:prstGeom prst="rect">
            <a:avLst/>
          </a:prstGeom>
        </p:spPr>
      </p:pic>
      <p:pic>
        <p:nvPicPr>
          <p:cNvPr id="88" name="Image 3" descr="preencoded.png">
            <a:extLst>
              <a:ext uri="{FF2B5EF4-FFF2-40B4-BE49-F238E27FC236}">
                <a16:creationId xmlns:a16="http://schemas.microsoft.com/office/drawing/2014/main" id="{F6BE0D39-6153-CE65-0479-C9999B6BBC8F}"/>
              </a:ext>
            </a:extLst>
          </p:cNvPr>
          <p:cNvPicPr>
            <a:picLocks noChangeAspect="1"/>
          </p:cNvPicPr>
          <p:nvPr>
            <p:custDataLst>
              <p:tags r:id="rId3"/>
            </p:custDataLst>
          </p:nvPr>
        </p:nvPicPr>
        <p:blipFill>
          <a:blip r:embed="rId11"/>
          <a:stretch>
            <a:fillRect/>
          </a:stretch>
        </p:blipFill>
        <p:spPr>
          <a:xfrm>
            <a:off x="11553744" y="10414111"/>
            <a:ext cx="6247096" cy="1749346"/>
          </a:xfrm>
          <a:prstGeom prst="rect">
            <a:avLst/>
          </a:prstGeom>
        </p:spPr>
      </p:pic>
      <p:pic>
        <p:nvPicPr>
          <p:cNvPr id="89" name="Image 4" descr="preencoded.png">
            <a:extLst>
              <a:ext uri="{FF2B5EF4-FFF2-40B4-BE49-F238E27FC236}">
                <a16:creationId xmlns:a16="http://schemas.microsoft.com/office/drawing/2014/main" id="{4B73F7ED-714F-5780-90E3-33BEAC4C495E}"/>
              </a:ext>
            </a:extLst>
          </p:cNvPr>
          <p:cNvPicPr>
            <a:picLocks noChangeAspect="1"/>
          </p:cNvPicPr>
          <p:nvPr>
            <p:custDataLst>
              <p:tags r:id="rId4"/>
            </p:custDataLst>
          </p:nvPr>
        </p:nvPicPr>
        <p:blipFill>
          <a:blip r:embed="rId12"/>
          <a:stretch>
            <a:fillRect/>
          </a:stretch>
        </p:blipFill>
        <p:spPr>
          <a:xfrm>
            <a:off x="12805449" y="9128272"/>
            <a:ext cx="883986" cy="238192"/>
          </a:xfrm>
          <a:prstGeom prst="rect">
            <a:avLst/>
          </a:prstGeom>
        </p:spPr>
      </p:pic>
      <p:pic>
        <p:nvPicPr>
          <p:cNvPr id="94" name="Image 5" descr="preencoded.png">
            <a:extLst>
              <a:ext uri="{FF2B5EF4-FFF2-40B4-BE49-F238E27FC236}">
                <a16:creationId xmlns:a16="http://schemas.microsoft.com/office/drawing/2014/main" id="{04EFE107-29D1-13FB-ED5B-68881774ABCD}"/>
              </a:ext>
            </a:extLst>
          </p:cNvPr>
          <p:cNvPicPr>
            <a:picLocks noChangeAspect="1"/>
          </p:cNvPicPr>
          <p:nvPr>
            <p:custDataLst>
              <p:tags r:id="rId5"/>
            </p:custDataLst>
          </p:nvPr>
        </p:nvPicPr>
        <p:blipFill>
          <a:blip r:embed="rId13"/>
          <a:stretch>
            <a:fillRect/>
          </a:stretch>
        </p:blipFill>
        <p:spPr>
          <a:xfrm>
            <a:off x="12958202" y="9839180"/>
            <a:ext cx="3993722" cy="429527"/>
          </a:xfrm>
          <a:prstGeom prst="rect">
            <a:avLst/>
          </a:prstGeom>
        </p:spPr>
      </p:pic>
      <p:pic>
        <p:nvPicPr>
          <p:cNvPr id="1025" name="Picture 1">
            <a:extLst>
              <a:ext uri="{FF2B5EF4-FFF2-40B4-BE49-F238E27FC236}">
                <a16:creationId xmlns:a16="http://schemas.microsoft.com/office/drawing/2014/main" id="{B5CB878E-612A-1985-FB8E-9E38B02CA91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3200" y="20158411"/>
            <a:ext cx="8143560" cy="8175289"/>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118">
            <a:extLst>
              <a:ext uri="{FF2B5EF4-FFF2-40B4-BE49-F238E27FC236}">
                <a16:creationId xmlns:a16="http://schemas.microsoft.com/office/drawing/2014/main" id="{12860862-432F-A615-E088-E9E4FB7744F7}"/>
              </a:ext>
            </a:extLst>
          </p:cNvPr>
          <p:cNvPicPr>
            <a:picLocks noChangeAspect="1"/>
          </p:cNvPicPr>
          <p:nvPr/>
        </p:nvPicPr>
        <p:blipFill>
          <a:blip r:embed="rId15"/>
          <a:stretch>
            <a:fillRect/>
          </a:stretch>
        </p:blipFill>
        <p:spPr>
          <a:xfrm>
            <a:off x="2664245" y="40497376"/>
            <a:ext cx="2072341" cy="2031326"/>
          </a:xfrm>
          <a:prstGeom prst="rect">
            <a:avLst/>
          </a:prstGeom>
        </p:spPr>
      </p:pic>
      <p:sp>
        <p:nvSpPr>
          <p:cNvPr id="126" name="TextBox 125">
            <a:extLst>
              <a:ext uri="{FF2B5EF4-FFF2-40B4-BE49-F238E27FC236}">
                <a16:creationId xmlns:a16="http://schemas.microsoft.com/office/drawing/2014/main" id="{5505B331-B034-AC10-6728-1F22397337B4}"/>
              </a:ext>
            </a:extLst>
          </p:cNvPr>
          <p:cNvSpPr txBox="1"/>
          <p:nvPr/>
        </p:nvSpPr>
        <p:spPr>
          <a:xfrm>
            <a:off x="268971" y="15379700"/>
            <a:ext cx="8322831" cy="4708981"/>
          </a:xfrm>
          <a:prstGeom prst="rect">
            <a:avLst/>
          </a:prstGeom>
          <a:noFill/>
        </p:spPr>
        <p:txBody>
          <a:bodyPr wrap="square">
            <a:spAutoFit/>
          </a:bodyPr>
          <a:lstStyle/>
          <a:p>
            <a:r>
              <a:rPr lang="en-AU" sz="2800" b="1" dirty="0">
                <a:latin typeface="Arial" panose="020B0604020202020204" pitchFamily="34" charset="0"/>
                <a:cs typeface="Arial" panose="020B0604020202020204" pitchFamily="34" charset="0"/>
              </a:rPr>
              <a:t>1. Framework for assessing transferability</a:t>
            </a:r>
          </a:p>
          <a:p>
            <a:endParaRPr lang="en-AU" sz="1000" dirty="0">
              <a:latin typeface="Arial" panose="020B0604020202020204" pitchFamily="34" charset="0"/>
              <a:cs typeface="Arial" panose="020B0604020202020204" pitchFamily="34" charset="0"/>
            </a:endParaRPr>
          </a:p>
          <a:p>
            <a:r>
              <a:rPr lang="en-AU" sz="2800" dirty="0">
                <a:latin typeface="Arial" panose="020B0604020202020204" pitchFamily="34" charset="0"/>
                <a:cs typeface="Arial" panose="020B0604020202020204" pitchFamily="34" charset="0"/>
              </a:rPr>
              <a:t>To evaluate transferability, we implemented a multi-cohort workflow combining model development (Cohort 1 + Cohort 2), repeated cross-validation, internal hold-out testing and external validation in the Cambridge cohort. </a:t>
            </a:r>
          </a:p>
          <a:p>
            <a:endParaRPr lang="en-AU" sz="1000" dirty="0">
              <a:latin typeface="Arial" panose="020B0604020202020204" pitchFamily="34" charset="0"/>
              <a:cs typeface="Arial" panose="020B0604020202020204" pitchFamily="34" charset="0"/>
            </a:endParaRPr>
          </a:p>
          <a:p>
            <a:r>
              <a:rPr lang="en-AU" sz="2800" dirty="0">
                <a:latin typeface="Arial" panose="020B0604020202020204" pitchFamily="34" charset="0"/>
                <a:cs typeface="Arial" panose="020B0604020202020204" pitchFamily="34" charset="0"/>
              </a:rPr>
              <a:t>This framework allows us to quantify </a:t>
            </a:r>
            <a:r>
              <a:rPr lang="en-AU" sz="2800" b="1" i="1" dirty="0">
                <a:latin typeface="Arial" panose="020B0604020202020204" pitchFamily="34" charset="0"/>
                <a:cs typeface="Arial" panose="020B0604020202020204" pitchFamily="34" charset="0"/>
              </a:rPr>
              <a:t>internal</a:t>
            </a:r>
            <a:r>
              <a:rPr lang="en-AU" sz="2800" i="1" dirty="0">
                <a:latin typeface="Arial" panose="020B0604020202020204" pitchFamily="34" charset="0"/>
                <a:cs typeface="Arial" panose="020B0604020202020204" pitchFamily="34" charset="0"/>
              </a:rPr>
              <a:t> </a:t>
            </a:r>
            <a:r>
              <a:rPr lang="en-AU" sz="2800" b="1" i="1" dirty="0">
                <a:latin typeface="Arial" panose="020B0604020202020204" pitchFamily="34" charset="0"/>
                <a:cs typeface="Arial" panose="020B0604020202020204" pitchFamily="34" charset="0"/>
              </a:rPr>
              <a:t>model stability</a:t>
            </a:r>
            <a:r>
              <a:rPr lang="en-AU" sz="2800" b="1" dirty="0">
                <a:latin typeface="Arial" panose="020B0604020202020204" pitchFamily="34" charset="0"/>
                <a:cs typeface="Arial" panose="020B0604020202020204" pitchFamily="34" charset="0"/>
              </a:rPr>
              <a:t> </a:t>
            </a:r>
            <a:r>
              <a:rPr lang="en-AU" sz="2800" dirty="0">
                <a:latin typeface="Arial" panose="020B0604020202020204" pitchFamily="34" charset="0"/>
                <a:cs typeface="Arial" panose="020B0604020202020204" pitchFamily="34" charset="0"/>
              </a:rPr>
              <a:t>under resampling and assess </a:t>
            </a:r>
            <a:r>
              <a:rPr lang="en-AU" sz="2800" b="1" i="1" dirty="0">
                <a:latin typeface="Arial" panose="020B0604020202020204" pitchFamily="34" charset="0"/>
                <a:cs typeface="Arial" panose="020B0604020202020204" pitchFamily="34" charset="0"/>
              </a:rPr>
              <a:t>external validity</a:t>
            </a:r>
            <a:r>
              <a:rPr lang="en-AU" sz="2800" b="1" dirty="0">
                <a:latin typeface="Arial" panose="020B0604020202020204" pitchFamily="34" charset="0"/>
                <a:cs typeface="Arial" panose="020B0604020202020204" pitchFamily="34" charset="0"/>
              </a:rPr>
              <a:t> </a:t>
            </a:r>
            <a:r>
              <a:rPr lang="en-AU" sz="2800" dirty="0">
                <a:latin typeface="Arial" panose="020B0604020202020204" pitchFamily="34" charset="0"/>
                <a:cs typeface="Arial" panose="020B0604020202020204" pitchFamily="34" charset="0"/>
              </a:rPr>
              <a:t>under a true distributional shift using an independent cohort.</a:t>
            </a:r>
          </a:p>
        </p:txBody>
      </p:sp>
      <p:sp>
        <p:nvSpPr>
          <p:cNvPr id="128" name="TextBox 127">
            <a:extLst>
              <a:ext uri="{FF2B5EF4-FFF2-40B4-BE49-F238E27FC236}">
                <a16:creationId xmlns:a16="http://schemas.microsoft.com/office/drawing/2014/main" id="{CA74E6F8-8F40-09CE-B8B2-22F936EBEA24}"/>
              </a:ext>
            </a:extLst>
          </p:cNvPr>
          <p:cNvSpPr txBox="1"/>
          <p:nvPr/>
        </p:nvSpPr>
        <p:spPr>
          <a:xfrm>
            <a:off x="8738967" y="24562693"/>
            <a:ext cx="8844239" cy="3847207"/>
          </a:xfrm>
          <a:prstGeom prst="rect">
            <a:avLst/>
          </a:prstGeom>
          <a:noFill/>
        </p:spPr>
        <p:txBody>
          <a:bodyPr wrap="square">
            <a:spAutoFit/>
          </a:bodyPr>
          <a:lstStyle/>
          <a:p>
            <a:r>
              <a:rPr lang="en-AU" sz="2800" b="1" dirty="0">
                <a:latin typeface="Arial" panose="020B0604020202020204" pitchFamily="34" charset="0"/>
                <a:cs typeface="Arial" panose="020B0604020202020204" pitchFamily="34" charset="0"/>
              </a:rPr>
              <a:t>2. Transferable biomarkers</a:t>
            </a:r>
          </a:p>
          <a:p>
            <a:endParaRPr lang="en-AU" sz="1000" dirty="0">
              <a:latin typeface="Arial" panose="020B0604020202020204" pitchFamily="34" charset="0"/>
              <a:cs typeface="Arial" panose="020B0604020202020204" pitchFamily="34" charset="0"/>
            </a:endParaRPr>
          </a:p>
          <a:p>
            <a:r>
              <a:rPr lang="en-AU" sz="2800" dirty="0">
                <a:latin typeface="Arial" panose="020B0604020202020204" pitchFamily="34" charset="0"/>
                <a:cs typeface="Arial" panose="020B0604020202020204" pitchFamily="34" charset="0"/>
              </a:rPr>
              <a:t>LIMMA differential expression (DE) analyses in Cohort 1 and Cohort 2 show strong </a:t>
            </a:r>
            <a:r>
              <a:rPr lang="en-AU" sz="2800" b="1" i="1" dirty="0">
                <a:latin typeface="Arial" panose="020B0604020202020204" pitchFamily="34" charset="0"/>
                <a:cs typeface="Arial" panose="020B0604020202020204" pitchFamily="34" charset="0"/>
              </a:rPr>
              <a:t>concordance</a:t>
            </a:r>
            <a:r>
              <a:rPr lang="en-AU" sz="2800" dirty="0">
                <a:latin typeface="Arial" panose="020B0604020202020204" pitchFamily="34" charset="0"/>
                <a:cs typeface="Arial" panose="020B0604020202020204" pitchFamily="34" charset="0"/>
              </a:rPr>
              <a:t> for top DE proteins. </a:t>
            </a:r>
          </a:p>
          <a:p>
            <a:endParaRPr lang="en-AU" sz="1000" dirty="0">
              <a:latin typeface="Arial" panose="020B0604020202020204" pitchFamily="34" charset="0"/>
              <a:cs typeface="Arial" panose="020B0604020202020204" pitchFamily="34" charset="0"/>
            </a:endParaRPr>
          </a:p>
          <a:p>
            <a:r>
              <a:rPr lang="en-AU" sz="2800" dirty="0">
                <a:latin typeface="Arial" panose="020B0604020202020204" pitchFamily="34" charset="0"/>
                <a:cs typeface="Arial" panose="020B0604020202020204" pitchFamily="34" charset="0"/>
              </a:rPr>
              <a:t>The preserved effect direction and magnitude demonstrate that the underlying biological signal is </a:t>
            </a:r>
            <a:r>
              <a:rPr lang="en-AU" sz="2800" b="1" i="1" dirty="0">
                <a:latin typeface="Arial" panose="020B0604020202020204" pitchFamily="34" charset="0"/>
                <a:cs typeface="Arial" panose="020B0604020202020204" pitchFamily="34" charset="0"/>
              </a:rPr>
              <a:t>transferable</a:t>
            </a:r>
            <a:r>
              <a:rPr lang="en-AU" sz="2800" dirty="0">
                <a:latin typeface="Arial" panose="020B0604020202020204" pitchFamily="34" charset="0"/>
                <a:cs typeface="Arial" panose="020B0604020202020204" pitchFamily="34" charset="0"/>
              </a:rPr>
              <a:t> </a:t>
            </a:r>
            <a:r>
              <a:rPr lang="en-AU" sz="2800" b="1" dirty="0">
                <a:latin typeface="Arial" panose="020B0604020202020204" pitchFamily="34" charset="0"/>
                <a:cs typeface="Arial" panose="020B0604020202020204" pitchFamily="34" charset="0"/>
              </a:rPr>
              <a:t>across cohorts</a:t>
            </a:r>
            <a:r>
              <a:rPr lang="en-AU" sz="2800" dirty="0">
                <a:latin typeface="Arial" panose="020B0604020202020204" pitchFamily="34" charset="0"/>
                <a:cs typeface="Arial" panose="020B0604020202020204" pitchFamily="34" charset="0"/>
              </a:rPr>
              <a:t>, providing a stable foundation for model building.</a:t>
            </a:r>
          </a:p>
        </p:txBody>
      </p:sp>
      <p:sp>
        <p:nvSpPr>
          <p:cNvPr id="1128" name="Rectangle 1127">
            <a:extLst>
              <a:ext uri="{FF2B5EF4-FFF2-40B4-BE49-F238E27FC236}">
                <a16:creationId xmlns:a16="http://schemas.microsoft.com/office/drawing/2014/main" id="{E581E39C-0FC2-ABCF-F6E0-E997063526C1}"/>
              </a:ext>
            </a:extLst>
          </p:cNvPr>
          <p:cNvSpPr/>
          <p:nvPr/>
        </p:nvSpPr>
        <p:spPr>
          <a:xfrm>
            <a:off x="17679173" y="12788900"/>
            <a:ext cx="12381885" cy="1260000"/>
          </a:xfrm>
          <a:prstGeom prst="rect">
            <a:avLst/>
          </a:prstGeom>
          <a:solidFill>
            <a:srgbClr val="FA441B"/>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4400" b="1" dirty="0">
                <a:solidFill>
                  <a:schemeClr val="tx1"/>
                </a:solidFill>
                <a:latin typeface="Arial" panose="020B0604020202020204" pitchFamily="34" charset="0"/>
                <a:cs typeface="Arial" panose="020B0604020202020204" pitchFamily="34" charset="0"/>
              </a:rPr>
              <a:t>Performance</a:t>
            </a:r>
            <a:endParaRPr lang="en-AU" sz="4400" b="1" dirty="0">
              <a:solidFill>
                <a:schemeClr val="tx1"/>
              </a:solidFill>
              <a:latin typeface="Arial" panose="020B0604020202020204" pitchFamily="34" charset="0"/>
              <a:cs typeface="Arial" panose="020B0604020202020204" pitchFamily="34" charset="0"/>
            </a:endParaRPr>
          </a:p>
        </p:txBody>
      </p:sp>
      <p:sp>
        <p:nvSpPr>
          <p:cNvPr id="1130" name="TextBox 1129">
            <a:extLst>
              <a:ext uri="{FF2B5EF4-FFF2-40B4-BE49-F238E27FC236}">
                <a16:creationId xmlns:a16="http://schemas.microsoft.com/office/drawing/2014/main" id="{5659B295-A938-1E98-7CD7-1091DC2750B2}"/>
              </a:ext>
            </a:extLst>
          </p:cNvPr>
          <p:cNvSpPr txBox="1"/>
          <p:nvPr/>
        </p:nvSpPr>
        <p:spPr>
          <a:xfrm>
            <a:off x="17679173" y="14076382"/>
            <a:ext cx="11886475" cy="3970318"/>
          </a:xfrm>
          <a:prstGeom prst="rect">
            <a:avLst/>
          </a:prstGeom>
          <a:noFill/>
        </p:spPr>
        <p:txBody>
          <a:bodyPr wrap="square">
            <a:spAutoFit/>
          </a:bodyPr>
          <a:lstStyle/>
          <a:p>
            <a:r>
              <a:rPr lang="en-AU" sz="2800" dirty="0">
                <a:latin typeface="Arial" panose="020B0604020202020204" pitchFamily="34" charset="0"/>
                <a:cs typeface="Arial" panose="020B0604020202020204" pitchFamily="34" charset="0"/>
              </a:rPr>
              <a:t>External performance was assessed using the mean and standard deviation of sensitivity at 90% specificity, with colour indicating inclusion frequency. A subset of biomarkers, including </a:t>
            </a:r>
            <a:r>
              <a:rPr lang="en-AU" sz="2800" b="1" dirty="0">
                <a:latin typeface="Arial" panose="020B0604020202020204" pitchFamily="34" charset="0"/>
                <a:cs typeface="Arial" panose="020B0604020202020204" pitchFamily="34" charset="0"/>
              </a:rPr>
              <a:t>BMP-1</a:t>
            </a:r>
            <a:r>
              <a:rPr lang="en-AU" sz="2800" dirty="0">
                <a:latin typeface="Arial" panose="020B0604020202020204" pitchFamily="34" charset="0"/>
                <a:cs typeface="Arial" panose="020B0604020202020204" pitchFamily="34" charset="0"/>
              </a:rPr>
              <a:t>, </a:t>
            </a:r>
            <a:r>
              <a:rPr lang="en-AU" sz="2800" b="1" dirty="0">
                <a:latin typeface="Arial" panose="020B0604020202020204" pitchFamily="34" charset="0"/>
                <a:cs typeface="Arial" panose="020B0604020202020204" pitchFamily="34" charset="0"/>
              </a:rPr>
              <a:t>NET4</a:t>
            </a:r>
            <a:r>
              <a:rPr lang="en-AU" sz="2800" dirty="0">
                <a:latin typeface="Arial" panose="020B0604020202020204" pitchFamily="34" charset="0"/>
                <a:cs typeface="Arial" panose="020B0604020202020204" pitchFamily="34" charset="0"/>
              </a:rPr>
              <a:t>, </a:t>
            </a:r>
            <a:r>
              <a:rPr lang="en-AU" sz="2800" b="1" dirty="0">
                <a:latin typeface="Arial" panose="020B0604020202020204" pitchFamily="34" charset="0"/>
                <a:cs typeface="Arial" panose="020B0604020202020204" pitchFamily="34" charset="0"/>
              </a:rPr>
              <a:t>WNT5B</a:t>
            </a:r>
            <a:r>
              <a:rPr lang="en-AU" sz="2800" dirty="0">
                <a:latin typeface="Arial" panose="020B0604020202020204" pitchFamily="34" charset="0"/>
                <a:cs typeface="Arial" panose="020B0604020202020204" pitchFamily="34" charset="0"/>
              </a:rPr>
              <a:t>, </a:t>
            </a:r>
            <a:r>
              <a:rPr lang="en-AU" sz="2800" b="1" dirty="0">
                <a:latin typeface="Arial" panose="020B0604020202020204" pitchFamily="34" charset="0"/>
                <a:cs typeface="Arial" panose="020B0604020202020204" pitchFamily="34" charset="0"/>
              </a:rPr>
              <a:t>IL-22BP</a:t>
            </a:r>
            <a:r>
              <a:rPr lang="en-AU" sz="2800" dirty="0">
                <a:latin typeface="Arial" panose="020B0604020202020204" pitchFamily="34" charset="0"/>
                <a:cs typeface="Arial" panose="020B0604020202020204" pitchFamily="34" charset="0"/>
              </a:rPr>
              <a:t>, and </a:t>
            </a:r>
            <a:r>
              <a:rPr lang="en-AU" sz="2800" b="1" dirty="0">
                <a:latin typeface="Arial" panose="020B0604020202020204" pitchFamily="34" charset="0"/>
                <a:cs typeface="Arial" panose="020B0604020202020204" pitchFamily="34" charset="0"/>
              </a:rPr>
              <a:t>THB</a:t>
            </a:r>
            <a:r>
              <a:rPr lang="en-AU" sz="2800" dirty="0">
                <a:latin typeface="Arial" panose="020B0604020202020204" pitchFamily="34" charset="0"/>
                <a:cs typeface="Arial" panose="020B0604020202020204" pitchFamily="34" charset="0"/>
              </a:rPr>
              <a:t>, showed both high mean sensitivity and moderate variability, indicating consistently strong performance across cohorts. In contrast, proteins such as </a:t>
            </a:r>
            <a:r>
              <a:rPr lang="en-AU" sz="2800" b="1" dirty="0">
                <a:latin typeface="Arial" panose="020B0604020202020204" pitchFamily="34" charset="0"/>
                <a:cs typeface="Arial" panose="020B0604020202020204" pitchFamily="34" charset="0"/>
              </a:rPr>
              <a:t>SPHM</a:t>
            </a:r>
            <a:r>
              <a:rPr lang="en-AU" sz="2800" dirty="0">
                <a:latin typeface="Arial" panose="020B0604020202020204" pitchFamily="34" charset="0"/>
                <a:cs typeface="Arial" panose="020B0604020202020204" pitchFamily="34" charset="0"/>
              </a:rPr>
              <a:t>, </a:t>
            </a:r>
            <a:r>
              <a:rPr lang="en-AU" sz="2800" b="1" dirty="0">
                <a:latin typeface="Arial" panose="020B0604020202020204" pitchFamily="34" charset="0"/>
                <a:cs typeface="Arial" panose="020B0604020202020204" pitchFamily="34" charset="0"/>
              </a:rPr>
              <a:t>ARL3C</a:t>
            </a:r>
            <a:r>
              <a:rPr lang="en-AU" sz="2800" dirty="0">
                <a:latin typeface="Arial" panose="020B0604020202020204" pitchFamily="34" charset="0"/>
                <a:cs typeface="Arial" panose="020B0604020202020204" pitchFamily="34" charset="0"/>
              </a:rPr>
              <a:t>, and </a:t>
            </a:r>
            <a:r>
              <a:rPr lang="en-AU" sz="2800" b="1" dirty="0">
                <a:latin typeface="Arial" panose="020B0604020202020204" pitchFamily="34" charset="0"/>
                <a:cs typeface="Arial" panose="020B0604020202020204" pitchFamily="34" charset="0"/>
              </a:rPr>
              <a:t>GOLM1</a:t>
            </a:r>
            <a:r>
              <a:rPr lang="en-AU" sz="2800" dirty="0">
                <a:latin typeface="Arial" panose="020B0604020202020204" pitchFamily="34" charset="0"/>
                <a:cs typeface="Arial" panose="020B0604020202020204" pitchFamily="34" charset="0"/>
              </a:rPr>
              <a:t> displayed lower or less stable sensitivity. Higher inclusion frequency generally aligned with better-performing markers, highlighting those repeatedly favoured by the optimisation process.</a:t>
            </a:r>
          </a:p>
        </p:txBody>
      </p:sp>
      <p:sp>
        <p:nvSpPr>
          <p:cNvPr id="33" name="Rectangle 32">
            <a:extLst>
              <a:ext uri="{FF2B5EF4-FFF2-40B4-BE49-F238E27FC236}">
                <a16:creationId xmlns:a16="http://schemas.microsoft.com/office/drawing/2014/main" id="{944677B3-B5CE-F6E0-EFA5-947E4A33C34E}"/>
              </a:ext>
            </a:extLst>
          </p:cNvPr>
          <p:cNvSpPr/>
          <p:nvPr/>
        </p:nvSpPr>
        <p:spPr>
          <a:xfrm flipV="1">
            <a:off x="-66938" y="-75103"/>
            <a:ext cx="30410675" cy="5757764"/>
          </a:xfrm>
          <a:prstGeom prst="rect">
            <a:avLst/>
          </a:prstGeom>
          <a:solidFill>
            <a:srgbClr val="FA4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215" dirty="0">
              <a:solidFill>
                <a:srgbClr val="D2204D"/>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B78E6834-4B9A-A61C-A41E-0634847B3835}"/>
              </a:ext>
            </a:extLst>
          </p:cNvPr>
          <p:cNvSpPr txBox="1"/>
          <p:nvPr/>
        </p:nvSpPr>
        <p:spPr>
          <a:xfrm>
            <a:off x="203200" y="28397756"/>
            <a:ext cx="17143592" cy="2831544"/>
          </a:xfrm>
          <a:prstGeom prst="rect">
            <a:avLst/>
          </a:prstGeom>
          <a:noFill/>
        </p:spPr>
        <p:txBody>
          <a:bodyPr wrap="square">
            <a:spAutoFit/>
          </a:bodyPr>
          <a:lstStyle/>
          <a:p>
            <a:r>
              <a:rPr lang="en-AU" sz="2800" b="1" dirty="0">
                <a:latin typeface="Arial" panose="020B0604020202020204" pitchFamily="34" charset="0"/>
                <a:cs typeface="Arial" panose="020B0604020202020204" pitchFamily="34" charset="0"/>
              </a:rPr>
              <a:t>3. Transferable models</a:t>
            </a:r>
          </a:p>
          <a:p>
            <a:endParaRPr lang="en-AU" sz="1000" dirty="0">
              <a:latin typeface="Arial" panose="020B0604020202020204" pitchFamily="34" charset="0"/>
              <a:cs typeface="Arial" panose="020B0604020202020204" pitchFamily="34" charset="0"/>
            </a:endParaRPr>
          </a:p>
          <a:p>
            <a:r>
              <a:rPr lang="en-AU" sz="2800" dirty="0">
                <a:latin typeface="Arial" panose="020B0604020202020204" pitchFamily="34" charset="0"/>
                <a:cs typeface="Arial" panose="020B0604020202020204" pitchFamily="34" charset="0"/>
              </a:rPr>
              <a:t>We used a </a:t>
            </a:r>
            <a:r>
              <a:rPr lang="en-AU" sz="2800" b="1" dirty="0">
                <a:latin typeface="Arial" panose="020B0604020202020204" pitchFamily="34" charset="0"/>
                <a:cs typeface="Arial" panose="020B0604020202020204" pitchFamily="34" charset="0"/>
              </a:rPr>
              <a:t>multi-objective optimisation</a:t>
            </a:r>
            <a:r>
              <a:rPr lang="en-AU" sz="2800" dirty="0">
                <a:latin typeface="Arial" panose="020B0604020202020204" pitchFamily="34" charset="0"/>
                <a:cs typeface="Arial" panose="020B0604020202020204" pitchFamily="34" charset="0"/>
              </a:rPr>
              <a:t> (</a:t>
            </a:r>
            <a:r>
              <a:rPr lang="en-AU" sz="2800" b="1" dirty="0">
                <a:latin typeface="Arial" panose="020B0604020202020204" pitchFamily="34" charset="0"/>
                <a:cs typeface="Arial" panose="020B0604020202020204" pitchFamily="34" charset="0"/>
              </a:rPr>
              <a:t>MOO</a:t>
            </a:r>
            <a:r>
              <a:rPr lang="en-AU" sz="2800" dirty="0">
                <a:latin typeface="Arial" panose="020B0604020202020204" pitchFamily="34" charset="0"/>
                <a:cs typeface="Arial" panose="020B0604020202020204" pitchFamily="34" charset="0"/>
              </a:rPr>
              <a:t>) to identify biomarker panels that remain predictive across cohorts. Each candidate panel was evaluated bidirectionally, trained on one cohort and tested on the other, using objectives that capture sensitivity, variability and cross-cohort agreement. Panels meeting minimum sensitivity threshold were then prioritised based on inclusion frequency and pathway relevance. Final panels were fitted with GLMs and assessed on held-out external-validation sets.</a:t>
            </a:r>
            <a:endParaRPr lang="en-AU" sz="1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2F00A523-F058-BA6A-4F5F-873858386007}"/>
              </a:ext>
            </a:extLst>
          </p:cNvPr>
          <p:cNvSpPr txBox="1"/>
          <p:nvPr/>
        </p:nvSpPr>
        <p:spPr>
          <a:xfrm>
            <a:off x="17679172" y="28323044"/>
            <a:ext cx="12381885" cy="2677656"/>
          </a:xfrm>
          <a:prstGeom prst="rect">
            <a:avLst/>
          </a:prstGeom>
          <a:noFill/>
        </p:spPr>
        <p:txBody>
          <a:bodyPr wrap="square">
            <a:spAutoFit/>
          </a:bodyPr>
          <a:lstStyle/>
          <a:p>
            <a:r>
              <a:rPr lang="en-AU" sz="2800" dirty="0">
                <a:latin typeface="Arial" panose="020B0604020202020204" pitchFamily="34" charset="0"/>
                <a:cs typeface="Arial" panose="020B0604020202020204" pitchFamily="34" charset="0"/>
              </a:rPr>
              <a:t>The enriched GO terms point to processes disrupted in FGR, including </a:t>
            </a:r>
            <a:r>
              <a:rPr lang="en-AU" sz="2800" b="1" dirty="0">
                <a:latin typeface="Arial" panose="020B0604020202020204" pitchFamily="34" charset="0"/>
                <a:cs typeface="Arial" panose="020B0604020202020204" pitchFamily="34" charset="0"/>
              </a:rPr>
              <a:t>cell adhesion</a:t>
            </a:r>
            <a:r>
              <a:rPr lang="en-AU" sz="2800" dirty="0">
                <a:latin typeface="Arial" panose="020B0604020202020204" pitchFamily="34" charset="0"/>
                <a:cs typeface="Arial" panose="020B0604020202020204" pitchFamily="34" charset="0"/>
              </a:rPr>
              <a:t>, </a:t>
            </a:r>
            <a:r>
              <a:rPr lang="en-AU" sz="2800" b="1" dirty="0">
                <a:latin typeface="Arial" panose="020B0604020202020204" pitchFamily="34" charset="0"/>
                <a:cs typeface="Arial" panose="020B0604020202020204" pitchFamily="34" charset="0"/>
              </a:rPr>
              <a:t>extracellular matrix organisation</a:t>
            </a:r>
            <a:r>
              <a:rPr lang="en-AU" sz="2800" dirty="0">
                <a:latin typeface="Arial" panose="020B0604020202020204" pitchFamily="34" charset="0"/>
                <a:cs typeface="Arial" panose="020B0604020202020204" pitchFamily="34" charset="0"/>
              </a:rPr>
              <a:t> and </a:t>
            </a:r>
            <a:r>
              <a:rPr lang="en-AU" sz="2800" b="1" dirty="0">
                <a:latin typeface="Arial" panose="020B0604020202020204" pitchFamily="34" charset="0"/>
                <a:cs typeface="Arial" panose="020B0604020202020204" pitchFamily="34" charset="0"/>
              </a:rPr>
              <a:t>receptor signalling</a:t>
            </a:r>
            <a:r>
              <a:rPr lang="en-AU" sz="2800" dirty="0">
                <a:latin typeface="Arial" panose="020B0604020202020204" pitchFamily="34" charset="0"/>
                <a:cs typeface="Arial" panose="020B0604020202020204" pitchFamily="34" charset="0"/>
              </a:rPr>
              <a:t>—features consistent with impaired trophoblast invasion and communication. Vascular development terms further indicate defective placental vascularisation, suggesting the biomarker set captures core pathways underlying abnormal placental growth in FGR.</a:t>
            </a:r>
          </a:p>
        </p:txBody>
      </p:sp>
      <p:sp>
        <p:nvSpPr>
          <p:cNvPr id="20" name="TextBox 20"/>
          <p:cNvSpPr txBox="1"/>
          <p:nvPr/>
        </p:nvSpPr>
        <p:spPr>
          <a:xfrm>
            <a:off x="9227256" y="2387097"/>
            <a:ext cx="19375098" cy="1107996"/>
          </a:xfrm>
          <a:prstGeom prst="rect">
            <a:avLst/>
          </a:prstGeom>
        </p:spPr>
        <p:txBody>
          <a:bodyPr wrap="square" lIns="0" tIns="0" rIns="0" bIns="0" rtlCol="0" anchor="t">
            <a:spAutoFit/>
          </a:bodyPr>
          <a:lstStyle/>
          <a:p>
            <a:pPr algn="ctr"/>
            <a:r>
              <a:rPr lang="en-US" sz="3600" dirty="0">
                <a:latin typeface="Arial" panose="020B0604020202020204" pitchFamily="34" charset="0"/>
                <a:ea typeface="Times New Roman Bold"/>
                <a:cs typeface="Arial" panose="020B0604020202020204" pitchFamily="34" charset="0"/>
                <a:sym typeface="Times New Roman Bold"/>
              </a:rPr>
              <a:t>Jie Kang</a:t>
            </a:r>
            <a:r>
              <a:rPr lang="en-US" sz="3600" baseline="30000" dirty="0">
                <a:latin typeface="Arial" panose="020B0604020202020204" pitchFamily="34" charset="0"/>
                <a:ea typeface="Times New Roman Bold"/>
                <a:cs typeface="Arial" panose="020B0604020202020204" pitchFamily="34" charset="0"/>
                <a:sym typeface="Times New Roman Bold"/>
              </a:rPr>
              <a:t>1,2,3</a:t>
            </a:r>
            <a:r>
              <a:rPr lang="en-US" sz="3600" dirty="0">
                <a:latin typeface="Arial" panose="020B0604020202020204" pitchFamily="34" charset="0"/>
                <a:ea typeface="Times New Roman Bold"/>
                <a:cs typeface="Arial" panose="020B0604020202020204" pitchFamily="34" charset="0"/>
                <a:sym typeface="Times New Roman Bold"/>
              </a:rPr>
              <a:t>, </a:t>
            </a:r>
            <a:r>
              <a:rPr lang="en-AU" sz="3600" dirty="0">
                <a:latin typeface="Arial" panose="020B0604020202020204" pitchFamily="34" charset="0"/>
                <a:cs typeface="Arial" panose="020B0604020202020204" pitchFamily="34" charset="0"/>
              </a:rPr>
              <a:t>Lucy Bartho</a:t>
            </a:r>
            <a:r>
              <a:rPr lang="en-AU" sz="3600" baseline="30000" dirty="0">
                <a:latin typeface="Arial" panose="020B0604020202020204" pitchFamily="34" charset="0"/>
                <a:cs typeface="Arial" panose="020B0604020202020204" pitchFamily="34" charset="0"/>
              </a:rPr>
              <a:t>4</a:t>
            </a:r>
            <a:r>
              <a:rPr lang="en-AU" sz="3600" dirty="0">
                <a:latin typeface="Arial" panose="020B0604020202020204" pitchFamily="34" charset="0"/>
                <a:cs typeface="Arial" panose="020B0604020202020204" pitchFamily="34" charset="0"/>
              </a:rPr>
              <a:t>, Wenze Ding</a:t>
            </a:r>
            <a:r>
              <a:rPr lang="en-AU" sz="3600" baseline="30000" dirty="0">
                <a:latin typeface="Arial" panose="020B0604020202020204" pitchFamily="34" charset="0"/>
                <a:cs typeface="Arial" panose="020B0604020202020204" pitchFamily="34" charset="0"/>
              </a:rPr>
              <a:t>1,2,3</a:t>
            </a:r>
            <a:r>
              <a:rPr lang="en-AU" sz="3600" dirty="0">
                <a:latin typeface="Arial" panose="020B0604020202020204" pitchFamily="34" charset="0"/>
                <a:cs typeface="Arial" panose="020B0604020202020204" pitchFamily="34" charset="0"/>
              </a:rPr>
              <a:t>, Harry Robertson</a:t>
            </a:r>
            <a:r>
              <a:rPr lang="en-AU" sz="3600" baseline="30000" dirty="0">
                <a:latin typeface="Arial" panose="020B0604020202020204" pitchFamily="34" charset="0"/>
                <a:cs typeface="Arial" panose="020B0604020202020204" pitchFamily="34" charset="0"/>
              </a:rPr>
              <a:t>1,2,3</a:t>
            </a:r>
            <a:r>
              <a:rPr lang="en-AU" sz="3600" dirty="0">
                <a:latin typeface="Arial" panose="020B0604020202020204" pitchFamily="34" charset="0"/>
                <a:cs typeface="Arial" panose="020B0604020202020204" pitchFamily="34" charset="0"/>
              </a:rPr>
              <a:t>, Kevin Wang</a:t>
            </a:r>
            <a:r>
              <a:rPr lang="en-AU" sz="3600" baseline="30000" dirty="0">
                <a:latin typeface="Arial" panose="020B0604020202020204" pitchFamily="34" charset="0"/>
                <a:cs typeface="Arial" panose="020B0604020202020204" pitchFamily="34" charset="0"/>
              </a:rPr>
              <a:t>2</a:t>
            </a:r>
            <a:r>
              <a:rPr lang="en-AU" sz="3600" dirty="0">
                <a:latin typeface="Arial" panose="020B0604020202020204" pitchFamily="34" charset="0"/>
                <a:cs typeface="Arial" panose="020B0604020202020204" pitchFamily="34" charset="0"/>
              </a:rPr>
              <a:t>, </a:t>
            </a:r>
            <a:r>
              <a:rPr lang="en-AU" sz="3600" dirty="0" err="1">
                <a:latin typeface="Arial" panose="020B0604020202020204" pitchFamily="34" charset="0"/>
                <a:cs typeface="Arial" panose="020B0604020202020204" pitchFamily="34" charset="0"/>
              </a:rPr>
              <a:t>Yingxin</a:t>
            </a:r>
            <a:r>
              <a:rPr lang="en-AU" sz="3600" dirty="0">
                <a:latin typeface="Arial" panose="020B0604020202020204" pitchFamily="34" charset="0"/>
                <a:cs typeface="Arial" panose="020B0604020202020204" pitchFamily="34" charset="0"/>
              </a:rPr>
              <a:t> Lin</a:t>
            </a:r>
            <a:r>
              <a:rPr lang="en-AU" sz="3600" baseline="30000" dirty="0">
                <a:latin typeface="Arial" panose="020B0604020202020204" pitchFamily="34" charset="0"/>
                <a:cs typeface="Arial" panose="020B0604020202020204" pitchFamily="34" charset="0"/>
              </a:rPr>
              <a:t>2</a:t>
            </a:r>
            <a:r>
              <a:rPr lang="en-AU" sz="3600" dirty="0">
                <a:latin typeface="Arial" panose="020B0604020202020204" pitchFamily="34" charset="0"/>
                <a:cs typeface="Arial" panose="020B0604020202020204" pitchFamily="34" charset="0"/>
              </a:rPr>
              <a:t>, Stephen Tong</a:t>
            </a:r>
            <a:r>
              <a:rPr lang="en-AU" sz="3600" baseline="30000" dirty="0">
                <a:latin typeface="Arial" panose="020B0604020202020204" pitchFamily="34" charset="0"/>
                <a:cs typeface="Arial" panose="020B0604020202020204" pitchFamily="34" charset="0"/>
              </a:rPr>
              <a:t>4</a:t>
            </a:r>
            <a:r>
              <a:rPr lang="en-AU" sz="3600" dirty="0">
                <a:latin typeface="Arial" panose="020B0604020202020204" pitchFamily="34" charset="0"/>
                <a:cs typeface="Arial" panose="020B0604020202020204" pitchFamily="34" charset="0"/>
              </a:rPr>
              <a:t>, </a:t>
            </a:r>
            <a:r>
              <a:rPr lang="en-AU" sz="3600" dirty="0" err="1">
                <a:latin typeface="Arial" panose="020B0604020202020204" pitchFamily="34" charset="0"/>
                <a:cs typeface="Arial" panose="020B0604020202020204" pitchFamily="34" charset="0"/>
              </a:rPr>
              <a:t>Tu’uhevaha</a:t>
            </a:r>
            <a:r>
              <a:rPr lang="en-AU" sz="3600" dirty="0">
                <a:latin typeface="Arial" panose="020B0604020202020204" pitchFamily="34" charset="0"/>
                <a:cs typeface="Arial" panose="020B0604020202020204" pitchFamily="34" charset="0"/>
              </a:rPr>
              <a:t> Kaitu'u-Lino</a:t>
            </a:r>
            <a:r>
              <a:rPr lang="en-AU" sz="3600" baseline="30000" dirty="0">
                <a:latin typeface="Arial" panose="020B0604020202020204" pitchFamily="34" charset="0"/>
                <a:cs typeface="Arial" panose="020B0604020202020204" pitchFamily="34" charset="0"/>
              </a:rPr>
              <a:t>4 </a:t>
            </a:r>
            <a:r>
              <a:rPr lang="en-AU" sz="3600" dirty="0">
                <a:latin typeface="Arial" panose="020B0604020202020204" pitchFamily="34" charset="0"/>
                <a:cs typeface="Arial" panose="020B0604020202020204" pitchFamily="34" charset="0"/>
              </a:rPr>
              <a:t>and Jean Yang</a:t>
            </a:r>
            <a:r>
              <a:rPr lang="en-AU" sz="3600" baseline="30000" dirty="0">
                <a:latin typeface="Arial" panose="020B0604020202020204" pitchFamily="34" charset="0"/>
                <a:cs typeface="Arial" panose="020B0604020202020204" pitchFamily="34" charset="0"/>
              </a:rPr>
              <a:t>1,2,3</a:t>
            </a:r>
            <a:endParaRPr lang="en-US" sz="3600" dirty="0">
              <a:latin typeface="Arial" panose="020B0604020202020204" pitchFamily="34" charset="0"/>
              <a:ea typeface="Times New Roman Bold"/>
              <a:cs typeface="Arial" panose="020B0604020202020204" pitchFamily="34" charset="0"/>
              <a:sym typeface="Times New Roman Bold"/>
            </a:endParaRPr>
          </a:p>
        </p:txBody>
      </p:sp>
      <p:pic>
        <p:nvPicPr>
          <p:cNvPr id="1034" name="Picture 10" descr="biomarkerPanels hex sticker">
            <a:extLst>
              <a:ext uri="{FF2B5EF4-FFF2-40B4-BE49-F238E27FC236}">
                <a16:creationId xmlns:a16="http://schemas.microsoft.com/office/drawing/2014/main" id="{BB0E8BBD-BCCB-EABF-DAE9-FF98D74446D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264639" y="40080415"/>
            <a:ext cx="2497012" cy="2731285"/>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1"/>
          <p:cNvSpPr txBox="1"/>
          <p:nvPr/>
        </p:nvSpPr>
        <p:spPr>
          <a:xfrm>
            <a:off x="8107702" y="234054"/>
            <a:ext cx="22300032" cy="1949252"/>
          </a:xfrm>
          <a:prstGeom prst="rect">
            <a:avLst/>
          </a:prstGeom>
        </p:spPr>
        <p:txBody>
          <a:bodyPr wrap="square" lIns="0" tIns="0" rIns="0" bIns="0" rtlCol="0" anchor="t">
            <a:spAutoFit/>
          </a:bodyPr>
          <a:lstStyle/>
          <a:p>
            <a:pPr algn="ctr">
              <a:lnSpc>
                <a:spcPts val="7582"/>
              </a:lnSpc>
            </a:pPr>
            <a:r>
              <a:rPr lang="en-US" sz="6000" b="1" dirty="0">
                <a:solidFill>
                  <a:srgbClr val="000000"/>
                </a:solidFill>
                <a:latin typeface="Arial" panose="020B0604020202020204" pitchFamily="34" charset="0"/>
                <a:ea typeface="Times New Roman Bold"/>
                <a:cs typeface="Arial" panose="020B0604020202020204" pitchFamily="34" charset="0"/>
                <a:sym typeface="Times New Roman Bold"/>
              </a:rPr>
              <a:t>Multi-objective </a:t>
            </a:r>
            <a:r>
              <a:rPr lang="en-US" sz="6000" b="1" dirty="0" err="1">
                <a:solidFill>
                  <a:srgbClr val="000000"/>
                </a:solidFill>
                <a:latin typeface="Arial" panose="020B0604020202020204" pitchFamily="34" charset="0"/>
                <a:ea typeface="Times New Roman Bold"/>
                <a:cs typeface="Arial" panose="020B0604020202020204" pitchFamily="34" charset="0"/>
                <a:sym typeface="Times New Roman Bold"/>
              </a:rPr>
              <a:t>optimisation</a:t>
            </a:r>
            <a:r>
              <a:rPr lang="en-US" sz="6000" b="1" dirty="0">
                <a:solidFill>
                  <a:srgbClr val="000000"/>
                </a:solidFill>
                <a:latin typeface="Arial" panose="020B0604020202020204" pitchFamily="34" charset="0"/>
                <a:ea typeface="Times New Roman Bold"/>
                <a:cs typeface="Arial" panose="020B0604020202020204" pitchFamily="34" charset="0"/>
                <a:sym typeface="Times New Roman Bold"/>
              </a:rPr>
              <a:t> for biomarker identification, transferability and translation in precision medicine</a:t>
            </a:r>
          </a:p>
        </p:txBody>
      </p:sp>
      <p:pic>
        <p:nvPicPr>
          <p:cNvPr id="75" name="Image 2" descr="preencoded.png">
            <a:extLst>
              <a:ext uri="{FF2B5EF4-FFF2-40B4-BE49-F238E27FC236}">
                <a16:creationId xmlns:a16="http://schemas.microsoft.com/office/drawing/2014/main" id="{2A3330AD-F8A0-1470-8BAC-F233E6B900E1}"/>
              </a:ext>
            </a:extLst>
          </p:cNvPr>
          <p:cNvPicPr>
            <a:picLocks noChangeAspect="1"/>
          </p:cNvPicPr>
          <p:nvPr>
            <p:custDataLst>
              <p:tags r:id="rId6"/>
            </p:custDataLst>
          </p:nvPr>
        </p:nvPicPr>
        <p:blipFill>
          <a:blip r:embed="rId17"/>
          <a:stretch>
            <a:fillRect/>
          </a:stretch>
        </p:blipFill>
        <p:spPr>
          <a:xfrm>
            <a:off x="13753009" y="8569540"/>
            <a:ext cx="2529620" cy="1339343"/>
          </a:xfrm>
          <a:prstGeom prst="rect">
            <a:avLst/>
          </a:prstGeom>
        </p:spPr>
      </p:pic>
      <p:pic>
        <p:nvPicPr>
          <p:cNvPr id="40" name="Picture 39">
            <a:extLst>
              <a:ext uri="{FF2B5EF4-FFF2-40B4-BE49-F238E27FC236}">
                <a16:creationId xmlns:a16="http://schemas.microsoft.com/office/drawing/2014/main" id="{96234980-5AF8-D81C-6112-3ABE14105D83}"/>
              </a:ext>
            </a:extLst>
          </p:cNvPr>
          <p:cNvPicPr>
            <a:picLocks noChangeAspect="1"/>
          </p:cNvPicPr>
          <p:nvPr/>
        </p:nvPicPr>
        <p:blipFill>
          <a:blip r:embed="rId18"/>
          <a:stretch>
            <a:fillRect/>
          </a:stretch>
        </p:blipFill>
        <p:spPr>
          <a:xfrm>
            <a:off x="17679173" y="18070029"/>
            <a:ext cx="12178962" cy="9052627"/>
          </a:xfrm>
          <a:prstGeom prst="rect">
            <a:avLst/>
          </a:prstGeom>
        </p:spPr>
      </p:pic>
      <p:sp>
        <p:nvSpPr>
          <p:cNvPr id="29" name="TextBox 28">
            <a:extLst>
              <a:ext uri="{FF2B5EF4-FFF2-40B4-BE49-F238E27FC236}">
                <a16:creationId xmlns:a16="http://schemas.microsoft.com/office/drawing/2014/main" id="{AD5248C3-3F50-F62A-5873-368D88DF78F0}"/>
              </a:ext>
            </a:extLst>
          </p:cNvPr>
          <p:cNvSpPr txBox="1">
            <a:spLocks/>
          </p:cNvSpPr>
          <p:nvPr/>
        </p:nvSpPr>
        <p:spPr>
          <a:xfrm>
            <a:off x="9160592" y="3610670"/>
            <a:ext cx="13117565" cy="1569660"/>
          </a:xfrm>
          <a:prstGeom prst="rect">
            <a:avLst/>
          </a:prstGeom>
          <a:noFill/>
        </p:spPr>
        <p:txBody>
          <a:bodyPr wrap="square">
            <a:spAutoFit/>
          </a:bodyPr>
          <a:lstStyle/>
          <a:p>
            <a:r>
              <a:rPr lang="en-AU" sz="2400" baseline="30000" dirty="0">
                <a:latin typeface="Arial" panose="020B0604020202020204" pitchFamily="34" charset="0"/>
                <a:cs typeface="Arial" panose="020B0604020202020204" pitchFamily="34" charset="0"/>
              </a:rPr>
              <a:t>1 </a:t>
            </a:r>
            <a:r>
              <a:rPr lang="en-AU" sz="2400" dirty="0">
                <a:latin typeface="Arial" panose="020B0604020202020204" pitchFamily="34" charset="0"/>
                <a:cs typeface="Arial" panose="020B0604020202020204" pitchFamily="34" charset="0"/>
              </a:rPr>
              <a:t>Charles Perkins Centre, The University of Sydney </a:t>
            </a:r>
          </a:p>
          <a:p>
            <a:r>
              <a:rPr lang="en-AU" sz="2400" baseline="30000" dirty="0">
                <a:latin typeface="Arial" panose="020B0604020202020204" pitchFamily="34" charset="0"/>
                <a:cs typeface="Arial" panose="020B0604020202020204" pitchFamily="34" charset="0"/>
              </a:rPr>
              <a:t>2 </a:t>
            </a:r>
            <a:r>
              <a:rPr lang="en-AU" sz="2400" dirty="0">
                <a:latin typeface="Arial" panose="020B0604020202020204" pitchFamily="34" charset="0"/>
                <a:cs typeface="Arial" panose="020B0604020202020204" pitchFamily="34" charset="0"/>
              </a:rPr>
              <a:t>Sydney Precision Data Science Centre, The University of Sydney</a:t>
            </a:r>
            <a:br>
              <a:rPr lang="en-AU" sz="2400" baseline="30000" dirty="0">
                <a:latin typeface="Arial" panose="020B0604020202020204" pitchFamily="34" charset="0"/>
                <a:cs typeface="Arial" panose="020B0604020202020204" pitchFamily="34" charset="0"/>
              </a:rPr>
            </a:br>
            <a:r>
              <a:rPr lang="en-AU" sz="2400" b="0" i="0" u="none" strike="noStrike" baseline="30000" dirty="0">
                <a:effectLst/>
                <a:latin typeface="Arial" panose="020B0604020202020204" pitchFamily="34" charset="0"/>
                <a:cs typeface="Arial" panose="020B0604020202020204" pitchFamily="34" charset="0"/>
              </a:rPr>
              <a:t>3 </a:t>
            </a:r>
            <a:r>
              <a:rPr lang="en-AU" sz="2400" b="0" i="0" u="none" strike="noStrike" dirty="0">
                <a:effectLst/>
                <a:latin typeface="Arial" panose="020B0604020202020204" pitchFamily="34" charset="0"/>
                <a:cs typeface="Arial" panose="020B0604020202020204" pitchFamily="34" charset="0"/>
              </a:rPr>
              <a:t>School of Mathematics and Statistics, The University of Sydney</a:t>
            </a:r>
            <a:br>
              <a:rPr lang="en-AU" sz="2400" b="0" i="0" u="none" strike="noStrike" dirty="0">
                <a:effectLst/>
                <a:latin typeface="Arial" panose="020B0604020202020204" pitchFamily="34" charset="0"/>
                <a:cs typeface="Arial" panose="020B0604020202020204" pitchFamily="34" charset="0"/>
              </a:rPr>
            </a:br>
            <a:r>
              <a:rPr lang="en-AU" sz="2400" b="0" i="0" u="none" strike="noStrike" baseline="30000" dirty="0">
                <a:effectLst/>
                <a:latin typeface="Arial" panose="020B0604020202020204" pitchFamily="34" charset="0"/>
                <a:cs typeface="Arial" panose="020B0604020202020204" pitchFamily="34" charset="0"/>
              </a:rPr>
              <a:t>4</a:t>
            </a:r>
            <a:r>
              <a:rPr lang="en-AU" sz="2400" dirty="0">
                <a:latin typeface="Arial" panose="020B0604020202020204" pitchFamily="34" charset="0"/>
                <a:cs typeface="Arial" panose="020B0604020202020204" pitchFamily="34" charset="0"/>
              </a:rPr>
              <a:t>Translational Obstetrics Group, Mercy Hospital for Women, University of Melbourne</a:t>
            </a:r>
            <a:endParaRPr lang="en-AU" sz="2400" b="0" i="0" u="none" strike="noStrike" dirty="0">
              <a:effectLst/>
              <a:latin typeface="Arial" panose="020B0604020202020204" pitchFamily="34" charset="0"/>
              <a:cs typeface="Arial" panose="020B0604020202020204" pitchFamily="34" charset="0"/>
            </a:endParaRPr>
          </a:p>
        </p:txBody>
      </p:sp>
      <p:pic>
        <p:nvPicPr>
          <p:cNvPr id="30" name="Picture 29" descr="A black background with a black square&#10;&#10;Description automatically generated with medium confidence">
            <a:extLst>
              <a:ext uri="{FF2B5EF4-FFF2-40B4-BE49-F238E27FC236}">
                <a16:creationId xmlns:a16="http://schemas.microsoft.com/office/drawing/2014/main" id="{429BB7F1-39B3-9BBB-1A24-441526FD588A}"/>
              </a:ext>
            </a:extLst>
          </p:cNvPr>
          <p:cNvPicPr>
            <a:picLocks noChangeAspect="1"/>
          </p:cNvPicPr>
          <p:nvPr/>
        </p:nvPicPr>
        <p:blipFill>
          <a:blip r:embed="rId19"/>
          <a:stretch>
            <a:fillRect/>
          </a:stretch>
        </p:blipFill>
        <p:spPr>
          <a:xfrm>
            <a:off x="599458" y="563753"/>
            <a:ext cx="7175539" cy="3812255"/>
          </a:xfrm>
          <a:prstGeom prst="rect">
            <a:avLst/>
          </a:prstGeom>
        </p:spPr>
      </p:pic>
      <p:sp>
        <p:nvSpPr>
          <p:cNvPr id="3" name="Rectangle 2">
            <a:extLst>
              <a:ext uri="{FF2B5EF4-FFF2-40B4-BE49-F238E27FC236}">
                <a16:creationId xmlns:a16="http://schemas.microsoft.com/office/drawing/2014/main" id="{898B1A94-6FBB-27B6-549F-BD2CD8A83A36}"/>
              </a:ext>
            </a:extLst>
          </p:cNvPr>
          <p:cNvSpPr/>
          <p:nvPr/>
        </p:nvSpPr>
        <p:spPr>
          <a:xfrm>
            <a:off x="155065" y="5890100"/>
            <a:ext cx="17280960" cy="1260000"/>
          </a:xfrm>
          <a:prstGeom prst="rect">
            <a:avLst/>
          </a:prstGeom>
          <a:solidFill>
            <a:srgbClr val="FA441B"/>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4400" b="1" dirty="0">
                <a:solidFill>
                  <a:schemeClr val="tx1"/>
                </a:solidFill>
                <a:latin typeface="Arial" panose="020B0604020202020204" pitchFamily="34" charset="0"/>
                <a:cs typeface="Arial" panose="020B0604020202020204" pitchFamily="34" charset="0"/>
              </a:rPr>
              <a:t>Aptamer-based biomarker for </a:t>
            </a:r>
            <a:r>
              <a:rPr lang="en-NZ" sz="4400" b="1" dirty="0" err="1">
                <a:solidFill>
                  <a:schemeClr val="tx1"/>
                </a:solidFill>
                <a:latin typeface="Arial" panose="020B0604020202020204" pitchFamily="34" charset="0"/>
                <a:cs typeface="Arial" panose="020B0604020202020204" pitchFamily="34" charset="0"/>
              </a:rPr>
              <a:t>fetal</a:t>
            </a:r>
            <a:r>
              <a:rPr lang="en-NZ" sz="4400" b="1" dirty="0">
                <a:solidFill>
                  <a:schemeClr val="tx1"/>
                </a:solidFill>
                <a:latin typeface="Arial" panose="020B0604020202020204" pitchFamily="34" charset="0"/>
                <a:cs typeface="Arial" panose="020B0604020202020204" pitchFamily="34" charset="0"/>
              </a:rPr>
              <a:t> growth restriction (FGR)</a:t>
            </a:r>
            <a:endParaRPr lang="en-AU" sz="4400" b="1" dirty="0">
              <a:solidFill>
                <a:schemeClr val="tx1"/>
              </a:solidFill>
              <a:latin typeface="Arial" panose="020B0604020202020204" pitchFamily="34" charset="0"/>
              <a:cs typeface="Arial" panose="020B0604020202020204" pitchFamily="34" charset="0"/>
            </a:endParaRPr>
          </a:p>
        </p:txBody>
      </p:sp>
      <p:pic>
        <p:nvPicPr>
          <p:cNvPr id="47" name="Picture 46">
            <a:extLst>
              <a:ext uri="{FF2B5EF4-FFF2-40B4-BE49-F238E27FC236}">
                <a16:creationId xmlns:a16="http://schemas.microsoft.com/office/drawing/2014/main" id="{9E55D17D-617C-E6D5-7E14-27505ECC42B1}"/>
              </a:ext>
            </a:extLst>
          </p:cNvPr>
          <p:cNvPicPr>
            <a:picLocks noChangeAspect="1"/>
          </p:cNvPicPr>
          <p:nvPr/>
        </p:nvPicPr>
        <p:blipFill>
          <a:blip r:embed="rId20"/>
          <a:stretch>
            <a:fillRect/>
          </a:stretch>
        </p:blipFill>
        <p:spPr>
          <a:xfrm>
            <a:off x="8474769" y="15347542"/>
            <a:ext cx="9108437" cy="9099958"/>
          </a:xfrm>
          <a:prstGeom prst="rect">
            <a:avLst/>
          </a:prstGeom>
        </p:spPr>
      </p:pic>
      <p:pic>
        <p:nvPicPr>
          <p:cNvPr id="48" name="Picture 47">
            <a:extLst>
              <a:ext uri="{FF2B5EF4-FFF2-40B4-BE49-F238E27FC236}">
                <a16:creationId xmlns:a16="http://schemas.microsoft.com/office/drawing/2014/main" id="{2037DA63-B840-4FEE-1AF4-81B3EDF420D9}"/>
              </a:ext>
            </a:extLst>
          </p:cNvPr>
          <p:cNvPicPr>
            <a:picLocks noChangeAspect="1"/>
          </p:cNvPicPr>
          <p:nvPr/>
        </p:nvPicPr>
        <p:blipFill>
          <a:blip r:embed="rId21"/>
          <a:stretch>
            <a:fillRect/>
          </a:stretch>
        </p:blipFill>
        <p:spPr>
          <a:xfrm>
            <a:off x="17729924" y="30924500"/>
            <a:ext cx="11886476" cy="9313309"/>
          </a:xfrm>
          <a:prstGeom prst="rect">
            <a:avLst/>
          </a:prstGeom>
        </p:spPr>
      </p:pic>
      <p:pic>
        <p:nvPicPr>
          <p:cNvPr id="50" name="Picture 49">
            <a:extLst>
              <a:ext uri="{FF2B5EF4-FFF2-40B4-BE49-F238E27FC236}">
                <a16:creationId xmlns:a16="http://schemas.microsoft.com/office/drawing/2014/main" id="{13C796D8-45EC-E0A8-9766-C4488DC9A98A}"/>
              </a:ext>
            </a:extLst>
          </p:cNvPr>
          <p:cNvPicPr>
            <a:picLocks noChangeAspect="1"/>
          </p:cNvPicPr>
          <p:nvPr/>
        </p:nvPicPr>
        <p:blipFill>
          <a:blip r:embed="rId22"/>
          <a:stretch>
            <a:fillRect/>
          </a:stretch>
        </p:blipFill>
        <p:spPr>
          <a:xfrm>
            <a:off x="-14004196" y="22498869"/>
            <a:ext cx="46329576" cy="238886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fade">
                                      <p:cBhvr>
                                        <p:cTn id="12" dur="500"/>
                                        <p:tgtEl>
                                          <p:spTgt spid="89"/>
                                        </p:tgtEl>
                                      </p:cBhvr>
                                    </p:animEffect>
                                  </p:childTnLst>
                                </p:cTn>
                              </p:par>
                              <p:par>
                                <p:cTn id="13" presetID="10" presetClass="entr" presetSubtype="0" fill="hold" nodeType="withEffect">
                                  <p:stCondLst>
                                    <p:cond delay="0"/>
                                  </p:stCondLst>
                                  <p:childTnLst>
                                    <p:set>
                                      <p:cBhvr>
                                        <p:cTn id="14" dur="1" fill="hold">
                                          <p:stCondLst>
                                            <p:cond delay="0"/>
                                          </p:stCondLst>
                                        </p:cTn>
                                        <p:tgtEl>
                                          <p:spTgt spid="75"/>
                                        </p:tgtEl>
                                        <p:attrNameLst>
                                          <p:attrName>style.visibility</p:attrName>
                                        </p:attrNameLst>
                                      </p:cBhvr>
                                      <p:to>
                                        <p:strVal val="visible"/>
                                      </p:to>
                                    </p:set>
                                    <p:animEffect transition="in" filter="fade">
                                      <p:cBhvr>
                                        <p:cTn id="15" dur="500"/>
                                        <p:tgtEl>
                                          <p:spTgt spid="7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4"/>
                                        </p:tgtEl>
                                        <p:attrNameLst>
                                          <p:attrName>style.visibility</p:attrName>
                                        </p:attrNameLst>
                                      </p:cBhvr>
                                      <p:to>
                                        <p:strVal val="visible"/>
                                      </p:to>
                                    </p:set>
                                    <p:animEffect transition="in" filter="fade">
                                      <p:cBhvr>
                                        <p:cTn id="20" dur="500"/>
                                        <p:tgtEl>
                                          <p:spTgt spid="94"/>
                                        </p:tgtEl>
                                      </p:cBhvr>
                                    </p:animEffect>
                                  </p:childTnLst>
                                </p:cTn>
                              </p:par>
                              <p:par>
                                <p:cTn id="21" presetID="10" presetClass="entr" presetSubtype="0" fill="hold" nodeType="withEffect">
                                  <p:stCondLst>
                                    <p:cond delay="0"/>
                                  </p:stCondLst>
                                  <p:childTnLst>
                                    <p:set>
                                      <p:cBhvr>
                                        <p:cTn id="22" dur="1" fill="hold">
                                          <p:stCondLst>
                                            <p:cond delay="0"/>
                                          </p:stCondLst>
                                        </p:cTn>
                                        <p:tgtEl>
                                          <p:spTgt spid="88"/>
                                        </p:tgtEl>
                                        <p:attrNameLst>
                                          <p:attrName>style.visibility</p:attrName>
                                        </p:attrNameLst>
                                      </p:cBhvr>
                                      <p:to>
                                        <p:strVal val="visible"/>
                                      </p:to>
                                    </p:set>
                                    <p:animEffect transition="in" filter="fade">
                                      <p:cBhvr>
                                        <p:cTn id="23"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D" val="68cb7ce0f2a9ea778a2c353b"/>
  <p:tag name="FIGURESLIDEID" val="69ed8831-b396-4d9a-ba73-58696945131d"/>
  <p:tag name="SELECTIONIDS" val="be689f13-f4b0-411c-863e-2c1a3693a473"/>
  <p:tag name="TRANSPARENTBACKGROUND" val="true"/>
  <p:tag name="VERSION" val="1758194749196"/>
  <p:tag name="TITLE" val="FGR talk"/>
  <p:tag name="CREATORNAME" val="Harry Rober"/>
  <p:tag name="DATEINSERTED" val="1758194749434"/>
  <p:tag name="DPI" val="300"/>
  <p:tag name="BIOJSON" val="{&quot;id&quot;:&quot;83a18aa3-a29c-4826-b77a-2a391c717e6e&quot;,&quot;objects&quot;:{&quot;be689f13-f4b0-411c-863e-2c1a3693a473&quot;:{&quot;type&quot;:&quot;FIGURE_OBJECT&quot;,&quot;id&quot;:&quot;be689f13-f4b0-411c-863e-2c1a3693a473&quot;,&quot;parent&quot;:{&quot;type&quot;:&quot;CHILD&quot;,&quot;parentId&quot;:&quot;69ed8831-b396-4d9a-ba73-58696945131d&quot;,&quot;order&quot;:&quot;1&quot;},&quot;relativeTransform&quot;:{&quot;translate&quot;:{&quot;x&quot;:1455.8344958267194,&quot;y&quot;:592.8701550342894},&quot;rotate&quot;:0,&quot;skewX&quot;:0,&quot;scale&quot;:{&quot;x&quot;:1,&quot;y&quot;:1}},&quot;opacity&quot;:1},&quot;583df851-6c52-4c94-8fcf-fca956eddb4c&quot;:{&quot;id&quot;:&quot;583df851-6c52-4c94-8fcf-fca956eddb4c&quot;,&quot;name&quot;:&quot;Pregnant mother (trimester 3, long hair)&quot;,&quot;displayName&quot;:&quot;&quot;,&quot;type&quot;:&quot;FIGURE_OBJECT&quot;,&quot;relativeTransform&quot;:{&quot;translate&quot;:{&quot;x&quot;:-1796.3091249237505,&quot;y&quot;:-602.329034494563},&quot;rotate&quot;:0,&quot;skewX&quot;:0,&quot;scale&quot;:{&quot;x&quot;:1.445946226310499,&quot;y&quot;:1.4459462263104985}},&quot;image&quot;:{&quot;url&quot;:&quot;https://icons.biorender.com/biorender/635be44f4bbde20020556827/pregnant-mother-trimester-long-hair-02.png&quot;,&quot;fallbackUrl&quot;:&quot;https://res.cloudinary.com/dlcjuc3ej/image/upload/v1666966605/zkybjd5twm5qkbn2lhkw.svg#/keystone/api/icons/635be44f4bbde20020556827/pregnant-mother-trimester-long-hair-02.svg#/keystone/api/icons/635be44f4bbde20020556827/pregnant-mother-trimester-long-hair-02.svg#/keystone/api/icons/635be44f4bbde20020556827/pregnant-mother-trimester-long-hair-02.svg#/keystone/api/icons/635be44f4bbde20020556827/pregnant-mother-trimester-long-hair-02.svg#/keystone/api/icons/635be44f4bbde20020556827/pregnant-mother-trimester-long-hair-02.svg#/keystone/api/icons/635be44f4bbde20020556827/pregnant-mother-trimester-long-hair-02.svg#/keystone/api/icons/635be44f4bbde20020556827/pregnant-mother-trimester-long-hair-02.svg&quot;,&quot;isPremium&quot;:true,&quot;size&quot;:{&quot;x&quot;:100,&quot;y&quot;:422.85714285714283}},&quot;source&quot;:{&quot;id&quot;:&quot;60119e83a0981600266d6f2d&quot;,&quot;version&quot;:1666966605,&quot;type&quot;:&quot;ASSETS&quot;},&quot;isPremium&quot;:true,&quot;parent&quot;:{&quot;type&quot;:&quot;CHILD&quot;,&quot;parentId&quot;:&quot;be689f13-f4b0-411c-863e-2c1a3693a473&quot;,&quot;order&quot;:&quot;5&quot;},&quot;opacity&quot;:1},&quot;86232c2f-f18d-49d8-b1c5-32f81fc7ad7f&quot;:{&quot;type&quot;:&quot;FIGURE_OBJECT&quot;,&quot;id&quot;:&quot;86232c2f-f18d-49d8-b1c5-32f81fc7ad7f&quot;,&quot;parent&quot;:{&quot;type&quot;:&quot;CROP&quot;,&quot;parentId&quot;:&quot;be689f13-f4b0-411c-863e-2c1a3693a473&quot;,&quot;order&quot;:&quot;5&quot;},&quot;relativeTransform&quot;:{&quot;translate&quot;:{&quot;x&quot;:-1796.3091249237505,&quot;y&quot;:-743.2446329801384},&quot;rotate&quot;:0,&quot;skewX&quot;:0,&quot;scale&quot;:{&quot;x&quot;:72.29731131552477,&quot;y&quot;:164.79874650578694}},&quot;path&quot;:{&quot;type&quot;:&quot;RECT&quot;,&quot;size&quot;:{&quot;x&quot;:2,&quot;y&quot;:2}},&quot;pathStyles&quot;:[{&quot;type&quot;:&quot;FILL&quot;,&quot;fillStyle&quot;:&quot;#fff&quot;}],&quot;isFrozen&quot;:true},&quot;69ed8831-b396-4d9a-ba73-58696945131d&quot;:{&quot;id&quot;:&quot;69ed8831-b396-4d9a-ba73-58696945131d&quot;,&quot;type&quot;:&quot;FIGURE_OBJECT&quot;,&quot;document&quot;:{&quot;type&quot;:&quot;FIGURE&quot;,&quot;canvasType&quot;:&quot;FIGURE&quot;,&quot;units&quot;:&quot;in&quot;,&quot;aspectRatio&quot;:1.7777777777777777},&quot;parent&quot;:{&quot;parentId&quot;:&quot;83a18aa3-a29c-4826-b77a-2a391c717e6e&quot;,&quot;type&quot;:&quot;DOCUMENT&quot;,&quot;order&quot;:&quot;5&quot;},&quot;layout&quot;:{&quot;sizeRatio&quot;:{&quot;x&quot;:0.88,&quot;y&quot;:0.88},&quot;keepAspectRatio&quot;:false}},&quot;83a18aa3-a29c-4826-b77a-2a391c717e6e&quot;:{&quot;id&quot;:&quot;83a18aa3-a29c-4826-b77a-2a391c717e6e&quot;,&quot;type&quot;:&quot;FIGURE_OBJECT&quot;,&quot;document&quot;:{&quot;type&quot;:&quot;DOCUMENT_GROUP&quot;,&quot;canvasType&quot;:&quot;SLIDE&quot;,&quot;units&quot;:&quot;in&quot;}}}}"/>
</p:tagLst>
</file>

<file path=ppt/tags/tag2.xml><?xml version="1.0" encoding="utf-8"?>
<p:tagLst xmlns:a="http://schemas.openxmlformats.org/drawingml/2006/main" xmlns:r="http://schemas.openxmlformats.org/officeDocument/2006/relationships" xmlns:p="http://schemas.openxmlformats.org/presentationml/2006/main">
  <p:tag name="ID" val="68cb7ce0f2a9ea778a2c353b"/>
  <p:tag name="FIGURESLIDEID" val="69ed8831-b396-4d9a-ba73-58696945131d"/>
  <p:tag name="SELECTIONIDS" val="9d9c2a76-025a-43b0-a169-141973da405f"/>
  <p:tag name="TRANSPARENTBACKGROUND" val="true"/>
  <p:tag name="VERSION" val="1758194749196"/>
  <p:tag name="TITLE" val="FGR talk"/>
  <p:tag name="CREATORNAME" val="Harry Rober"/>
  <p:tag name="DATEINSERTED" val="1758194749434"/>
  <p:tag name="DPI" val="300"/>
  <p:tag name="BIOJSON" val="{&quot;id&quot;:&quot;83a18aa3-a29c-4826-b77a-2a391c717e6e&quot;,&quot;objects&quot;:{&quot;8095c7c3-ec4d-4e22-91bf-422c79b95065&quot;:{&quot;type&quot;:&quot;FIGURE_OBJECT&quot;,&quot;id&quot;:&quot;8095c7c3-ec4d-4e22-91bf-422c79b95065&quot;,&quot;relativeTransform&quot;:{&quot;translate&quot;:{&quot;x&quot;:-215.4604654372631,&quot;y&quot;:-184.8476987361821},&quot;rotate&quot;:7.2164496600635185e-16,&quot;skewX&quot;:0,&quot;scale&quot;:{&quot;x&quot;:1,&quot;y&quot;:1}},&quot;opacity&quot;:1,&quot;source&quot;:{&quot;id&quot;:&quot;5dbb01f64ef0b000810d2b55&quot;,&quot;type&quot;:&quot;ASSETS&quot;},&quot;pathStyles&quot;:[{&quot;type&quot;:&quot;FILL&quot;,&quot;fillStyle&quot;:&quot;rgb(0,0,0)&quot;}],&quot;isLocked&quot;:false,&quot;parent&quot;:{&quot;type&quot;:&quot;CHILD&quot;,&quot;parentId&quot;:&quot;892c54e1-5de8-4cd2-83f9-0fd7c5fcbce3&quot;,&quot;order&quot;:&quot;2&quot;}},&quot;88babd93-f180-4f84-877b-62f2810eee33&quot;:{&quot;type&quot;:&quot;FIGURE_OBJECT&quot;,&quot;id&quot;:&quot;88babd93-f180-4f84-877b-62f2810eee33&quot;,&quot;name&quot;:&quot;Blood vial&quot;,&quot;relativeTransform&quot;:{&quot;translate&quot;:{&quot;x&quot;:-7.368844603374475e-15,&quot;y&quot;:13.646871311544547},&quot;rotate&quot;:0,&quot;skewX&quot;:-6.975945255140755e-16,&quot;scale&quot;:{&quot;x&quot;:0.46576273117433364,&quot;y&quot;:0.4657627311743335}},&quot;opacity&quot;:1,&quot;image&quot;:{&quot;url&quot;:&quot;https://icons.biorender.com/biorender/5dbafb87c9e7d80004b85b4e/20191031152119/image/blood-vial.png&quot;,&quot;fallbackUrl&quot;:&quot;https://res.cloudinary.com/dlcjuc3ej/image/upload/v1572535279/avppu598ftqswgf927db.svg#/keystone/api/icons/5dbafb87c9e7d80004b85b4e/20191031152119/image/blood-vial.svg&quot;,&quot;size&quot;:{&quot;x&quot;:65,&quot;y&quot;:239},&quot;isPremium&quot;:false,&quot;isPacked&quot;:true},&quot;source&quot;:{&quot;id&quot;:&quot;5dbafb87c9e7d80004b85b4e&quot;,&quot;type&quot;:&quot;ASSETS&quot;},&quot;pathStyles&quot;:[{&quot;type&quot;:&quot;FILL&quot;,&quot;fillStyle&quot;:&quot;rgb(0,0,0)&quot;}],&quot;isLocked&quot;:false,&quot;parent&quot;:{&quot;type&quot;:&quot;CHILD&quot;,&quot;parentId&quot;:&quot;8095c7c3-ec4d-4e22-91bf-422c79b95065&quot;,&quot;order&quot;:&quot;2&quot;}},&quot;8c197a15-8972-49d1-8fb2-13a9034fbf15&quot;:{&quot;type&quot;:&quot;FIGURE_OBJECT&quot;,&quot;id&quot;:&quot;8c197a15-8972-49d1-8fb2-13a9034fbf15&quot;,&quot;name&quot;:&quot;Blood vial cap&quot;,&quot;relativeTransform&quot;:{&quot;translate&quot;:{&quot;x&quot;:-0.00016662437091414788,&quot;y&quot;:-43.95950926040859},&quot;rotate&quot;:0,&quot;skewX&quot;:-6.975945255140761e-16,&quot;scale&quot;:{&quot;x&quot;:0.46576273117433326,&quot;y&quot;:0.4657627311743335}},&quot;opacity&quot;:1,&quot;image&quot;:{&quot;url&quot;:&quot;https://icons.biorender.com/biorender/5dbafee7c9e7d80004b85b60/blood-vial-cap.png&quot;,&quot;fallbackUrl&quot;:&quot;https://res.cloudinary.com/dlcjuc3ej/image/upload/v1572536037/tlv3njszabmvrha42fta.svg#/keystone/api/icons/5dbafee7c9e7d80004b85b60/blood-vial-cap.svg#/keystone/api/icons/5dbafee7c9e7d80004b85b60/blood-vial-cap.svg#/keystone/api/icons/5dbafee7c9e7d80004b85b60/blood-vial-cap.svg#/keystone/api/icons/5dbafee7c9e7d80004b85b60/blood-vial-cap.svg#/keystone/api/icons/5dbafee7c9e7d80004b85b60/blood-vial-cap.svg&quot;,&quot;size&quot;:{&quot;x&quot;:65,&quot;y&quot;:79},&quot;isPremium&quot;:false,&quot;isPacked&quot;:true},&quot;source&quot;:{&quot;id&quot;:&quot;5dbafea2c9e7d80004b85b5f&quot;,&quot;type&quot;:&quot;ASSETS&quot;},&quot;pathStyles&quot;:[{&quot;type&quot;:&quot;FILL&quot;,&quot;fillStyle&quot;:&quot;rgb(0,0,0)&quot;}],&quot;isLocked&quot;:false,&quot;parent&quot;:{&quot;type&quot;:&quot;CHILD&quot;,&quot;parentId&quot;:&quot;8095c7c3-ec4d-4e22-91bf-422c79b95065&quot;,&quot;order&quot;:&quot;5&quot;},&quot;styles&quot;:{&quot;vector-hidden&quot;:[{&quot;styleName&quot;:&quot;MONOCHROME_COLOR&quot;,&quot;index&quot;:0,&quot;color&quot;:&quot;#DFDDDD&quot;}]}},&quot;ba6be45b-73a0-4cc5-ad3b-044fb6181c6f&quot;:{&quot;type&quot;:&quot;FIGURE_OBJECT&quot;,&quot;id&quot;:&quot;ba6be45b-73a0-4cc5-ad3b-044fb6181c6f&quot;,&quot;relativeTransform&quot;:{&quot;translate&quot;:{&quot;x&quot;:434.34237981465697,&quot;y&quot;:-1029.9625431089041},&quot;rotate&quot;:0,&quot;skewX&quot;:0,&quot;scale&quot;:{&quot;x&quot;:1,&quot;y&quot;:1}},&quot;opacity&quot;:1,&quot;path&quot;:{&quot;type&quot;:&quot;POLY_LINE&quot;,&quot;points&quot;:[{&quot;x&quot;:-814.9282083183734,&quot;y&quot;:929.5777801751547},{&quot;x&quot;:-752.2532192751057,&quot;y&quot;:890.7341999895515},{&quot;x&quot;:-680.9403006394568,&quot;y&quot;:880.5890346452634}],&quot;closed&quot;:false},&quot;pathStyles&quot;:[{&quot;type&quot;:&quot;FILL&quot;,&quot;fillStyle&quot;:&quot;rgba(0,0,0,0)&quot;},{&quot;type&quot;:&quot;STROKE&quot;,&quot;strokeStyle&quot;:&quot;rgb(129, 134, 137)&quot;,&quot;lineWidth&quot;:4.684949750238434,&quot;lineJoin&quot;:&quot;round&quot;}],&quot;pathSmoothing&quot;:{&quot;type&quot;:&quot;CATMULL_SMOOTHING&quot;,&quot;smoothing&quot;:0.2},&quot;pathMarkers&quot;:{&quot;markerEnd&quot;:{&quot;type&quot;:&quot;PATH&quot;,&quot;units&quot;:{&quot;type&quot;:&quot;STROKE_WIDTH&quot;,&quot;scale&quot;:1},&quot;orient&quot;:{&quot;type&quot;:&quot;CLIPPED_CHORD&quot;},&quot;clipDistance&quot;:4,&quot;name&quot;:&quot;arrow&quot;,&quot;relativeTransform&quot;:{&quot;translate&quot;:{&quot;x&quot;:0,&quot;y&quot;:0},&quot;rotate&quot;:0,&quot;skewX&quot;:0,&quot;scale&quot;:{&quot;x&quot;:1,&quot;y&quot;:1}},&quot;path&quot;:{&quot;type&quot;:&quot;SPLINE&quot;,&quot;spline&quot;:{&quot;points&quot;:[{&quot;x&quot;:0,&quot;y&quot;:0,&quot;isEndPoint&quot;:true},{&quot;x&quot;:-5,&quot;y&quot;:-2.5,&quot;isEndPoint&quot;:true},{&quot;x&quot;:-5,&quot;y&quot;:2.5,&quot;isEndPoint&quot;:true}],&quot;closed&quot;:true}},&quot;pathStyles&quot;:[{&quot;type&quot;:&quot;FILL&quot;,&quot;fillStyle&quot;:&quot;context-stroke-flat&quot;}]}},&quot;isLocked&quot;:false,&quot;pathPattern&quot;:{&quot;type&quot;:&quot;ROW&quot;,&quot;patternObject&quot;:{&quot;name&quot;:&quot;triangle&quot;,&quot;path&quot;:{&quot;type&quot;:&quot;SPLINE&quot;,&quot;spline&quot;:{&quot;points&quot;:[{&quot;x&quot;:0,&quot;y&quot;:0,&quot;isEndPoint&quot;:true},{&quot;x&quot;:1,&quot;y&quot;:0.5,&quot;isEndPoint&quot;:true},{&quot;x&quot;:1,&quot;y&quot;:-0.5,&quot;isEndPoint&quot;:true}],&quot;closed&quot;:true}},&quot;pathStyles&quot;:[{&quot;type&quot;:&quot;FILL&quot;,&quot;fillStyle&quot;:&quot;context-stroke&quot;}]},&quot;bending&quot;:true,&quot;patternTransform&quot;:{},&quot;xUnits&quot;:&quot;PATH_LENGTH&quot;,&quot;yUnits&quot;:&quot;STROKE_WIDTH&quot;,&quot;isPremium&quot;:false},&quot;parent&quot;:{&quot;type&quot;:&quot;CHILD&quot;,&quot;parentId&quot;:&quot;892c54e1-5de8-4cd2-83f9-0fd7c5fcbce3&quot;,&quot;order&quot;:&quot;5&quot;},&quot;connectorInfo&quot;:{&quot;connectedObjects&quot;:[],&quot;type&quot;:&quot;QUADRATIC&quot;,&quot;offset&quot;:{&quot;x&quot;:0,&quot;y&quot;:0},&quot;bending&quot;:-0.1,&quot;firstElementIsHead&quot;:false,&quot;customized&quot;:true}},&quot;bbf6a7a8-a71e-4190-8aec-145389e8f7b1&quot;:{&quot;relativeTransform&quot;:{&quot;translate&quot;:{&quot;x&quot;:1344.2434562185745,&quot;y&quot;:-82.00253907991366},&quot;rotate&quot;:0,&quot;skewX&quot;:0,&quot;scale&quot;:{&quot;x&quot;:1,&quot;y&quot;:1}},&quot;type&quot;:&quot;FIGURE_OBJECT&quot;,&quot;id&quot;:&quot;bbf6a7a8-a71e-4190-8aec-145389e8f7b1&quot;,&quot;parent&quot;:{&quot;type&quot;:&quot;CHILD&quot;,&quot;parentId&quot;:&quot;9d9c2a76-025a-43b0-a169-141973da405f&quot;,&quot;order&quot;:&quot;5&quot;},&quot;name&quot;:&quot;Proteome of cell lysate in test tube (with protein components callout)&quot;,&quot;displayName&quot;:&quot;Proteome of cell lysate in test tube (with protein components callout)&quot;,&quot;source&quot;:{&quot;id&quot;:&quot;643577dc4e6826d93e4fb72a&quot;,&quot;type&quot;:&quot;ASSETS&quot;},&quot;isPremium&quot;:true},&quot;ffbd5d56-836d-4563-ae5a-e31aef9c05ef&quot;:{&quot;type&quot;:&quot;FIGURE_OBJECT&quot;,&quot;id&quot;:&quot;ffbd5d56-836d-4563-ae5a-e31aef9c05ef&quot;,&quot;relativeTransform&quot;:{&quot;translate&quot;:{&quot;x&quot;:-1431.8373587584729,&quot;y&quot;:-147.58089666954746},&quot;rotate&quot;:0},&quot;opacity&quot;:1,&quot;source&quot;:{&quot;type&quot;:&quot;ASSETS&quot;},&quot;pathStyles&quot;:[{&quot;type&quot;:&quot;FILL&quot;,&quot;fillStyle&quot;:&quot;rgb(0,0,0)&quot;}],&quot;isLocked&quot;:false,&quot;parent&quot;:{&quot;type&quot;:&quot;CHILD&quot;,&quot;parentId&quot;:&quot;bbf6a7a8-a71e-4190-8aec-145389e8f7b1&quot;,&quot;order&quot;:&quot;1&quot;}},&quot;1032ef6e-676d-4501-802c-dc3aae0b037e&quot;:{&quot;type&quot;:&quot;FIGURE_OBJECT&quot;,&quot;id&quot;:&quot;1032ef6e-676d-4501-802c-dc3aae0b037e&quot;,&quot;relativeTransform&quot;:{&quot;translate&quot;:{&quot;x&quot;:-77.19242003029792,&quot;y&quot;:-0.07065366678880541},&quot;rotate&quot;:0},&quot;opacity&quot;:1,&quot;path&quot;:{&quot;type&quot;:&quot;POLY_LINE&quot;,&quot;points&quot;:[{&quot;x&quot;:-40.704817736061145,&quot;y&quot;:67.4652829615672},{&quot;x&quot;:32.70481773606115,&quot;y&quot;:-40.46528296156719}],&quot;closed&quot;:false},&quot;pathStyles&quot;:[{&quot;type&quot;:&quot;FILL&quot;,&quot;fillStyle&quot;:&quot;rgba(0,0,0,0)&quot;},{&quot;type&quot;:&quot;STROKE&quot;,&quot;strokeStyle&quot;:{&quot;units&quot;:&quot;PATH_LENGTH&quot;,&quot;stops&quot;:{&quot;0&quot;:&quot;#23232300&quot;,&quot;1&quot;:&quot;#232323&quot;,&quot;0.45&quot;:&quot;#232323&quot;}},&quot;lineWidth&quot;:1.6629568340370073,&quot;lineJoin&quot;:&quot;round&quot;}],&quot;isLocked&quot;:false,&quot;parent&quot;:{&quot;type&quot;:&quot;CHILD&quot;,&quot;parentId&quot;:&quot;ffbd5d56-836d-4563-ae5a-e31aef9c05ef&quot;,&quot;order&quot;:&quot;2&quot;}},&quot;7b6c973c-a11f-4a8e-84f9-b31cda801395&quot;:{&quot;type&quot;:&quot;FIGURE_OBJECT&quot;,&quot;id&quot;:&quot;7b6c973c-a11f-4a8e-84f9-b31cda801395&quot;,&quot;relativeTransform&quot;:{&quot;translate&quot;:{&quot;x&quot;:-54.46534329845883,&quot;y&quot;:56.46987869046946},&quot;rotate&quot;:0},&quot;opacity&quot;:1,&quot;path&quot;:{&quot;type&quot;:&quot;POLY_LINE&quot;,&quot;points&quot;:[{&quot;x&quot;:-64.43189446790026,&quot;y&quot;:16.075249395691074},{&quot;x&quot;:55.43189446790026,&quot;y&quot;:16.075249395691074}],&quot;closed&quot;:false},&quot;pathStyles&quot;:[{&quot;type&quot;:&quot;FILL&quot;,&quot;fillStyle&quot;:&quot;rgba(0,0,0,0)&quot;},{&quot;type&quot;:&quot;STROKE&quot;,&quot;strokeStyle&quot;:{&quot;units&quot;:&quot;PATH_LENGTH&quot;,&quot;stops&quot;:{&quot;0&quot;:&quot;#23232300&quot;,&quot;1&quot;:&quot;#232323&quot;,&quot;0.45&quot;:&quot;#232323&quot;}},&quot;lineWidth&quot;:1.6629568340370073,&quot;lineJoin&quot;:&quot;round&quot;}],&quot;isLocked&quot;:false,&quot;parent&quot;:{&quot;type&quot;:&quot;CHILD&quot;,&quot;parentId&quot;:&quot;ffbd5d56-836d-4563-ae5a-e31aef9c05ef&quot;,&quot;order&quot;:&quot;5&quot;}},&quot;a7725469-57a1-48b8-816b-b5b8e04c1f05&quot;:{&quot;type&quot;:&quot;FIGURE_OBJECT&quot;,&quot;id&quot;:&quot;a7725469-57a1-48b8-816b-b5b8e04c1f05&quot;,&quot;relativeTransform&quot;:{&quot;translate&quot;:{&quot;x&quot;:18.086798755195588,&quot;y&quot;:-6.301876790973922e-14},&quot;rotate&quot;:0.2700161367257839,&quot;skewX&quot;:-3.54876551147056e-17},&quot;opacity&quot;:1,&quot;path&quot;:{&quot;type&quot;:&quot;ELLIPSE&quot;,&quot;size&quot;:{&quot;x&quot;:148.91143563347035,&quot;y&quot;:148.91143563347043}},&quot;pathStyles&quot;:[{&quot;type&quot;:&quot;FILL&quot;,&quot;fillStyle&quot;:&quot;rgb(243, 241, 248)&quot;},{&quot;type&quot;:&quot;STROKE&quot;,&quot;strokeStyle&quot;:&quot;rgba(23,23,23,1)&quot;,&quot;lineWidth&quot;:1.6629568340370073,&quot;lineJoin&quot;:&quot;round&quot;}],&quot;isLocked&quot;:false,&quot;parent&quot;:{&quot;type&quot;:&quot;CHILD&quot;,&quot;parentId&quot;:&quot;ffbd5d56-836d-4563-ae5a-e31aef9c05ef&quot;,&quot;order&quot;:&quot;7&quot;}},&quot;0095673b-7530-4120-be36-b9b7410e3aff&quot;:{&quot;type&quot;:&quot;FIGURE_OBJECT&quot;,&quot;id&quot;:&quot;0095673b-7530-4120-be36-b9b7410e3aff&quot;,&quot;name&quot;:&quot;Pacman&quot;,&quot;relativeTransform&quot;:{&quot;translate&quot;:{&quot;x&quot;:-1449.6031868351533,&quot;y&quot;:-181.85161795362447},&quot;rotate&quot;:-2.443460952792062e-16,&quot;skewX&quot;:0,&quot;scale&quot;:{&quot;x&quot;:0.16075249395691069,&quot;y&quot;:0.16075249395691069}},&quot;opacity&quot;:1,&quot;image&quot;:{&quot;url&quot;:&quot;https://icons.biorender.com/biorender/5ee3de774e18d300285a554f/pacman.png&quot;,&quot;fallbackUrl&quot;:&quot;https://res.cloudinary.com/dlcjuc3ej/image/upload/v1591991919/v0oy3c2k9vd68pxovdyp.svg#/keystone/api/icons/5ee3de774e18d300285a554f/pacman.svg&quot;,&quot;size&quot;:{&quot;x&quot;:200,&quot;y&quot;:200},&quot;isPremium&quot;:false,&quot;isPacked&quot;:true},&quot;source&quot;:{&quot;id&quot;:&quot;5be5f1ed7664d21200a3f9dc&quot;,&quot;type&quot;:&quot;ASSETS&quot;},&quot;pathStyles&quot;:[{&quot;type&quot;:&quot;FILL&quot;,&quot;fillStyle&quot;:&quot;rgb(0,0,0)&quot;}],&quot;isLocked&quot;:false,&quot;parent&quot;:{&quot;type&quot;:&quot;CHILD&quot;,&quot;parentId&quot;:&quot;bbf6a7a8-a71e-4190-8aec-145389e8f7b1&quot;,&quot;order&quot;:&quot;2&quot;}},&quot;37b07621-0e34-4e43-8595-c2bb583259d5&quot;:{&quot;type&quot;:&quot;FIGURE_OBJECT&quot;,&quot;id&quot;:&quot;37b07621-0e34-4e43-8595-c2bb583259d5&quot;,&quot;name&quot;:&quot;Pacman&quot;,&quot;relativeTransform&quot;:{&quot;translate&quot;:{&quot;x&quot;:-1384.1436932593756,&quot;y&quot;:-160.9162564517369},&quot;rotate&quot;:1.8412412958234115,&quot;skewX&quot;:0,&quot;scale&quot;:{&quot;x&quot;:0.16075249395691066,&quot;y&quot;:0.16075249395691074}},&quot;opacity&quot;:1,&quot;image&quot;:{&quot;url&quot;:&quot;https://icons.biorender.com/biorender/5ee3de774e18d300285a554f/pacman.png&quot;,&quot;fallbackUrl&quot;:&quot;https://res.cloudinary.com/dlcjuc3ej/image/upload/v1591991919/v0oy3c2k9vd68pxovdyp.svg#/keystone/api/icons/5ee3de774e18d300285a554f/pacman.svg&quot;,&quot;size&quot;:{&quot;x&quot;:200,&quot;y&quot;:200},&quot;isPremium&quot;:false,&quot;isPacked&quot;:true},&quot;source&quot;:{&quot;id&quot;:&quot;5be5f1ed7664d21200a3f9dc&quot;,&quot;type&quot;:&quot;ASSETS&quot;},&quot;pathStyles&quot;:[{&quot;type&quot;:&quot;FILL&quot;,&quot;fillStyle&quot;:&quot;rgb(0,0,0)&quot;}],&quot;isLocked&quot;:false,&quot;parent&quot;:{&quot;type&quot;:&quot;CHILD&quot;,&quot;parentId&quot;:&quot;bbf6a7a8-a71e-4190-8aec-145389e8f7b1&quot;,&quot;order&quot;:&quot;3&quot;}},&quot;8a4b96e4-b64f-4b7a-bccd-679d9543f114&quot;:{&quot;type&quot;:&quot;FIGURE_OBJECT&quot;,&quot;id&quot;:&quot;8a4b96e4-b64f-4b7a-bccd-679d9543f114&quot;,&quot;name&quot;:&quot;Pacman&quot;,&quot;relativeTransform&quot;:{&quot;translate&quot;:{&quot;x&quot;:-1403.7304056033215,&quot;y&quot;:-99.43063126965266},&quot;rotate&quot;:0.46969401943335204,&quot;skewX&quot;:-3.356485855275665e-16,&quot;scale&quot;:{&quot;x&quot;:0.16075249395691066,&quot;y&quot;:0.16075249395691063}},&quot;opacity&quot;:1,&quot;image&quot;:{&quot;url&quot;:&quot;https://icons.biorender.com/biorender/5ee3de774e18d300285a554f/pacman.png&quot;,&quot;fallbackUrl&quot;:&quot;https://res.cloudinary.com/dlcjuc3ej/image/upload/v1591991919/v0oy3c2k9vd68pxovdyp.svg#/keystone/api/icons/5ee3de774e18d300285a554f/pacman.svg&quot;,&quot;size&quot;:{&quot;x&quot;:200,&quot;y&quot;:200},&quot;isPremium&quot;:false,&quot;isPacked&quot;:true},&quot;source&quot;:{&quot;id&quot;:&quot;5be5f1ed7664d21200a3f9dc&quot;,&quot;type&quot;:&quot;ASSETS&quot;},&quot;pathStyles&quot;:[{&quot;type&quot;:&quot;FILL&quot;,&quot;fillStyle&quot;:&quot;rgb(0,0,0)&quot;}],&quot;isLocked&quot;:false,&quot;parent&quot;:{&quot;type&quot;:&quot;CHILD&quot;,&quot;parentId&quot;:&quot;bbf6a7a8-a71e-4190-8aec-145389e8f7b1&quot;,&quot;order&quot;:&quot;5&quot;}},&quot;efc265d3-f0c3-4ef6-b3c7-4df4bddce3d0&quot;:{&quot;type&quot;:&quot;FIGURE_OBJECT&quot;,&quot;id&quot;:&quot;efc265d3-f0c3-4ef6-b3c7-4df4bddce3d0&quot;,&quot;name&quot;:&quot;Pacman&quot;,&quot;relativeTransform&quot;:{&quot;translate&quot;:{&quot;x&quot;:-1448.9714992183603,&quot;y&quot;:-110.02726730614933},&quot;rotate&quot;:-1.0337425351013334,&quot;skewX&quot;:1.1832875778473496e-15,&quot;scale&quot;:{&quot;x&quot;:0.13805166579614755,&quot;y&quot;:0.1380516657961475}},&quot;opacity&quot;:0.5,&quot;image&quot;:{&quot;url&quot;:&quot;https://icons.biorender.com/biorender/5ee3de774e18d300285a5551/pacman.png&quot;,&quot;fallbackUrl&quot;:&quot;https://res.cloudinary.com/dlcjuc3ej/image/upload/v1591991919/ugeyzt2gzkjfdzzjio1r.svg#/keystone/api/icons/5ee3de774e18d300285a5551/pacman.svg&quot;,&quot;size&quot;:{&quot;x&quot;:200,&quot;y&quot;:200},&quot;isPremium&quot;:false,&quot;isPacked&quot;:true},&quot;source&quot;:{&quot;id&quot;:&quot;5be5f1ed7664d21200a3f9dc&quot;,&quot;type&quot;:&quot;ASSETS&quot;},&quot;pathStyles&quot;:[{&quot;type&quot;:&quot;FILL&quot;,&quot;fillStyle&quot;:&quot;rgb(0,0,0)&quot;}],&quot;isLocked&quot;:false,&quot;parent&quot;:{&quot;type&quot;:&quot;CHILD&quot;,&quot;parentId&quot;:&quot;bbf6a7a8-a71e-4190-8aec-145389e8f7b1&quot;,&quot;order&quot;:&quot;55&quot;}},&quot;c34482cd-e9e9-4e81-b5ac-5a9d8fe88448&quot;:{&quot;type&quot;:&quot;FIGURE_OBJECT&quot;,&quot;id&quot;:&quot;c34482cd-e9e9-4e81-b5ac-5a9d8fe88448&quot;,&quot;relativeTransform&quot;:{&quot;translate&quot;:{&quot;x&quot;:-1397.7687241837564,&quot;y&quot;:-197.0676023117558},&quot;rotate&quot;:0},&quot;opacity&quot;:0.5,&quot;path&quot;:{&quot;type&quot;:&quot;ELLIPSE&quot;,&quot;size&quot;:{&quot;x&quot;:16.952339705314383,&quot;y&quot;:16.952339705314383}},&quot;pathStyles&quot;:[{&quot;type&quot;:&quot;FILL&quot;,&quot;fillStyle&quot;:&quot;rgba(41, 131, 177, 1)&quot;},{&quot;type&quot;:&quot;STROKE&quot;,&quot;strokeStyle&quot;:&quot;rgba(19, 64, 86, 1)&quot;,&quot;lineWidth&quot;:1.1568981891075552,&quot;lineJoin&quot;:&quot;round&quot;}],&quot;isLocked&quot;:false,&quot;parent&quot;:{&quot;type&quot;:&quot;CHILD&quot;,&quot;parentId&quot;:&quot;bbf6a7a8-a71e-4190-8aec-145389e8f7b1&quot;,&quot;order&quot;:&quot;6&quot;}},&quot;6e91de12-b701-4c52-afb6-40f32c26cc22&quot;:{&quot;type&quot;:&quot;FIGURE_OBJECT&quot;,&quot;id&quot;:&quot;6e91de12-b701-4c52-afb6-40f32c26cc22&quot;,&quot;relativeTransform&quot;:{&quot;translate&quot;:{&quot;x&quot;:-1356.9154179609138,&quot;y&quot;:-130.09589605352812},&quot;rotate&quot;:0},&quot;opacity&quot;:0.5,&quot;path&quot;:{&quot;type&quot;:&quot;ELLIPSE&quot;,&quot;size&quot;:{&quot;x&quot;:16.952339705314383,&quot;y&quot;:16.952339705314383}},&quot;pathStyles&quot;:[{&quot;type&quot;:&quot;FILL&quot;,&quot;fillStyle&quot;:&quot;rgba(41, 131, 177, 1)&quot;},{&quot;type&quot;:&quot;STROKE&quot;,&quot;strokeStyle&quot;:&quot;rgba(19, 64, 86, 1)&quot;,&quot;lineWidth&quot;:1.1568981891075552,&quot;lineJoin&quot;:&quot;round&quot;}],&quot;isLocked&quot;:false,&quot;parent&quot;:{&quot;type&quot;:&quot;CHILD&quot;,&quot;parentId&quot;:&quot;bbf6a7a8-a71e-4190-8aec-145389e8f7b1&quot;,&quot;order&quot;:&quot;7&quot;}},&quot;01e41aa6-8f12-4ccc-9e03-4f263b873424&quot;:{&quot;type&quot;:&quot;FIGURE_OBJECT&quot;,&quot;id&quot;:&quot;01e41aa6-8f12-4ccc-9e03-4f263b873424&quot;,&quot;relativeTransform&quot;:{&quot;translate&quot;:{&quot;x&quot;:-1427.456202889809,&quot;y&quot;:-145.37474259660902},&quot;rotate&quot;:0},&quot;opacity&quot;:0.5,&quot;path&quot;:{&quot;type&quot;:&quot;ELLIPSE&quot;,&quot;size&quot;:{&quot;x&quot;:22.12449748741055,&quot;y&quot;:22.12449748741055}},&quot;pathStyles&quot;:[{&quot;type&quot;:&quot;FILL&quot;,&quot;fillStyle&quot;:&quot;rgba(216,134,81,1)&quot;},{&quot;type&quot;:&quot;STROKE&quot;,&quot;strokeStyle&quot;:&quot;rgba(114, 54, 29, 1)&quot;,&quot;lineWidth&quot;:1.1568981891075552,&quot;lineJoin&quot;:&quot;round&quot;}],&quot;isLocked&quot;:false,&quot;parent&quot;:{&quot;type&quot;:&quot;CHILD&quot;,&quot;parentId&quot;:&quot;bbf6a7a8-a71e-4190-8aec-145389e8f7b1&quot;,&quot;order&quot;:&quot;8&quot;}},&quot;892c54e1-5de8-4cd2-83f9-0fd7c5fcbce3&quot;:{&quot;type&quot;:&quot;FIGURE_OBJECT&quot;,&quot;id&quot;:&quot;892c54e1-5de8-4cd2-83f9-0fd7c5fcbce3&quot;,&quot;parent&quot;:{&quot;type&quot;:&quot;CHILD&quot;,&quot;parentId&quot;:&quot;9d9c2a76-025a-43b0-a169-141973da405f&quot;,&quot;order&quot;:&quot;2&quot;},&quot;relativeTransform&quot;:{}},&quot;9d9c2a76-025a-43b0-a169-141973da405f&quot;:{&quot;type&quot;:&quot;FIGURE_OBJECT&quot;,&quot;id&quot;:&quot;9d9c2a76-025a-43b0-a169-141973da405f&quot;,&quot;parent&quot;:{&quot;type&quot;:&quot;CHILD&quot;,&quot;parentId&quot;:&quot;69ed8831-b396-4d9a-ba73-58696945131d&quot;,&quot;order&quot;:&quot;7&quot;},&quot;relativeTransform&quot;:{}},&quot;69ed8831-b396-4d9a-ba73-58696945131d&quot;:{&quot;id&quot;:&quot;69ed8831-b396-4d9a-ba73-58696945131d&quot;,&quot;type&quot;:&quot;FIGURE_OBJECT&quot;,&quot;document&quot;:{&quot;type&quot;:&quot;FIGURE&quot;,&quot;canvasType&quot;:&quot;FIGURE&quot;,&quot;units&quot;:&quot;in&quot;,&quot;aspectRatio&quot;:1.7777777777777777},&quot;parent&quot;:{&quot;parentId&quot;:&quot;83a18aa3-a29c-4826-b77a-2a391c717e6e&quot;,&quot;type&quot;:&quot;DOCUMENT&quot;,&quot;order&quot;:&quot;5&quot;},&quot;layout&quot;:{&quot;sizeRatio&quot;:{&quot;x&quot;:0.88,&quot;y&quot;:0.88},&quot;keepAspectRatio&quot;:false}},&quot;83a18aa3-a29c-4826-b77a-2a391c717e6e&quot;:{&quot;id&quot;:&quot;83a18aa3-a29c-4826-b77a-2a391c717e6e&quot;,&quot;type&quot;:&quot;FIGURE_OBJECT&quot;,&quot;document&quot;:{&quot;type&quot;:&quot;DOCUMENT_GROUP&quot;,&quot;canvasType&quot;:&quot;SLIDE&quot;,&quot;units&quot;:&quot;in&quot;}}}}"/>
</p:tagLst>
</file>

<file path=ppt/tags/tag3.xml><?xml version="1.0" encoding="utf-8"?>
<p:tagLst xmlns:a="http://schemas.openxmlformats.org/drawingml/2006/main" xmlns:r="http://schemas.openxmlformats.org/officeDocument/2006/relationships" xmlns:p="http://schemas.openxmlformats.org/presentationml/2006/main">
  <p:tag name="ID" val="68cb7ce0f2a9ea778a2c353b"/>
  <p:tag name="FIGURESLIDEID" val="69ed8831-b396-4d9a-ba73-58696945131d"/>
  <p:tag name="SELECTIONIDS" val="b095f095-8972-4b18-9ba1-490385f2157f"/>
  <p:tag name="TRANSPARENTBACKGROUND" val="true"/>
  <p:tag name="VERSION" val="1758194749196"/>
  <p:tag name="TITLE" val="FGR talk"/>
  <p:tag name="CREATORNAME" val="Harry Rober"/>
  <p:tag name="DATEINSERTED" val="1758194749434"/>
  <p:tag name="DPI" val="300"/>
  <p:tag name="BIOJSON" val="{&quot;id&quot;:&quot;83a18aa3-a29c-4826-b77a-2a391c717e6e&quot;,&quot;objects&quot;:{&quot;a14a4050-b190-4bc4-81a6-5ffbe4b780e8&quot;:{&quot;id&quot;:&quot;a14a4050-b190-4bc4-81a6-5ffbe4b780e8&quot;,&quot;name&quot;:&quot;image.png&quot;,&quot;type&quot;:&quot;FIGURE_OBJECT&quot;,&quot;relativeTransform&quot;:{&quot;translate&quot;:{&quot;x&quot;:10.567136811747133,&quot;y&quot;:29.262842911323794},&quot;rotate&quot;:0,&quot;skewX&quot;:0,&quot;scale&quot;:{&quot;x&quot;:1.688402433393265,&quot;y&quot;:1.6884024333932652}},&quot;image&quot;:{&quot;url&quot;:&quot;https://core.services.biorender.com/api/uploads/noredirect/68cb8a74130deaa8695fdcfa/1758169716993_c6cf7d3c-8961-4eb7-9148-1c935413cb2c_icon.png&quot;,&quot;isPremium&quot;:false,&quot;isSignedURL&quot;:true,&quot;size&quot;:{&quot;x&quot;:300,&quot;y&quot;:200}},&quot;source&quot;:{&quot;id&quot;:&quot;68cb8a74130deaa8695fdcfa&quot;,&quot;type&quot;:&quot;UPLOADS&quot;},&quot;isPremium&quot;:false,&quot;parent&quot;:{&quot;type&quot;:&quot;CHILD&quot;,&quot;parentId&quot;:&quot;b095f095-8972-4b18-9ba1-490385f2157f&quot;,&quot;order&quot;:&quot;5&quot;}},&quot;b095f095-8972-4b18-9ba1-490385f2157f&quot;:{&quot;type&quot;:&quot;FIGURE_OBJECT&quot;,&quot;id&quot;:&quot;b095f095-8972-4b18-9ba1-490385f2157f&quot;,&quot;parent&quot;:{&quot;type&quot;:&quot;CHILD&quot;,&quot;parentId&quot;:&quot;69ed8831-b396-4d9a-ba73-58696945131d&quot;,&quot;order&quot;:&quot;9&quot;},&quot;relativeTransform&quot;:{&quot;translate&quot;:{&quot;x&quot;:175.99547617511894,&quot;y&quot;:-68.25320334071418},&quot;rotate&quot;:0,&quot;skewX&quot;:0,&quot;scale&quot;:{&quot;x&quot;:1,&quot;y&quot;:1}}},&quot;3e0136fc-fc76-4e29-83f8-a570fbcf6b6d&quot;:{&quot;type&quot;:&quot;FIGURE_OBJECT&quot;,&quot;id&quot;:&quot;3e0136fc-fc76-4e29-83f8-a570fbcf6b6d&quot;,&quot;parent&quot;:{&quot;type&quot;:&quot;CROP&quot;,&quot;parentId&quot;:&quot;b095f095-8972-4b18-9ba1-490385f2157f&quot;,&quot;order&quot;:&quot;5&quot;},&quot;relativeTransform&quot;:{&quot;translate&quot;:{&quot;x&quot;:10.567136811747133,&quot;y&quot;:11.075172428804255},&quot;rotate&quot;:0,&quot;skewX&quot;:0,&quot;scale&quot;:{&quot;x&quot;:253.26036500898974,&quot;y&quot;:71.60225087133108}},&quot;path&quot;:{&quot;type&quot;:&quot;RECT&quot;,&quot;size&quot;:{&quot;x&quot;:2,&quot;y&quot;:2}},&quot;pathStyles&quot;:[{&quot;type&quot;:&quot;FILL&quot;,&quot;fillStyle&quot;:&quot;#fff&quot;}],&quot;isFrozen&quot;:true},&quot;69ed8831-b396-4d9a-ba73-58696945131d&quot;:{&quot;id&quot;:&quot;69ed8831-b396-4d9a-ba73-58696945131d&quot;,&quot;type&quot;:&quot;FIGURE_OBJECT&quot;,&quot;document&quot;:{&quot;type&quot;:&quot;FIGURE&quot;,&quot;canvasType&quot;:&quot;FIGURE&quot;,&quot;units&quot;:&quot;in&quot;,&quot;aspectRatio&quot;:1.7777777777777777},&quot;parent&quot;:{&quot;parentId&quot;:&quot;83a18aa3-a29c-4826-b77a-2a391c717e6e&quot;,&quot;type&quot;:&quot;DOCUMENT&quot;,&quot;order&quot;:&quot;5&quot;},&quot;layout&quot;:{&quot;sizeRatio&quot;:{&quot;x&quot;:0.88,&quot;y&quot;:0.88},&quot;keepAspectRatio&quot;:false}},&quot;83a18aa3-a29c-4826-b77a-2a391c717e6e&quot;:{&quot;id&quot;:&quot;83a18aa3-a29c-4826-b77a-2a391c717e6e&quot;,&quot;type&quot;:&quot;FIGURE_OBJECT&quot;,&quot;document&quot;:{&quot;type&quot;:&quot;DOCUMENT_GROUP&quot;,&quot;canvasType&quot;:&quot;SLIDE&quot;,&quot;units&quot;:&quot;in&quot;}}}}"/>
</p:tagLst>
</file>

<file path=ppt/tags/tag4.xml><?xml version="1.0" encoding="utf-8"?>
<p:tagLst xmlns:a="http://schemas.openxmlformats.org/drawingml/2006/main" xmlns:r="http://schemas.openxmlformats.org/officeDocument/2006/relationships" xmlns:p="http://schemas.openxmlformats.org/presentationml/2006/main">
  <p:tag name="ID" val="68cb7ce0f2a9ea778a2c353b"/>
  <p:tag name="FIGURESLIDEID" val="69ed8831-b396-4d9a-ba73-58696945131d"/>
  <p:tag name="SELECTIONIDS" val="40acf081-74ee-4d65-90a2-d2a3a3bba79c"/>
  <p:tag name="TRANSPARENTBACKGROUND" val="true"/>
  <p:tag name="VERSION" val="1758194749196"/>
  <p:tag name="TITLE" val="FGR talk"/>
  <p:tag name="CREATORNAME" val="Harry Rober"/>
  <p:tag name="DATEINSERTED" val="1758194749434"/>
  <p:tag name="DPI" val="300"/>
  <p:tag name="BIOJSON" val="{&quot;id&quot;:&quot;83a18aa3-a29c-4826-b77a-2a391c717e6e&quot;,&quot;objects&quot;:{&quot;40acf081-74ee-4d65-90a2-d2a3a3bba79c&quot;:{&quot;type&quot;:&quot;FIGURE_OBJECT&quot;,&quot;id&quot;:&quot;40acf081-74ee-4d65-90a2-d2a3a3bba79c&quot;,&quot;relativeTransform&quot;:{&quot;translate&quot;:{&quot;x&quot;:50.3796976475274,&quot;y&quot;:-229.71544851613874},&quot;rotate&quot;:0,&quot;skewX&quot;:0,&quot;scale&quot;:{&quot;x&quot;:1,&quot;y&quot;:1}},&quot;opacity&quot;:1,&quot;path&quot;:{&quot;type&quot;:&quot;POLY_LINE&quot;,&quot;points&quot;:[{&quot;x&quot;:-26.109387139551835,&quot;y&quot;:0},{&quot;x&quot;:26.109387139551835,&quot;y&quot;:0}],&quot;closed&quot;:false},&quot;pathStyles&quot;:[{&quot;type&quot;:&quot;FILL&quot;,&quot;fillStyle&quot;:&quot;rgba(0,0,0,0)&quot;},{&quot;type&quot;:&quot;STROKE&quot;,&quot;strokeStyle&quot;:{&quot;units&quot;:&quot;PATH_LENGTH&quot;,&quot;stops&quot;:{&quot;0&quot;:&quot;#23232300&quot;,&quot;1&quot;:&quot;#232323&quot;,&quot;0.45&quot;:&quot;#232323&quot;}},&quot;lineWidth&quot;:3.4069794662428183,&quot;lineJoin&quot;:&quot;round&quot;}],&quot;pathMarkers&quot;:{&quot;markerEnd&quot;:{&quot;type&quot;:&quot;PATH&quot;,&quot;units&quot;:{&quot;type&quot;:&quot;STROKE_WIDTH&quot;,&quot;scale&quot;:0.9},&quot;orient&quot;:{&quot;type&quot;:&quot;CLIPPED_CHORD&quot;},&quot;clipDistance&quot;:4,&quot;name&quot;:&quot;arrow&quot;,&quot;relativeTransform&quot;:{&quot;translate&quot;:{&quot;x&quot;:0,&quot;y&quot;:0},&quot;rotate&quot;:0,&quot;skewX&quot;:0,&quot;scale&quot;:{&quot;x&quot;:1,&quot;y&quot;:1}},&quot;path&quot;:{&quot;type&quot;:&quot;SPLINE&quot;,&quot;spline&quot;:{&quot;points&quot;:[{&quot;x&quot;:0,&quot;y&quot;:0,&quot;isEndPoint&quot;:true},{&quot;x&quot;:-5,&quot;y&quot;:-2.5,&quot;isEndPoint&quot;:true},{&quot;x&quot;:-5,&quot;y&quot;:2.5,&quot;isEndPoint&quot;:true}],&quot;closed&quot;:true}},&quot;pathStyles&quot;:[{&quot;type&quot;:&quot;FILL&quot;,&quot;fillStyle&quot;:&quot;context-stroke-flat&quot;}]}},&quot;isLocked&quot;:false,&quot;parent&quot;:{&quot;type&quot;:&quot;CHILD&quot;,&quot;parentId&quot;:&quot;69ed8831-b396-4d9a-ba73-58696945131d&quot;,&quot;order&quot;:&quot;95&quot;},&quot;connectorInfo&quot;:{&quot;type&quot;:&quot;LINE&quot;,&quot;offset&quot;:{&quot;x&quot;:0,&quot;y&quot;:0},&quot;bending&quot;:0.1,&quot;customized&quot;:false}},&quot;69ed8831-b396-4d9a-ba73-58696945131d&quot;:{&quot;id&quot;:&quot;69ed8831-b396-4d9a-ba73-58696945131d&quot;,&quot;type&quot;:&quot;FIGURE_OBJECT&quot;,&quot;document&quot;:{&quot;type&quot;:&quot;FIGURE&quot;,&quot;canvasType&quot;:&quot;FIGURE&quot;,&quot;units&quot;:&quot;in&quot;,&quot;aspectRatio&quot;:1.7777777777777777},&quot;parent&quot;:{&quot;parentId&quot;:&quot;83a18aa3-a29c-4826-b77a-2a391c717e6e&quot;,&quot;type&quot;:&quot;DOCUMENT&quot;,&quot;order&quot;:&quot;5&quot;},&quot;layout&quot;:{&quot;sizeRatio&quot;:{&quot;x&quot;:0.88,&quot;y&quot;:0.88},&quot;keepAspectRatio&quot;:false}},&quot;83a18aa3-a29c-4826-b77a-2a391c717e6e&quot;:{&quot;id&quot;:&quot;83a18aa3-a29c-4826-b77a-2a391c717e6e&quot;,&quot;type&quot;:&quot;FIGURE_OBJECT&quot;,&quot;document&quot;:{&quot;type&quot;:&quot;DOCUMENT_GROUP&quot;,&quot;canvasType&quot;:&quot;SLIDE&quot;,&quot;units&quot;:&quot;in&quot;}}}}"/>
</p:tagLst>
</file>

<file path=ppt/tags/tag5.xml><?xml version="1.0" encoding="utf-8"?>
<p:tagLst xmlns:a="http://schemas.openxmlformats.org/drawingml/2006/main" xmlns:r="http://schemas.openxmlformats.org/officeDocument/2006/relationships" xmlns:p="http://schemas.openxmlformats.org/presentationml/2006/main">
  <p:tag name="ID" val="68cb7ce0f2a9ea778a2c353b"/>
  <p:tag name="FIGURESLIDEID" val="69ed8831-b396-4d9a-ba73-58696945131d"/>
  <p:tag name="SELECTIONIDS" val="fc8562c4-e250-46d9-9779-46d90eb78891"/>
  <p:tag name="TRANSPARENTBACKGROUND" val="true"/>
  <p:tag name="VERSION" val="1758194749196"/>
  <p:tag name="TITLE" val="FGR talk"/>
  <p:tag name="CREATORNAME" val="Harry Rober"/>
  <p:tag name="DATEINSERTED" val="1758194749434"/>
  <p:tag name="DPI" val="300"/>
  <p:tag name="BIOJSON" val="{&quot;id&quot;:&quot;83a18aa3-a29c-4826-b77a-2a391c717e6e&quot;,&quot;objects&quot;:{&quot;fc8562c4-e250-46d9-9779-46d90eb78891&quot;:{&quot;type&quot;:&quot;FIGURE_OBJECT&quot;,&quot;id&quot;:&quot;fc8562c4-e250-46d9-9779-46d90eb78891&quot;,&quot;relativeTransform&quot;:{&quot;translate&quot;:{&quot;x&quot;:186.5629130422743,&quot;y&quot;:-154.5094049073502},&quot;rotate&quot;:1.5707963267948966,&quot;skewX&quot;:0,&quot;scale&quot;:{&quot;x&quot;:1,&quot;y&quot;:1}},&quot;opacity&quot;:1,&quot;path&quot;:{&quot;type&quot;:&quot;BRACKET&quot;,&quot;size&quot;:{&quot;x&quot;:15.899237509133155,&quot;y&quot;:304.35683231769184},&quot;handleBase&quot;:{&quot;x&quot;:-1,&quot;y&quot;:0},&quot;handleWidth&quot;:14,&quot;cornerRounding&quot;:{&quot;type&quot;:&quot;ARC_LENGTH&quot;,&quot;global&quot;:19.622793047146143,&quot;perNode&quot;:{&quot;3&quot;:0}}},&quot;pathStyles&quot;:[{&quot;type&quot;:&quot;FILL&quot;,&quot;fillStyle&quot;:&quot;rgba(0,0,0,0)&quot;},{&quot;type&quot;:&quot;STROKE&quot;,&quot;strokeStyle&quot;:&quot;#232323&quot;,&quot;lineWidth&quot;:3.4069794662428183,&quot;lineJoin&quot;:&quot;round&quot;}],&quot;isLocked&quot;:false,&quot;parent&quot;:{&quot;type&quot;:&quot;CHILD&quot;,&quot;parentId&quot;:&quot;69ed8831-b396-4d9a-ba73-58696945131d&quot;,&quot;order&quot;:&quot;97&quot;}},&quot;69ed8831-b396-4d9a-ba73-58696945131d&quot;:{&quot;id&quot;:&quot;69ed8831-b396-4d9a-ba73-58696945131d&quot;,&quot;type&quot;:&quot;FIGURE_OBJECT&quot;,&quot;document&quot;:{&quot;type&quot;:&quot;FIGURE&quot;,&quot;canvasType&quot;:&quot;FIGURE&quot;,&quot;units&quot;:&quot;in&quot;,&quot;aspectRatio&quot;:1.7777777777777777},&quot;parent&quot;:{&quot;parentId&quot;:&quot;83a18aa3-a29c-4826-b77a-2a391c717e6e&quot;,&quot;type&quot;:&quot;DOCUMENT&quot;,&quot;order&quot;:&quot;5&quot;},&quot;layout&quot;:{&quot;sizeRatio&quot;:{&quot;x&quot;:0.88,&quot;y&quot;:0.88},&quot;keepAspectRatio&quot;:false}},&quot;83a18aa3-a29c-4826-b77a-2a391c717e6e&quot;:{&quot;id&quot;:&quot;83a18aa3-a29c-4826-b77a-2a391c717e6e&quot;,&quot;type&quot;:&quot;FIGURE_OBJECT&quot;,&quot;document&quot;:{&quot;type&quot;:&quot;DOCUMENT_GROUP&quot;,&quot;canvasType&quot;:&quot;SLIDE&quot;,&quot;units&quot;:&quot;in&quot;}}}}"/>
</p:tagLst>
</file>

<file path=ppt/tags/tag6.xml><?xml version="1.0" encoding="utf-8"?>
<p:tagLst xmlns:a="http://schemas.openxmlformats.org/drawingml/2006/main" xmlns:r="http://schemas.openxmlformats.org/officeDocument/2006/relationships" xmlns:p="http://schemas.openxmlformats.org/presentationml/2006/main">
  <p:tag name="ID" val="68cb7ce0f2a9ea778a2c353b"/>
  <p:tag name="FIGURESLIDEID" val="69ed8831-b396-4d9a-ba73-58696945131d"/>
  <p:tag name="SELECTIONIDS" val="1c277abc-8998-4ba4-ac54-2b710e3b7d19"/>
  <p:tag name="TRANSPARENTBACKGROUND" val="true"/>
  <p:tag name="VERSION" val="1758194749196"/>
  <p:tag name="TITLE" val="FGR talk"/>
  <p:tag name="CREATORNAME" val="Harry Rober"/>
  <p:tag name="DATEINSERTED" val="1758194749434"/>
  <p:tag name="DPI" val="300"/>
  <p:tag name="BIOJSON" val="{&quot;id&quot;:&quot;83a18aa3-a29c-4826-b77a-2a391c717e6e&quot;,&quot;objects&quot;:{&quot;1c277abc-8998-4ba4-ac54-2b710e3b7d19&quot;:{&quot;type&quot;:&quot;FIGURE_OBJECT&quot;,&quot;id&quot;:&quot;1c277abc-8998-4ba4-ac54-2b710e3b7d19&quot;,&quot;relativeTransform&quot;:{&quot;translate&quot;:{&quot;x&quot;:186.56261298686607,&quot;y&quot;:-229.58343574946116},&quot;rotate&quot;:0,&quot;skewX&quot;:0,&quot;scale&quot;:{&quot;x&quot;:1,&quot;y&quot;:1}},&quot;opacity&quot;:1,&quot;path&quot;:{&quot;type&quot;:&quot;RECT&quot;,&quot;size&quot;:{&quot;x&quot;:186.81604073231458,&quot;y&quot;:91.42061567751564},&quot;cornerRounding&quot;:{&quot;type&quot;:&quot;ARC_LENGTH&quot;,&quot;global&quot;:17.838902770132858}},&quot;pathStyles&quot;:[{&quot;type&quot;:&quot;FILL&quot;,&quot;fillStyle&quot;:&quot;rgba(107, 106, 207, 1)&quot;},{&quot;type&quot;:&quot;STROKE&quot;,&quot;strokeStyle&quot;:&quot;rgba(44, 38, 93, 1)&quot;,&quot;lineWidth&quot;:2.2713196441618795,&quot;lineJoin&quot;:&quot;round&quot;}],&quot;isLocked&quot;:false,&quot;parent&quot;:{&quot;type&quot;:&quot;CHILD&quot;,&quot;parentId&quot;:&quot;69ed8831-b396-4d9a-ba73-58696945131d&quot;,&quot;order&quot;:&quot;8&quot;},&quot;layout&quot;:{&quot;sizeRatio&quot;:{&quot;x&quot;:0.88,&quot;y&quot;:0.88},&quot;keepAspectRatio&quot;:false}},&quot;0393e702-3359-4856-b6a6-2038e8d8fa7f&quot;:{&quot;id&quot;:&quot;0393e702-3359-4856-b6a6-2038e8d8fa7f&quot;,&quot;type&quot;:&quot;FIGURE_OBJECT&quot;,&quot;relativeTransform&quot;:{&quot;translate&quot;:{&quot;x&quot;:0,&quot;y&quot;:0},&quot;rotate&quot;:0},&quot;text&quot;:{&quot;textData&quot;:{&quot;lineSpacing&quot;:&quot;normal&quot;,&quot;alignment&quot;:&quot;center&quot;,&quot;verticalAlign&quot;:&quot;TOP&quot;,&quot;lines&quot;:[{&quot;runs&quot;:[{&quot;style&quot;:{&quot;fontFamily&quot;:&quot;Roboto&quot;,&quot;fontSize&quot;:21.198983345510868,&quot;color&quot;:&quot;rgba(255,255,255,1)&quot;,&quot;fontWeight&quot;:&quot;normal&quot;,&quot;fontStyle&quot;:&quot;normal&quot;,&quot;decoration&quot;:&quot;none&quot;},&quot;range&quot;:[0,12]}],&quot;text&quot;:&quot;SomaScan - 7k&quot;},{&quot;runs&quot;:[],&quot;text&quot;:&quot;&quot;,&quot;baseStyle&quot;:{&quot;fontFamily&quot;:&quot;Roboto&quot;,&quot;fontSize&quot;:21.198983345510868,&quot;color&quot;:&quot;black&quot;,&quot;fontWeight&quot;:&quot;normal&quot;,&quot;fontStyle&quot;:&quot;normal&quot;,&quot;decoration&quot;:&quot;none&quot;,&quot;script&quot;:&quot;none&quot;}},{&quot;runs&quot;:[{&quot;style&quot;:{&quot;fontFamily&quot;:&quot;Roboto&quot;,&quot;fontSize&quot;:21.198983345510868,&quot;color&quot;:&quot;rgba(255,255,255,1)&quot;,&quot;fontWeight&quot;:&quot;normal&quot;,&quot;fontStyle&quot;:&quot;normal&quot;,&quot;decoration&quot;:&quot;none&quot;,&quot;script&quot;:&quot;none&quot;},&quot;range&quot;:[0,13]}],&quot;text&quot;:&quot;~7000 proteins&quot;}],&quot;_lastCaretLocation&quot;:{&quot;lineIndex&quot;:2,&quot;runIndex&quot;:-1,&quot;charIndex&quot;:-1,&quot;endOfLine&quot;:true}},&quot;format&quot;:&quot;BETTER_TEXT&quot;,&quot;size&quot;:{&quot;x&quot;:164.39811584443686,&quot;y&quot;:74.953548257342},&quot;targetSize&quot;:{&quot;x&quot;:164.39811584443686,&quot;y&quot;:2}},&quot;parent&quot;:{&quot;type&quot;:&quot;CHILD&quot;,&quot;parentId&quot;:&quot;1c277abc-8998-4ba4-ac54-2b710e3b7d19&quot;,&quot;order&quot;:&quot;5&quot;}},&quot;69ed8831-b396-4d9a-ba73-58696945131d&quot;:{&quot;id&quot;:&quot;69ed8831-b396-4d9a-ba73-58696945131d&quot;,&quot;type&quot;:&quot;FIGURE_OBJECT&quot;,&quot;document&quot;:{&quot;type&quot;:&quot;FIGURE&quot;,&quot;canvasType&quot;:&quot;FIGURE&quot;,&quot;units&quot;:&quot;in&quot;,&quot;aspectRatio&quot;:1.7777777777777777},&quot;parent&quot;:{&quot;parentId&quot;:&quot;83a18aa3-a29c-4826-b77a-2a391c717e6e&quot;,&quot;type&quot;:&quot;DOCUMENT&quot;,&quot;order&quot;:&quot;5&quot;},&quot;layout&quot;:{&quot;sizeRatio&quot;:{&quot;x&quot;:0.88,&quot;y&quot;:0.88},&quot;keepAspectRatio&quot;:false}},&quot;83a18aa3-a29c-4826-b77a-2a391c717e6e&quot;:{&quot;id&quot;:&quot;83a18aa3-a29c-4826-b77a-2a391c717e6e&quot;,&quot;type&quot;:&quot;FIGURE_OBJECT&quot;,&quot;document&quot;:{&quot;type&quot;:&quot;DOCUMENT_GROUP&quot;,&quot;canvasType&quot;:&quot;SLIDE&quot;,&quot;units&quot;:&quot;in&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4820</TotalTime>
  <Words>807</Words>
  <Application>Microsoft Macintosh PowerPoint</Application>
  <PresentationFormat>Custom</PresentationFormat>
  <Paragraphs>49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Aptos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HCA poster</dc:title>
  <cp:lastModifiedBy>Jie Kang</cp:lastModifiedBy>
  <cp:revision>32</cp:revision>
  <dcterms:created xsi:type="dcterms:W3CDTF">2006-08-16T00:00:00Z</dcterms:created>
  <dcterms:modified xsi:type="dcterms:W3CDTF">2025-11-20T12:45:51Z</dcterms:modified>
  <dc:identifier>DAGoDfbV5mE</dc:identifier>
</cp:coreProperties>
</file>