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62"/>
  </p:normalViewPr>
  <p:slideViewPr>
    <p:cSldViewPr snapToGrid="0">
      <p:cViewPr>
        <p:scale>
          <a:sx n="377" d="100"/>
          <a:sy n="377" d="100"/>
        </p:scale>
        <p:origin x="-3512" y="-10136"/>
      </p:cViewPr>
      <p:guideLst/>
    </p:cSldViewPr>
  </p:slideViewPr>
  <p:notesTextViewPr>
    <p:cViewPr>
      <p:scale>
        <a:sx n="60" d="100"/>
        <a:sy n="6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B259F-32C2-E044-B70B-EEA87D2178B2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891BD-3538-994F-A666-56F73B9ECD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633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891BD-3538-994F-A666-56F73B9ECDD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080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95A6-18E8-0727-4A1C-FE18D710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44828-C88A-1C65-450A-A04F1E1A0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5BE5-400A-68E2-28B6-AFA04591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CF19-97A9-91E8-8CE4-C2A1D071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CBA8-7BBC-FDB1-3256-D458A71C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27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F7EE-7534-331B-F0E2-62105F63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A36E-B9EF-DD12-0421-48BB5B0A2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63554-029A-3D9C-E9E0-0845F14C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6B6D-7DFF-B6BC-3C80-26F320DD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5A9C5-08AD-B179-6F5C-713370BE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49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B0DB-9E0A-8E45-AF89-7BB28590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9FAB-B584-ABE9-667F-A9F915E0D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F4E3-D508-DC38-FDA7-CA41F076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A9C8F-CF21-65ED-6B20-823414D3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F916-2193-74AB-8473-3D5E4638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41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6A6E-4088-9AC5-5D74-F43F116B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F314F-6F9F-D52F-5575-9C2A50678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7EEFC-5989-3866-C8CC-3C8F4A08F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805DD-F24E-0EB9-B1EC-96074A76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01D49-F97E-2503-4CDD-573C188F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25A39-6F71-7BB6-C0FA-097F0A94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70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344C-424B-97FA-9119-9BAD8569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463CD-AA3C-4217-469D-7BDCE2E80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898C5-023B-72FB-023F-29A1DBC99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75C9D-5F17-D596-6380-AA308F688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7B47C-386A-3C75-0AA3-42C95055E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73E9F-E8C5-AF9C-99AE-AC9AB5E9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ABFD7-6024-80FD-27B7-A0F8BAF3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24F86-AEC1-E49A-0C9B-D274884F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204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5A12-4BBA-1C0E-59EF-E1FB19CA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03D70-B840-9420-8147-641F514F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04EA1-2FD1-B035-60B4-51D39C78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89D04-3F0D-5AA4-C3B9-543B1CE1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94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F7AE5-4211-06E6-F20B-0F5276BA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559A9-916E-9C08-7CC1-CFCE6111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EE1D-2357-A94A-D720-99ED933E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54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E779-3857-3690-0B5A-E4454544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CEB0-E138-6264-F7CF-574F3687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BC856-F832-46C2-0370-761B6DCD7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169B3-B82E-1BD6-6DA6-ACCF23B5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111A3-9CC1-3D9D-B3D0-2F5BCEA1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944DE-457D-5967-049D-70DD98A3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38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113B-2222-6AEA-6E91-2BECAB27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4FFC9-7836-8D12-FAE2-5BF54FD99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E7151-B263-BF9A-5791-835C6AF3E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878C6-379C-0B96-C17E-0293AA25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8DE48-5037-6358-F38D-3BDCAD85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BDE98-A51A-926D-81D7-57E23DF4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32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FAE8-5452-651E-81FD-618E3DE8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1FB5F-A4BF-3725-0B84-260A8CDE6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6AA30-7257-3BDA-E1F1-D640B42ED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7A99-EC2A-7A6E-88FE-115D3C60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9AE0A-DBE5-5773-5579-B2072278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23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968D8-895E-253B-0938-80E1128AC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F98E4-E28E-DF01-4B4F-D1FDDE3E0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E68F4-97E8-DB62-42E5-066C2284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2581-9FED-0390-1CC8-8FC85BFF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BD8F-018F-D7EE-D413-AB2A71D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852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1267E-BF2F-941D-F258-741236AE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45049-1492-DAF8-964C-FD7A5869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21F80-1E44-0BB5-D7EC-E2B7F07D3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D373D-CE29-8E43-B5C0-5FFAEB860E24}" type="datetimeFigureOut">
              <a:rPr lang="en-AU" smtClean="0"/>
              <a:t>21/11/2025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43886-E71B-3E75-1F29-A18FB43BB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1E3F3-4EEE-0BD8-E777-6F0935642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9B333-F051-F14A-B2D5-6561562014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03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DF84C421-27DE-D132-B3AF-BB45DF789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295" y="561627"/>
            <a:ext cx="3210053" cy="2515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CE3211-CB14-FDFD-F5B8-146F9E21D84B}"/>
              </a:ext>
            </a:extLst>
          </p:cNvPr>
          <p:cNvSpPr/>
          <p:nvPr/>
        </p:nvSpPr>
        <p:spPr>
          <a:xfrm flipV="1">
            <a:off x="10700010" y="-6137"/>
            <a:ext cx="1491990" cy="724946"/>
          </a:xfrm>
          <a:prstGeom prst="rect">
            <a:avLst/>
          </a:prstGeom>
          <a:solidFill>
            <a:srgbClr val="FA4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15" dirty="0">
              <a:solidFill>
                <a:srgbClr val="D220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3E8768-2AAE-44A4-8155-566407EE9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457" y="25677"/>
            <a:ext cx="1281615" cy="6809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F2C4AE8-572A-31A2-F77B-6DF8E79AE8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8" y="3634833"/>
            <a:ext cx="3208152" cy="322316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087403B-B43C-04FC-0B6D-421E36B273B1}"/>
              </a:ext>
            </a:extLst>
          </p:cNvPr>
          <p:cNvSpPr/>
          <p:nvPr/>
        </p:nvSpPr>
        <p:spPr>
          <a:xfrm>
            <a:off x="-1" y="3187778"/>
            <a:ext cx="12192001" cy="387438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Multi-objective optimisation (MOO) framework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4731824-9F4D-ECA3-1D86-E21A98043A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4921" y="3575216"/>
            <a:ext cx="3208151" cy="3205164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2513118-AC16-8D24-7A32-F67E529CFEFB}"/>
              </a:ext>
            </a:extLst>
          </p:cNvPr>
          <p:cNvSpPr/>
          <p:nvPr/>
        </p:nvSpPr>
        <p:spPr>
          <a:xfrm>
            <a:off x="0" y="0"/>
            <a:ext cx="4442791" cy="387438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Biomarker for </a:t>
            </a:r>
            <a:r>
              <a:rPr lang="en-NZ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fetal</a:t>
            </a:r>
            <a:r>
              <a:rPr lang="en-NZ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growth restriction (FGR)</a:t>
            </a:r>
            <a:endParaRPr lang="en-AU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B7F0981A-0175-5380-D569-9415F5BEBA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2805449" y="9128272"/>
            <a:ext cx="883986" cy="23819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2B1E84A-2682-C64D-B9A4-8F78B30E7D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39209"/>
            <a:ext cx="4442791" cy="17995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E688CA8-0113-F1C7-FCEB-054F6F38A6A7}"/>
              </a:ext>
            </a:extLst>
          </p:cNvPr>
          <p:cNvSpPr txBox="1">
            <a:spLocks/>
          </p:cNvSpPr>
          <p:nvPr/>
        </p:nvSpPr>
        <p:spPr>
          <a:xfrm>
            <a:off x="-55018" y="358038"/>
            <a:ext cx="44978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NZ" sz="9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  <a:r>
              <a:rPr lang="en-AU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defRPr/>
            </a:pPr>
            <a:endParaRPr lang="en-AU" sz="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AU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FGR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affects 3–9% of pregnancies in high-income countries and ~25% in low- and middle-income regions (</a:t>
            </a:r>
            <a:r>
              <a:rPr lang="en-AU" sz="900" dirty="0" err="1">
                <a:latin typeface="Arial" panose="020B0604020202020204" pitchFamily="34" charset="0"/>
                <a:cs typeface="Arial" panose="020B0604020202020204" pitchFamily="34" charset="0"/>
              </a:rPr>
              <a:t>Damhuis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 et al., 2021).</a:t>
            </a:r>
            <a:endParaRPr lang="en-NZ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NZ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FGR increases the risk of stillbirth, neonatal complications and long-term disease.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NZ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High-resolution ultrasound can detect FGR but is costly, highlighting the need for better biomarkers to enable timely intervention and reduce harm.</a:t>
            </a:r>
          </a:p>
          <a:p>
            <a:pPr defTabSz="914400">
              <a:defRPr/>
            </a:pPr>
            <a:endParaRPr lang="en-NZ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242F846-481B-A4CF-EA00-EACE9072968D}"/>
              </a:ext>
            </a:extLst>
          </p:cNvPr>
          <p:cNvSpPr/>
          <p:nvPr/>
        </p:nvSpPr>
        <p:spPr>
          <a:xfrm>
            <a:off x="4497810" y="-257"/>
            <a:ext cx="2929836" cy="387438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AU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9B2346E5-22B8-3A08-3F8C-0B78A0A4EB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8663" y="510240"/>
            <a:ext cx="3068982" cy="2617921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32C5B41-4724-1E83-B846-40E00819E168}"/>
              </a:ext>
            </a:extLst>
          </p:cNvPr>
          <p:cNvSpPr/>
          <p:nvPr/>
        </p:nvSpPr>
        <p:spPr>
          <a:xfrm>
            <a:off x="7482663" y="9682"/>
            <a:ext cx="3189837" cy="387438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</a:t>
            </a:r>
            <a:endParaRPr lang="en-AU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C183B12-9BD9-31C9-5919-7995389F80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0009" y="1657738"/>
            <a:ext cx="1484895" cy="1455506"/>
          </a:xfrm>
          <a:prstGeom prst="rect">
            <a:avLst/>
          </a:prstGeom>
        </p:spPr>
      </p:pic>
      <p:pic>
        <p:nvPicPr>
          <p:cNvPr id="75" name="Picture 10" descr="biomarkerPanels hex sticker">
            <a:extLst>
              <a:ext uri="{FF2B5EF4-FFF2-40B4-BE49-F238E27FC236}">
                <a16:creationId xmlns:a16="http://schemas.microsoft.com/office/drawing/2014/main" id="{02FB35D6-FF74-9933-25C4-403FDC954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500" y="793343"/>
            <a:ext cx="665874" cy="72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Melbourne - Wikipedia">
            <a:extLst>
              <a:ext uri="{FF2B5EF4-FFF2-40B4-BE49-F238E27FC236}">
                <a16:creationId xmlns:a16="http://schemas.microsoft.com/office/drawing/2014/main" id="{0C63C416-23CB-1E34-947C-2EC3C498D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6490" y="794913"/>
            <a:ext cx="798414" cy="79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224CF05-34CE-0BB6-535B-95D030837C3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6716" y="793343"/>
            <a:ext cx="15569328" cy="802793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CE6803-9D5B-9ADE-F4FD-A06C9124A9D9}"/>
              </a:ext>
            </a:extLst>
          </p:cNvPr>
          <p:cNvCxnSpPr/>
          <p:nvPr/>
        </p:nvCxnSpPr>
        <p:spPr>
          <a:xfrm>
            <a:off x="6248400" y="4032250"/>
            <a:ext cx="1174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5D476C-3FE8-D7DB-F409-6749B53EBE9D}"/>
              </a:ext>
            </a:extLst>
          </p:cNvPr>
          <p:cNvCxnSpPr/>
          <p:nvPr/>
        </p:nvCxnSpPr>
        <p:spPr>
          <a:xfrm>
            <a:off x="6130925" y="4194175"/>
            <a:ext cx="1174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782545-C71D-78DB-7CC1-8D356C72B1A5}"/>
              </a:ext>
            </a:extLst>
          </p:cNvPr>
          <p:cNvCxnSpPr>
            <a:cxnSpLocks/>
          </p:cNvCxnSpPr>
          <p:nvPr/>
        </p:nvCxnSpPr>
        <p:spPr>
          <a:xfrm>
            <a:off x="5991225" y="4146550"/>
            <a:ext cx="920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C51752-729C-D4C3-8AD0-C14C5F7078AF}"/>
              </a:ext>
            </a:extLst>
          </p:cNvPr>
          <p:cNvCxnSpPr>
            <a:cxnSpLocks/>
          </p:cNvCxnSpPr>
          <p:nvPr/>
        </p:nvCxnSpPr>
        <p:spPr>
          <a:xfrm>
            <a:off x="6184900" y="4264025"/>
            <a:ext cx="215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65B941-C35B-339C-1898-C8EF7625E7DE}"/>
              </a:ext>
            </a:extLst>
          </p:cNvPr>
          <p:cNvCxnSpPr>
            <a:cxnSpLocks/>
          </p:cNvCxnSpPr>
          <p:nvPr/>
        </p:nvCxnSpPr>
        <p:spPr>
          <a:xfrm>
            <a:off x="5934075" y="4365625"/>
            <a:ext cx="31432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8A0F45-606E-38B5-6EC9-73A9341DCD25}"/>
              </a:ext>
            </a:extLst>
          </p:cNvPr>
          <p:cNvCxnSpPr>
            <a:cxnSpLocks/>
          </p:cNvCxnSpPr>
          <p:nvPr/>
        </p:nvCxnSpPr>
        <p:spPr>
          <a:xfrm>
            <a:off x="6248400" y="4324350"/>
            <a:ext cx="9842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E40EB9-9EDB-C624-1ECF-677EBF00D66A}"/>
              </a:ext>
            </a:extLst>
          </p:cNvPr>
          <p:cNvCxnSpPr>
            <a:cxnSpLocks/>
          </p:cNvCxnSpPr>
          <p:nvPr/>
        </p:nvCxnSpPr>
        <p:spPr>
          <a:xfrm>
            <a:off x="5932487" y="4216400"/>
            <a:ext cx="14128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2E59A1-2436-589E-E61C-A0699BCD6C1A}"/>
              </a:ext>
            </a:extLst>
          </p:cNvPr>
          <p:cNvCxnSpPr>
            <a:cxnSpLocks/>
          </p:cNvCxnSpPr>
          <p:nvPr/>
        </p:nvCxnSpPr>
        <p:spPr>
          <a:xfrm>
            <a:off x="5953125" y="4298950"/>
            <a:ext cx="105569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B5BC88-355B-18F9-84FA-2A4A2AC15672}"/>
              </a:ext>
            </a:extLst>
          </p:cNvPr>
          <p:cNvCxnSpPr>
            <a:cxnSpLocks/>
          </p:cNvCxnSpPr>
          <p:nvPr/>
        </p:nvCxnSpPr>
        <p:spPr>
          <a:xfrm>
            <a:off x="5676900" y="4210050"/>
            <a:ext cx="105569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C34529-4034-B259-4972-61CB3AC7EBD1}"/>
              </a:ext>
            </a:extLst>
          </p:cNvPr>
          <p:cNvCxnSpPr>
            <a:cxnSpLocks/>
          </p:cNvCxnSpPr>
          <p:nvPr/>
        </p:nvCxnSpPr>
        <p:spPr>
          <a:xfrm>
            <a:off x="5814218" y="4276725"/>
            <a:ext cx="105569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560047-09E9-58E2-E55E-E60093EF600B}"/>
              </a:ext>
            </a:extLst>
          </p:cNvPr>
          <p:cNvCxnSpPr>
            <a:cxnSpLocks/>
          </p:cNvCxnSpPr>
          <p:nvPr/>
        </p:nvCxnSpPr>
        <p:spPr>
          <a:xfrm>
            <a:off x="5885656" y="4425950"/>
            <a:ext cx="1174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70E12C-EE6D-B374-F00F-96F7FC6D97E0}"/>
              </a:ext>
            </a:extLst>
          </p:cNvPr>
          <p:cNvCxnSpPr>
            <a:cxnSpLocks/>
          </p:cNvCxnSpPr>
          <p:nvPr/>
        </p:nvCxnSpPr>
        <p:spPr>
          <a:xfrm>
            <a:off x="5649515" y="4327525"/>
            <a:ext cx="1174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1029AE-4858-940C-ABFC-386EBA211808}"/>
              </a:ext>
            </a:extLst>
          </p:cNvPr>
          <p:cNvCxnSpPr>
            <a:cxnSpLocks/>
          </p:cNvCxnSpPr>
          <p:nvPr/>
        </p:nvCxnSpPr>
        <p:spPr>
          <a:xfrm>
            <a:off x="5739209" y="4391025"/>
            <a:ext cx="1174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5079D9-CFEB-038D-F758-2E36FD8D108B}"/>
              </a:ext>
            </a:extLst>
          </p:cNvPr>
          <p:cNvCxnSpPr>
            <a:cxnSpLocks/>
          </p:cNvCxnSpPr>
          <p:nvPr/>
        </p:nvCxnSpPr>
        <p:spPr>
          <a:xfrm>
            <a:off x="3559899" y="5984385"/>
            <a:ext cx="48573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244ECF-40F1-E77A-9A98-BDD2349A7F6F}"/>
              </a:ext>
            </a:extLst>
          </p:cNvPr>
          <p:cNvCxnSpPr>
            <a:cxnSpLocks/>
          </p:cNvCxnSpPr>
          <p:nvPr/>
        </p:nvCxnSpPr>
        <p:spPr>
          <a:xfrm>
            <a:off x="4069960" y="5944457"/>
            <a:ext cx="51891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AB6AC8-0AFC-45B8-5343-571604DFD311}"/>
              </a:ext>
            </a:extLst>
          </p:cNvPr>
          <p:cNvCxnSpPr>
            <a:cxnSpLocks/>
          </p:cNvCxnSpPr>
          <p:nvPr/>
        </p:nvCxnSpPr>
        <p:spPr>
          <a:xfrm>
            <a:off x="4069960" y="6042871"/>
            <a:ext cx="127507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549D82E-8D2E-E951-EA78-6D8A6DFF6B8F}"/>
              </a:ext>
            </a:extLst>
          </p:cNvPr>
          <p:cNvCxnSpPr>
            <a:cxnSpLocks/>
          </p:cNvCxnSpPr>
          <p:nvPr/>
        </p:nvCxnSpPr>
        <p:spPr>
          <a:xfrm>
            <a:off x="4097871" y="5766752"/>
            <a:ext cx="177202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539B42-AEAD-726F-FFEB-C359AD2E3D4E}"/>
              </a:ext>
            </a:extLst>
          </p:cNvPr>
          <p:cNvCxnSpPr>
            <a:cxnSpLocks/>
          </p:cNvCxnSpPr>
          <p:nvPr/>
        </p:nvCxnSpPr>
        <p:spPr>
          <a:xfrm>
            <a:off x="3625562" y="5834798"/>
            <a:ext cx="34921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E062DF-4E17-ACB8-0CBE-4E8DF4EBAA01}"/>
              </a:ext>
            </a:extLst>
          </p:cNvPr>
          <p:cNvCxnSpPr>
            <a:cxnSpLocks/>
          </p:cNvCxnSpPr>
          <p:nvPr/>
        </p:nvCxnSpPr>
        <p:spPr>
          <a:xfrm>
            <a:off x="3910485" y="5899470"/>
            <a:ext cx="12182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A2915E6-3A9C-082E-90ED-1D25FDE82A89}"/>
              </a:ext>
            </a:extLst>
          </p:cNvPr>
          <p:cNvCxnSpPr>
            <a:cxnSpLocks/>
          </p:cNvCxnSpPr>
          <p:nvPr/>
        </p:nvCxnSpPr>
        <p:spPr>
          <a:xfrm>
            <a:off x="3954527" y="5770126"/>
            <a:ext cx="12182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10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80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 Kang</dc:creator>
  <cp:lastModifiedBy>Jie Kang</cp:lastModifiedBy>
  <cp:revision>5</cp:revision>
  <dcterms:created xsi:type="dcterms:W3CDTF">2025-11-20T11:26:43Z</dcterms:created>
  <dcterms:modified xsi:type="dcterms:W3CDTF">2025-11-21T04:37:17Z</dcterms:modified>
</cp:coreProperties>
</file>