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97" r:id="rId2"/>
    <p:sldId id="1665" r:id="rId3"/>
    <p:sldId id="1659" r:id="rId4"/>
    <p:sldId id="1663" r:id="rId5"/>
    <p:sldId id="1664" r:id="rId6"/>
    <p:sldId id="1650" r:id="rId7"/>
    <p:sldId id="1666" r:id="rId8"/>
    <p:sldId id="1667" r:id="rId9"/>
    <p:sldId id="1669" r:id="rId10"/>
    <p:sldId id="1653" r:id="rId11"/>
    <p:sldId id="1395" r:id="rId12"/>
    <p:sldId id="1397" r:id="rId13"/>
    <p:sldId id="1654" r:id="rId14"/>
    <p:sldId id="1670" r:id="rId15"/>
    <p:sldId id="1671" r:id="rId16"/>
  </p:sldIdLst>
  <p:sldSz cx="12192000" cy="6858000"/>
  <p:notesSz cx="6858000" cy="9144000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5F31"/>
    <a:srgbClr val="F47523"/>
    <a:srgbClr val="17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19"/>
    <p:restoredTop sz="96327"/>
  </p:normalViewPr>
  <p:slideViewPr>
    <p:cSldViewPr snapToGrid="0" snapToObjects="1">
      <p:cViewPr varScale="1">
        <p:scale>
          <a:sx n="121" d="100"/>
          <a:sy n="121" d="100"/>
        </p:scale>
        <p:origin x="2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E7843-161B-F941-A796-2A1CDC3988B0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6BDAF1-8A82-2B4F-B47A-5C6913F37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381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DE01-ABC0-4249-82DF-C88CB88CD8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72B5-2308-554C-BC1D-E0DEF70FA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683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DE01-ABC0-4249-82DF-C88CB88CD8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72B5-2308-554C-BC1D-E0DEF70FA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95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DE01-ABC0-4249-82DF-C88CB88CD8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72B5-2308-554C-BC1D-E0DEF70FA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836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DE01-ABC0-4249-82DF-C88CB88CD8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72B5-2308-554C-BC1D-E0DEF70FA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09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DE01-ABC0-4249-82DF-C88CB88CD8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72B5-2308-554C-BC1D-E0DEF70FA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20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DE01-ABC0-4249-82DF-C88CB88CD8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72B5-2308-554C-BC1D-E0DEF70FA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269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2B9D67C-39D6-1CF6-4A0E-3E234CB04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DE01-ABC0-4249-82DF-C88CB88CD8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19774E-6CB1-18EA-7464-8A2105EA3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12DDCE3-2621-40D5-0F4E-6D7787BA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72B5-2308-554C-BC1D-E0DEF70FA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45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DE01-ABC0-4249-82DF-C88CB88CD8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72B5-2308-554C-BC1D-E0DEF70FA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00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DE01-ABC0-4249-82DF-C88CB88CD8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72B5-2308-554C-BC1D-E0DEF70FA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8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DE01-ABC0-4249-82DF-C88CB88CD8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72B5-2308-554C-BC1D-E0DEF70FA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8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DE01-ABC0-4249-82DF-C88CB88CD8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72B5-2308-554C-BC1D-E0DEF70FA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26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– Red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PPT Template background file_Re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6095125" y="0"/>
            <a:ext cx="6108800" cy="6872400"/>
          </a:xfrm>
          <a:prstGeom prst="rect">
            <a:avLst/>
          </a:prstGeom>
          <a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</p:pic>
      <p:pic>
        <p:nvPicPr>
          <p:cNvPr id="2" name="Picture 1" descr="269F7152-Edit.jpg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5" r="27248"/>
          <a:stretch/>
        </p:blipFill>
        <p:spPr>
          <a:xfrm>
            <a:off x="6095125" y="-1"/>
            <a:ext cx="6108800" cy="6875925"/>
          </a:xfrm>
          <a:prstGeom prst="rect">
            <a:avLst/>
          </a:prstGeom>
        </p:spPr>
      </p:pic>
      <p:sp>
        <p:nvSpPr>
          <p:cNvPr id="8" name="Title 8"/>
          <p:cNvSpPr>
            <a:spLocks noGrp="1"/>
          </p:cNvSpPr>
          <p:nvPr>
            <p:ph type="title"/>
          </p:nvPr>
        </p:nvSpPr>
        <p:spPr>
          <a:xfrm>
            <a:off x="509179" y="1797599"/>
            <a:ext cx="5265165" cy="1322972"/>
          </a:xfrm>
        </p:spPr>
        <p:txBody>
          <a:bodyPr anchor="t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89255" y="3360968"/>
            <a:ext cx="5285089" cy="852488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5F1823E-8656-4430-9548-C1F6F51C1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60725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fld id="{5803DF25-2226-44C7-9733-69406E130AAA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81131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5DE01-ABC0-4249-82DF-C88CB88CD8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872B5-2308-554C-BC1D-E0DEF70FA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16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45718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11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tags" Target="../tags/tag2.xml"/><Relationship Id="rId16" Type="http://schemas.openxmlformats.org/officeDocument/2006/relationships/image" Target="../media/image1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9.png"/><Relationship Id="rId5" Type="http://schemas.openxmlformats.org/officeDocument/2006/relationships/tags" Target="../tags/tag5.xml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>
          <a:xfrm>
            <a:off x="208824" y="1378767"/>
            <a:ext cx="5695643" cy="1521632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Garamond" panose="02020404030301010803" pitchFamily="18" charset="0"/>
              </a:rPr>
              <a:t>My First Project</a:t>
            </a:r>
            <a:br>
              <a:rPr lang="en-US" sz="4800" b="1" dirty="0">
                <a:latin typeface="Garamond" panose="02020404030301010803" pitchFamily="18" charset="0"/>
              </a:rPr>
            </a:br>
            <a:r>
              <a:rPr lang="en-US" sz="4800" b="1" dirty="0">
                <a:latin typeface="Garamond" panose="02020404030301010803" pitchFamily="18" charset="0"/>
              </a:rPr>
              <a:t>Post PhD!</a:t>
            </a:r>
          </a:p>
        </p:txBody>
      </p:sp>
      <p:sp>
        <p:nvSpPr>
          <p:cNvPr id="16386" name="Text Placeholder 2"/>
          <p:cNvSpPr>
            <a:spLocks noGrp="1"/>
          </p:cNvSpPr>
          <p:nvPr>
            <p:ph type="body" sz="quarter" idx="4294967295"/>
          </p:nvPr>
        </p:nvSpPr>
        <p:spPr bwMode="auto">
          <a:xfrm>
            <a:off x="127268" y="3957601"/>
            <a:ext cx="5858749" cy="1986062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Harry Robertson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Garamond" panose="02020404030301010803" pitchFamily="18" charset="0"/>
              </a:rPr>
              <a:t>Sydney Precision Data Science Centre,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Garamond" panose="02020404030301010803" pitchFamily="18" charset="0"/>
              </a:rPr>
              <a:t>School of Mathematics and Statistics, University of Sydney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399F94-028B-4B6B-AC51-BA92AB8B3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24" y="5459676"/>
            <a:ext cx="3025402" cy="1242168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9FCC7B16-A32D-E577-A2AD-1BFCF31F73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87088" y="5396836"/>
            <a:ext cx="2857121" cy="136784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DD9D4E5-24CC-0D0A-EA4A-0B2760BB94A3}"/>
              </a:ext>
            </a:extLst>
          </p:cNvPr>
          <p:cNvSpPr/>
          <p:nvPr/>
        </p:nvSpPr>
        <p:spPr>
          <a:xfrm>
            <a:off x="3056643" y="5459675"/>
            <a:ext cx="2847823" cy="1242167"/>
          </a:xfrm>
          <a:prstGeom prst="rect">
            <a:avLst/>
          </a:prstGeom>
          <a:solidFill>
            <a:srgbClr val="EC5F3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87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707DA-B1F7-45E8-D0A6-62706FF3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76128F-9681-F818-EE79-A2BB850187CA}"/>
              </a:ext>
            </a:extLst>
          </p:cNvPr>
          <p:cNvSpPr txBox="1"/>
          <p:nvPr/>
        </p:nvSpPr>
        <p:spPr>
          <a:xfrm>
            <a:off x="389039" y="370526"/>
            <a:ext cx="68580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rgbClr val="F47524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Not another transplant talk??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B7D641-BB60-B973-46EC-CE89359CE21A}"/>
              </a:ext>
            </a:extLst>
          </p:cNvPr>
          <p:cNvSpPr/>
          <p:nvPr/>
        </p:nvSpPr>
        <p:spPr>
          <a:xfrm>
            <a:off x="548064" y="1067728"/>
            <a:ext cx="6858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No.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Pregnancy is a complicated process with </a:t>
            </a:r>
            <a:r>
              <a:rPr lang="en-US" sz="2400" dirty="0">
                <a:latin typeface="Garamond" panose="02020404030301010803" pitchFamily="18" charset="0"/>
              </a:rPr>
              <a:t>maternal, placental and fetal factors determine pregnancy outcomes.</a:t>
            </a:r>
            <a:r>
              <a:rPr lang="en-AU" sz="2400" dirty="0">
                <a:latin typeface="Garamond" panose="02020404030301010803" pitchFamily="18" charset="0"/>
              </a:rPr>
              <a:t>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Garamond" panose="02020404030301010803" pitchFamily="18" charset="0"/>
              </a:rPr>
              <a:t>Fetal growth restriction (FGR) affects ~5% of pregnancies.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 dirty="0">
              <a:latin typeface="Garamond" panose="020204040303010108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Garamond" panose="02020404030301010803" pitchFamily="18" charset="0"/>
              </a:rPr>
              <a:t>FGR increases risk of stillbirth, neonatal complications, and long-term disease.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 dirty="0">
              <a:latin typeface="Garamond" panose="020204040303010108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Garamond" panose="02020404030301010803" pitchFamily="18" charset="0"/>
              </a:rPr>
              <a:t>Better biomarkers could guide timely interventions and reduce preventable harm.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864521-E690-4FF7-5E04-D8448ABD8A19}"/>
              </a:ext>
            </a:extLst>
          </p:cNvPr>
          <p:cNvSpPr/>
          <p:nvPr/>
        </p:nvSpPr>
        <p:spPr>
          <a:xfrm>
            <a:off x="10131972" y="5514114"/>
            <a:ext cx="1902374" cy="1242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84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E928D60-6150-3D7D-4480-DA6AD9467908}"/>
              </a:ext>
            </a:extLst>
          </p:cNvPr>
          <p:cNvSpPr/>
          <p:nvPr/>
        </p:nvSpPr>
        <p:spPr>
          <a:xfrm>
            <a:off x="10131972" y="5514114"/>
            <a:ext cx="1902374" cy="1242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4D25D1F-2D85-E3E1-0CF1-0C2FF320C4A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53403" y="302735"/>
            <a:ext cx="1783757" cy="4021933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6B9C8D6E-760B-F31B-3B54-23A1EBAD950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148615" y="145575"/>
            <a:ext cx="5153953" cy="287783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67FD46E1-804C-3010-2179-515B693E0EF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980102" y="677486"/>
            <a:ext cx="2529620" cy="1339343"/>
          </a:xfrm>
          <a:prstGeom prst="rect">
            <a:avLst/>
          </a:prstGeom>
        </p:spPr>
      </p:pic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74EE8E5A-288E-28A3-16BB-3E0338A44AB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121364" y="2576255"/>
            <a:ext cx="6247096" cy="1749346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58851AFF-3BD0-80E1-E884-198CCF9D75C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123458" y="1226450"/>
            <a:ext cx="883986" cy="238192"/>
          </a:xfrm>
          <a:prstGeom prst="rect">
            <a:avLst/>
          </a:prstGeom>
        </p:spPr>
      </p:pic>
      <p:pic>
        <p:nvPicPr>
          <p:cNvPr id="9" name="Image 5" descr="preencoded.png">
            <a:extLst>
              <a:ext uri="{FF2B5EF4-FFF2-40B4-BE49-F238E27FC236}">
                <a16:creationId xmlns:a16="http://schemas.microsoft.com/office/drawing/2014/main" id="{995F4161-F018-8D36-1807-536F64F12CE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6248055" y="2048482"/>
            <a:ext cx="3993722" cy="429527"/>
          </a:xfrm>
          <a:prstGeom prst="rect">
            <a:avLst/>
          </a:prstGeom>
        </p:spPr>
      </p:pic>
      <p:pic>
        <p:nvPicPr>
          <p:cNvPr id="10" name="Image 6" descr="preencoded.png">
            <a:extLst>
              <a:ext uri="{FF2B5EF4-FFF2-40B4-BE49-F238E27FC236}">
                <a16:creationId xmlns:a16="http://schemas.microsoft.com/office/drawing/2014/main" id="{0678F4D1-63F2-9583-65F7-244FA2AB571B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23540" y="4490993"/>
            <a:ext cx="3350464" cy="1843061"/>
          </a:xfrm>
          <a:prstGeom prst="rect">
            <a:avLst/>
          </a:prstGeom>
        </p:spPr>
      </p:pic>
      <p:pic>
        <p:nvPicPr>
          <p:cNvPr id="11" name="Image 7" descr="preencoded.png">
            <a:extLst>
              <a:ext uri="{FF2B5EF4-FFF2-40B4-BE49-F238E27FC236}">
                <a16:creationId xmlns:a16="http://schemas.microsoft.com/office/drawing/2014/main" id="{443E0E34-7800-2DE0-DDD2-7E4783DA60D1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6566597" y="4490993"/>
            <a:ext cx="3350464" cy="184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81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9EE345-E12A-A159-B360-43AA20E29D77}"/>
              </a:ext>
            </a:extLst>
          </p:cNvPr>
          <p:cNvSpPr/>
          <p:nvPr/>
        </p:nvSpPr>
        <p:spPr>
          <a:xfrm>
            <a:off x="10131972" y="5514114"/>
            <a:ext cx="1902374" cy="1242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A9177-0919-EB2F-0CC3-98B972D876E9}"/>
              </a:ext>
            </a:extLst>
          </p:cNvPr>
          <p:cNvSpPr txBox="1"/>
          <p:nvPr/>
        </p:nvSpPr>
        <p:spPr>
          <a:xfrm>
            <a:off x="389039" y="370526"/>
            <a:ext cx="68580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rgbClr val="F47524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Cohort 1 &amp;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CE6E29-8807-2F78-8604-BAABCDC81B3C}"/>
              </a:ext>
            </a:extLst>
          </p:cNvPr>
          <p:cNvSpPr/>
          <p:nvPr/>
        </p:nvSpPr>
        <p:spPr>
          <a:xfrm>
            <a:off x="548066" y="1351506"/>
            <a:ext cx="554793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Collaborator’s data arrived in two batches (1 &amp; 2).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No biological reason for which cohort a sample was assigned to.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Cohort 1 (n = 126), Cohort 2 </a:t>
            </a:r>
          </a:p>
          <a:p>
            <a:r>
              <a:rPr lang="en-AU" sz="2400" dirty="0">
                <a:latin typeface="Garamond" panose="02020404030301010803" pitchFamily="18" charset="0"/>
              </a:rPr>
              <a:t>	(n = 156).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Our goal is to use cohort 1 as discovery and cohort 2 as validation.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824C2F64-3C08-C267-596C-D10EC7D19B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9D779F-B6E7-2758-7D2C-7D0DE805DC97}"/>
              </a:ext>
            </a:extLst>
          </p:cNvPr>
          <p:cNvGrpSpPr/>
          <p:nvPr/>
        </p:nvGrpSpPr>
        <p:grpSpPr>
          <a:xfrm>
            <a:off x="7009979" y="-762000"/>
            <a:ext cx="4792982" cy="7620000"/>
            <a:chOff x="7455705" y="0"/>
            <a:chExt cx="3468379" cy="551411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9EABBCD-F10D-12BC-346A-553DE1457B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55705" y="2469397"/>
              <a:ext cx="3468379" cy="304471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B42E755-8119-C289-A0AC-3622F80A7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55705" y="0"/>
              <a:ext cx="3468379" cy="30447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729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F2A7D-A624-702B-6C11-55BF48E9F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80143E-4C7D-56BB-D033-EFFBD18CEA4E}"/>
              </a:ext>
            </a:extLst>
          </p:cNvPr>
          <p:cNvSpPr txBox="1"/>
          <p:nvPr/>
        </p:nvSpPr>
        <p:spPr>
          <a:xfrm>
            <a:off x="389039" y="370526"/>
            <a:ext cx="68580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rgbClr val="F47524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Transferability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8CA680-1800-200D-1729-1D29684ED9A4}"/>
              </a:ext>
            </a:extLst>
          </p:cNvPr>
          <p:cNvSpPr/>
          <p:nvPr/>
        </p:nvSpPr>
        <p:spPr>
          <a:xfrm>
            <a:off x="548065" y="1351506"/>
            <a:ext cx="491731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Our aim is to develop a transferable classifier on cohort 1.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Let’s compare a t-statistic of each gene across cohorts.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We can see some common features but largely no strong relationship.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CPOP/TOP show that ratios might aid transferability.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2B39DE1-6488-64BC-D883-A2AD4EFEE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6618" y="986079"/>
            <a:ext cx="5956343" cy="480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94F477-09FB-0FF7-37B6-F9659B4E487C}"/>
              </a:ext>
            </a:extLst>
          </p:cNvPr>
          <p:cNvSpPr/>
          <p:nvPr/>
        </p:nvSpPr>
        <p:spPr>
          <a:xfrm>
            <a:off x="10131972" y="5514114"/>
            <a:ext cx="1902374" cy="1242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69CD9DF4-1E1B-8B29-FFB9-94648D7A4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6618" y="1148986"/>
            <a:ext cx="6273867" cy="4057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810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4C8EE-90CB-2DDE-124A-75E2EB566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52C775-106F-8B55-1456-D6C684B0E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659" y="891460"/>
            <a:ext cx="5867400" cy="4991100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297E5095-5AF2-6859-1003-52045A6412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5" r="16862"/>
          <a:stretch>
            <a:fillRect/>
          </a:stretch>
        </p:blipFill>
        <p:spPr bwMode="auto">
          <a:xfrm>
            <a:off x="6350234" y="744341"/>
            <a:ext cx="5497825" cy="4885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3B2230-D834-4C33-0840-D0D04B0BDD6A}"/>
              </a:ext>
            </a:extLst>
          </p:cNvPr>
          <p:cNvSpPr txBox="1"/>
          <p:nvPr/>
        </p:nvSpPr>
        <p:spPr>
          <a:xfrm>
            <a:off x="389039" y="370526"/>
            <a:ext cx="63543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rgbClr val="F47524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Initial feature selection.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1EC4F25-438B-A3F9-EB25-E04C455AB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234" y="678302"/>
            <a:ext cx="5293701" cy="5385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FE674A3-7390-A6FE-6EFC-D3E46A73DC46}"/>
              </a:ext>
            </a:extLst>
          </p:cNvPr>
          <p:cNvSpPr/>
          <p:nvPr/>
        </p:nvSpPr>
        <p:spPr>
          <a:xfrm>
            <a:off x="548065" y="1351506"/>
            <a:ext cx="480170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7000 features is too large for ratios. So, we need initial filters.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BMP-1 is a protein consistently down in FGR across both cohorts.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Grey = t-statistic of all ratios with BMP-1 as the numerator.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Blue = features that would’ve been selected from cohort 1.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2786F5-896B-4BC6-56EF-1F05CCA38A86}"/>
              </a:ext>
            </a:extLst>
          </p:cNvPr>
          <p:cNvSpPr/>
          <p:nvPr/>
        </p:nvSpPr>
        <p:spPr>
          <a:xfrm>
            <a:off x="10131972" y="5514114"/>
            <a:ext cx="1902374" cy="1242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628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2FF73-6156-6E03-BF1F-67CA38C8C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8A68E1-21F6-B06C-8394-DFF53F71542E}"/>
              </a:ext>
            </a:extLst>
          </p:cNvPr>
          <p:cNvSpPr txBox="1"/>
          <p:nvPr/>
        </p:nvSpPr>
        <p:spPr>
          <a:xfrm>
            <a:off x="389039" y="370526"/>
            <a:ext cx="63543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rgbClr val="F47524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Selecting feature for ratio construction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5CC6C2-3086-F8F1-D6EE-0109775FA7B7}"/>
              </a:ext>
            </a:extLst>
          </p:cNvPr>
          <p:cNvSpPr/>
          <p:nvPr/>
        </p:nvSpPr>
        <p:spPr>
          <a:xfrm>
            <a:off x="548065" y="1845492"/>
            <a:ext cx="563715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Taking the top n features and computing the pairwise ratios might miss transferable signal.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AU" sz="2400" dirty="0" err="1">
                <a:latin typeface="Garamond" panose="02020404030301010803" pitchFamily="18" charset="0"/>
              </a:rPr>
              <a:t>Limma</a:t>
            </a:r>
            <a:r>
              <a:rPr lang="en-AU" sz="2400" dirty="0">
                <a:latin typeface="Garamond" panose="02020404030301010803" pitchFamily="18" charset="0"/>
              </a:rPr>
              <a:t> gives us the most changing genes by t-statistic.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Stable genes are defined by low t-statistic, and low SE.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B9D4BA-AAC4-785B-BFBC-D6577C28D58B}"/>
              </a:ext>
            </a:extLst>
          </p:cNvPr>
          <p:cNvSpPr/>
          <p:nvPr/>
        </p:nvSpPr>
        <p:spPr>
          <a:xfrm>
            <a:off x="10131972" y="5514114"/>
            <a:ext cx="1902374" cy="1242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6225AD-B6B6-1077-A14D-ECDEC9CF3A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5" r="16862"/>
          <a:stretch>
            <a:fillRect/>
          </a:stretch>
        </p:blipFill>
        <p:spPr bwMode="auto">
          <a:xfrm>
            <a:off x="6536521" y="923964"/>
            <a:ext cx="5497825" cy="4885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FC3C777F-3661-F1AB-7D2D-6FF25E8E60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32"/>
          <a:stretch>
            <a:fillRect/>
          </a:stretch>
        </p:blipFill>
        <p:spPr bwMode="auto">
          <a:xfrm>
            <a:off x="6408382" y="1199126"/>
            <a:ext cx="5402805" cy="4610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86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CA2D686-3E1D-1F1C-B070-8A998938A100}"/>
              </a:ext>
            </a:extLst>
          </p:cNvPr>
          <p:cNvGrpSpPr/>
          <p:nvPr/>
        </p:nvGrpSpPr>
        <p:grpSpPr>
          <a:xfrm>
            <a:off x="6675694" y="-762000"/>
            <a:ext cx="4792982" cy="7620000"/>
            <a:chOff x="7455705" y="0"/>
            <a:chExt cx="3468379" cy="551411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82363B8-D167-140C-86E4-2FDA9C962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55705" y="2469397"/>
              <a:ext cx="3468379" cy="304471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4F4896E-044E-F1CA-BB66-E9D841F297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55705" y="0"/>
              <a:ext cx="3468379" cy="3044717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E83A626-DD99-C36D-C08C-A761E4AED373}"/>
              </a:ext>
            </a:extLst>
          </p:cNvPr>
          <p:cNvSpPr txBox="1"/>
          <p:nvPr/>
        </p:nvSpPr>
        <p:spPr>
          <a:xfrm>
            <a:off x="389039" y="370526"/>
            <a:ext cx="63543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rgbClr val="F47524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Selecting feature for ratio construction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398F52-65B8-A13F-3622-BFFD4153DF19}"/>
              </a:ext>
            </a:extLst>
          </p:cNvPr>
          <p:cNvSpPr/>
          <p:nvPr/>
        </p:nvSpPr>
        <p:spPr>
          <a:xfrm>
            <a:off x="548065" y="1845492"/>
            <a:ext cx="431822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We can just split cohort 1 by PC1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 CPOP on the two pseudo-cohorts.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Just swap out the feature selection (</a:t>
            </a:r>
            <a:r>
              <a:rPr lang="en-AU" sz="2400" dirty="0" err="1">
                <a:latin typeface="Garamond" panose="02020404030301010803" pitchFamily="18" charset="0"/>
              </a:rPr>
              <a:t>limma</a:t>
            </a:r>
            <a:r>
              <a:rPr lang="en-AU" sz="2400" dirty="0">
                <a:latin typeface="Garamond" panose="02020404030301010803" pitchFamily="18" charset="0"/>
              </a:rPr>
              <a:t>) with this new (</a:t>
            </a:r>
            <a:r>
              <a:rPr lang="en-AU" sz="2400" dirty="0" err="1">
                <a:latin typeface="Garamond" panose="02020404030301010803" pitchFamily="18" charset="0"/>
              </a:rPr>
              <a:t>limma</a:t>
            </a:r>
            <a:r>
              <a:rPr lang="en-AU" sz="2400" dirty="0">
                <a:latin typeface="Garamond" panose="02020404030301010803" pitchFamily="18" charset="0"/>
              </a:rPr>
              <a:t> + stable genes)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CPOP does a ton better. 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04F71F-0CDE-1524-2DA4-B3F140F58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341" y="1697980"/>
            <a:ext cx="5315688" cy="320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83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9D839-B78D-0A17-3AD5-6479AC2C6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6B12CE-7E7A-FC23-CD4F-FCCFF768077E}"/>
              </a:ext>
            </a:extLst>
          </p:cNvPr>
          <p:cNvSpPr txBox="1"/>
          <p:nvPr/>
        </p:nvSpPr>
        <p:spPr>
          <a:xfrm>
            <a:off x="389038" y="474588"/>
            <a:ext cx="716789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rgbClr val="F47524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Multi Objective Optimization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4726E8-10C8-DA24-D85A-EFA38EFA981E}"/>
              </a:ext>
            </a:extLst>
          </p:cNvPr>
          <p:cNvSpPr/>
          <p:nvPr/>
        </p:nvSpPr>
        <p:spPr>
          <a:xfrm>
            <a:off x="10131972" y="5514114"/>
            <a:ext cx="1902374" cy="1242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5277D8-8DE0-5862-65B9-6AE55BA77B01}"/>
              </a:ext>
            </a:extLst>
          </p:cNvPr>
          <p:cNvSpPr/>
          <p:nvPr/>
        </p:nvSpPr>
        <p:spPr>
          <a:xfrm>
            <a:off x="457457" y="1309591"/>
            <a:ext cx="563854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We want biomarkers to have certain characteristics related to their use.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A rule out test like ”could this patient potentially have cancer” should have high sensitivity.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A confirmatory diagnosis like ”HIV diagnosis” should have a high specificity.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But what if we wanted to prioritize something abstract like commercialization??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5703E794-5198-5524-CFE2-B70FE8BFC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092" y="1650231"/>
            <a:ext cx="5821254" cy="421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73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F282D-F213-D58F-0D8A-DEFF9E8E4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ABD104-BFBC-ABCB-8FD5-6C07A240458F}"/>
              </a:ext>
            </a:extLst>
          </p:cNvPr>
          <p:cNvSpPr txBox="1"/>
          <p:nvPr/>
        </p:nvSpPr>
        <p:spPr>
          <a:xfrm>
            <a:off x="389038" y="474588"/>
            <a:ext cx="716789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rgbClr val="F47524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What makes features patentable?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A08FEA-505C-0625-DD88-0C87CF2541DD}"/>
              </a:ext>
            </a:extLst>
          </p:cNvPr>
          <p:cNvSpPr/>
          <p:nvPr/>
        </p:nvSpPr>
        <p:spPr>
          <a:xfrm>
            <a:off x="548064" y="1288129"/>
            <a:ext cx="645182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latin typeface="Garamond" panose="02020404030301010803" pitchFamily="18" charset="0"/>
              </a:rPr>
              <a:t>You tell people how it works; in return you exclude others from using it. </a:t>
            </a:r>
          </a:p>
          <a:p>
            <a:pPr marL="457200" indent="-457200">
              <a:buFont typeface="+mj-lt"/>
              <a:buAutoNum type="arabicPeriod"/>
            </a:pPr>
            <a:endParaRPr lang="en-AU" sz="2400" dirty="0">
              <a:latin typeface="Garamond" panose="02020404030301010803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latin typeface="Garamond" panose="02020404030301010803" pitchFamily="18" charset="0"/>
              </a:rPr>
              <a:t>Novelty – Biomarkers need to have not been disclosed in exact combination before. </a:t>
            </a:r>
          </a:p>
          <a:p>
            <a:pPr marL="457200" indent="-457200">
              <a:buFont typeface="+mj-lt"/>
              <a:buAutoNum type="arabicPeriod"/>
            </a:pPr>
            <a:endParaRPr lang="en-AU" sz="2400" dirty="0">
              <a:latin typeface="Garamond" panose="02020404030301010803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latin typeface="Garamond" panose="02020404030301010803" pitchFamily="18" charset="0"/>
              </a:rPr>
              <a:t>Non-obvious – “Someone skilled in the art” could not come to this conclusion. (</a:t>
            </a:r>
            <a:r>
              <a:rPr lang="en-AU" sz="2400" i="1" dirty="0">
                <a:latin typeface="Garamond" panose="02020404030301010803" pitchFamily="18" charset="0"/>
              </a:rPr>
              <a:t>stops meta-analysis</a:t>
            </a:r>
            <a:r>
              <a:rPr lang="en-AU" sz="2400" dirty="0">
                <a:latin typeface="Garamond" panose="02020404030301010803" pitchFamily="18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AU" sz="2400" dirty="0">
              <a:latin typeface="Garamond" panose="02020404030301010803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latin typeface="Garamond" panose="02020404030301010803" pitchFamily="18" charset="0"/>
              </a:rPr>
              <a:t>Reproducible - “Someone skilled in the art” should be able to verify your claims. (</a:t>
            </a:r>
            <a:r>
              <a:rPr lang="en-AU" sz="2400" i="1" dirty="0">
                <a:latin typeface="Garamond" panose="02020404030301010803" pitchFamily="18" charset="0"/>
              </a:rPr>
              <a:t>stops overreach</a:t>
            </a:r>
            <a:r>
              <a:rPr lang="en-AU" sz="2400" dirty="0">
                <a:latin typeface="Garamond" panose="02020404030301010803" pitchFamily="18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AU" sz="2400" dirty="0">
              <a:latin typeface="Garamond" panose="020204040303010108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2B17FD-E499-3A7F-3B00-5C57A7C69EBB}"/>
              </a:ext>
            </a:extLst>
          </p:cNvPr>
          <p:cNvSpPr/>
          <p:nvPr/>
        </p:nvSpPr>
        <p:spPr>
          <a:xfrm>
            <a:off x="10131972" y="5514114"/>
            <a:ext cx="1902374" cy="1242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2" descr="Wallet Strategy Pt 2: Unusual Dynamics &amp; Role of SSI Wallets">
            <a:extLst>
              <a:ext uri="{FF2B5EF4-FFF2-40B4-BE49-F238E27FC236}">
                <a16:creationId xmlns:a16="http://schemas.microsoft.com/office/drawing/2014/main" id="{A977A35B-85A1-0915-5339-AFF4FD0A4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937" y="1931275"/>
            <a:ext cx="4330262" cy="3247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987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FD9ED5-A214-4BF3-7C04-E5990C1B6A60}"/>
              </a:ext>
            </a:extLst>
          </p:cNvPr>
          <p:cNvSpPr txBox="1"/>
          <p:nvPr/>
        </p:nvSpPr>
        <p:spPr>
          <a:xfrm>
            <a:off x="457458" y="406810"/>
            <a:ext cx="636375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rgbClr val="F47524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Issues with feature selection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348E22-463C-0B6C-3C49-291130DE69E5}"/>
              </a:ext>
            </a:extLst>
          </p:cNvPr>
          <p:cNvSpPr/>
          <p:nvPr/>
        </p:nvSpPr>
        <p:spPr>
          <a:xfrm>
            <a:off x="457457" y="1309591"/>
            <a:ext cx="474516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When trying to patent a set of genes. You need to smallest number (2-5).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If I have a 5 gene panel, but someone uses 4 of those, that is ok.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However, we know that there is a lot of collinearity in expression data. </a:t>
            </a:r>
          </a:p>
          <a:p>
            <a:r>
              <a:rPr lang="en-AU" sz="2400" dirty="0">
                <a:latin typeface="Garamond" panose="02020404030301010803" pitchFamily="18" charset="0"/>
              </a:rPr>
              <a:t>    (CXCL9 </a:t>
            </a:r>
            <a:r>
              <a:rPr lang="en-AU" sz="2400" dirty="0" err="1">
                <a:latin typeface="Garamond" panose="02020404030301010803" pitchFamily="18" charset="0"/>
              </a:rPr>
              <a:t>exprs</a:t>
            </a:r>
            <a:r>
              <a:rPr lang="en-AU" sz="2400" dirty="0">
                <a:latin typeface="Garamond" panose="02020404030301010803" pitchFamily="18" charset="0"/>
              </a:rPr>
              <a:t> = CXCL10 </a:t>
            </a:r>
            <a:r>
              <a:rPr lang="en-AU" sz="2400" dirty="0" err="1">
                <a:latin typeface="Garamond" panose="02020404030301010803" pitchFamily="18" charset="0"/>
              </a:rPr>
              <a:t>exprs</a:t>
            </a:r>
            <a:r>
              <a:rPr lang="en-AU" sz="2400" dirty="0">
                <a:latin typeface="Garamond" panose="02020404030301010803" pitchFamily="18" charset="0"/>
              </a:rPr>
              <a:t>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</p:txBody>
      </p:sp>
      <p:pic>
        <p:nvPicPr>
          <p:cNvPr id="8" name="Picture 7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B73C0DC7-369E-8659-53D2-2DBC9C995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955" y="2989083"/>
            <a:ext cx="4597400" cy="6731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0D0A24A-9D80-FA66-2C92-4A187DD5240F}"/>
              </a:ext>
            </a:extLst>
          </p:cNvPr>
          <p:cNvSpPr/>
          <p:nvPr/>
        </p:nvSpPr>
        <p:spPr>
          <a:xfrm>
            <a:off x="10131972" y="5514114"/>
            <a:ext cx="1902374" cy="1242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3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FCA1E8-E296-1250-22C4-E49CAF8C3197}"/>
              </a:ext>
            </a:extLst>
          </p:cNvPr>
          <p:cNvSpPr txBox="1"/>
          <p:nvPr/>
        </p:nvSpPr>
        <p:spPr>
          <a:xfrm>
            <a:off x="457458" y="406810"/>
            <a:ext cx="6051497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rgbClr val="F47524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So what can we do?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B9E150-4B19-9CED-814D-0631519303C4}"/>
              </a:ext>
            </a:extLst>
          </p:cNvPr>
          <p:cNvSpPr/>
          <p:nvPr/>
        </p:nvSpPr>
        <p:spPr>
          <a:xfrm>
            <a:off x="457457" y="1309591"/>
            <a:ext cx="470293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Current statistical approaches explore what genes are most important to diagnose a condition.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But really, we want to know what genes are </a:t>
            </a:r>
            <a:r>
              <a:rPr lang="en-AU" sz="2400" b="1" dirty="0">
                <a:latin typeface="Garamond" panose="02020404030301010803" pitchFamily="18" charset="0"/>
              </a:rPr>
              <a:t>critical</a:t>
            </a:r>
            <a:r>
              <a:rPr lang="en-AU" sz="2400" dirty="0">
                <a:latin typeface="Garamond" panose="02020404030301010803" pitchFamily="18" charset="0"/>
              </a:rPr>
              <a:t> for model building.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I.e. what gene X is needed to build good models. But if absent, no model can be built.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</p:txBody>
      </p:sp>
      <p:pic>
        <p:nvPicPr>
          <p:cNvPr id="5" name="Picture 4" descr="A screen shot of a graph&#10;&#10;Description automatically generated">
            <a:extLst>
              <a:ext uri="{FF2B5EF4-FFF2-40B4-BE49-F238E27FC236}">
                <a16:creationId xmlns:a16="http://schemas.microsoft.com/office/drawing/2014/main" id="{0721B103-D478-7BC1-3456-677E683DD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955" y="1022363"/>
            <a:ext cx="4827123" cy="4602953"/>
          </a:xfrm>
          <a:prstGeom prst="rect">
            <a:avLst/>
          </a:prstGeom>
        </p:spPr>
      </p:pic>
      <p:pic>
        <p:nvPicPr>
          <p:cNvPr id="7" name="Picture 6" descr="A diagram of a gene model&#10;&#10;Description automatically generated with medium confidence">
            <a:extLst>
              <a:ext uri="{FF2B5EF4-FFF2-40B4-BE49-F238E27FC236}">
                <a16:creationId xmlns:a16="http://schemas.microsoft.com/office/drawing/2014/main" id="{CEF7894E-667E-DB27-0242-80E0120FC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955" y="1022363"/>
            <a:ext cx="4827123" cy="460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902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showing red and grey dots&#10;&#10;Description automatically generated">
            <a:extLst>
              <a:ext uri="{FF2B5EF4-FFF2-40B4-BE49-F238E27FC236}">
                <a16:creationId xmlns:a16="http://schemas.microsoft.com/office/drawing/2014/main" id="{6B11B543-78C5-04C0-00F0-9B9774B47E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16"/>
          <a:stretch>
            <a:fillRect/>
          </a:stretch>
        </p:blipFill>
        <p:spPr>
          <a:xfrm>
            <a:off x="5547434" y="1785115"/>
            <a:ext cx="6550901" cy="33754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A6336A-0982-22DA-6EC2-AB177F5AFBF7}"/>
              </a:ext>
            </a:extLst>
          </p:cNvPr>
          <p:cNvSpPr txBox="1"/>
          <p:nvPr/>
        </p:nvSpPr>
        <p:spPr>
          <a:xfrm>
            <a:off x="457458" y="406810"/>
            <a:ext cx="6051497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rgbClr val="F47524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Critical Features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22F4C-568D-17F6-83DE-D8E927D869F5}"/>
              </a:ext>
            </a:extLst>
          </p:cNvPr>
          <p:cNvSpPr/>
          <p:nvPr/>
        </p:nvSpPr>
        <p:spPr>
          <a:xfrm>
            <a:off x="457457" y="1309591"/>
            <a:ext cx="470293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Current statistical approaches explore what genes are most important to diagnose a condition.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But really, we want to know what genes are </a:t>
            </a:r>
            <a:r>
              <a:rPr lang="en-AU" sz="2400" b="1" dirty="0">
                <a:latin typeface="Garamond" panose="02020404030301010803" pitchFamily="18" charset="0"/>
              </a:rPr>
              <a:t>critical</a:t>
            </a:r>
            <a:r>
              <a:rPr lang="en-AU" sz="2400" dirty="0">
                <a:latin typeface="Garamond" panose="02020404030301010803" pitchFamily="18" charset="0"/>
              </a:rPr>
              <a:t> for model building.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2400" dirty="0">
                <a:latin typeface="Garamond" panose="02020404030301010803" pitchFamily="18" charset="0"/>
              </a:rPr>
              <a:t>I.e. what gene X is needed to build good models. But if absent, no model can be built.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AU" sz="24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74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43DC8-D07D-087C-0306-5E56C5801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E2D532-FFC7-E6FB-C0E2-087623717CC5}"/>
              </a:ext>
            </a:extLst>
          </p:cNvPr>
          <p:cNvSpPr txBox="1"/>
          <p:nvPr/>
        </p:nvSpPr>
        <p:spPr>
          <a:xfrm>
            <a:off x="2667000" y="2813447"/>
            <a:ext cx="68580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000" b="1" dirty="0">
                <a:solidFill>
                  <a:srgbClr val="F47524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More to come soon!!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35ECF3-C29F-6128-22DD-DF902A10E9A9}"/>
              </a:ext>
            </a:extLst>
          </p:cNvPr>
          <p:cNvSpPr/>
          <p:nvPr/>
        </p:nvSpPr>
        <p:spPr>
          <a:xfrm>
            <a:off x="10131972" y="5514114"/>
            <a:ext cx="1902374" cy="1242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994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E2F32-E683-485F-F062-531760281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ABDE9B-F7DB-356F-88D5-F80197B63A5D}"/>
              </a:ext>
            </a:extLst>
          </p:cNvPr>
          <p:cNvSpPr txBox="1"/>
          <p:nvPr/>
        </p:nvSpPr>
        <p:spPr>
          <a:xfrm>
            <a:off x="2667000" y="2813447"/>
            <a:ext cx="68580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000" b="1" dirty="0">
                <a:solidFill>
                  <a:srgbClr val="F47524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Thanks! :)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3F77B4-EFCC-C951-27AA-335FDCB732F9}"/>
              </a:ext>
            </a:extLst>
          </p:cNvPr>
          <p:cNvSpPr/>
          <p:nvPr/>
        </p:nvSpPr>
        <p:spPr>
          <a:xfrm>
            <a:off x="10131972" y="5514114"/>
            <a:ext cx="1902374" cy="1242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84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be689f13-f4b0-411c-863e-2c1a3693a473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be689f13-f4b0-411c-863e-2c1a3693a473&quot;:{&quot;type&quot;:&quot;FIGURE_OBJECT&quot;,&quot;id&quot;:&quot;be689f13-f4b0-411c-863e-2c1a3693a473&quot;,&quot;parent&quot;:{&quot;type&quot;:&quot;CHILD&quot;,&quot;parentId&quot;:&quot;69ed8831-b396-4d9a-ba73-58696945131d&quot;,&quot;order&quot;:&quot;1&quot;},&quot;relativeTransform&quot;:{&quot;translate&quot;:{&quot;x&quot;:1455.8344958267194,&quot;y&quot;:592.8701550342894},&quot;rotate&quot;:0,&quot;skewX&quot;:0,&quot;scale&quot;:{&quot;x&quot;:1,&quot;y&quot;:1}},&quot;opacity&quot;:1},&quot;583df851-6c52-4c94-8fcf-fca956eddb4c&quot;:{&quot;id&quot;:&quot;583df851-6c52-4c94-8fcf-fca956eddb4c&quot;,&quot;name&quot;:&quot;Pregnant mother (trimester 3, long hair)&quot;,&quot;displayName&quot;:&quot;&quot;,&quot;type&quot;:&quot;FIGURE_OBJECT&quot;,&quot;relativeTransform&quot;:{&quot;translate&quot;:{&quot;x&quot;:-1796.3091249237505,&quot;y&quot;:-602.329034494563},&quot;rotate&quot;:0,&quot;skewX&quot;:0,&quot;scale&quot;:{&quot;x&quot;:1.445946226310499,&quot;y&quot;:1.4459462263104985}},&quot;image&quot;:{&quot;url&quot;:&quot;https://icons.biorender.com/biorender/635be44f4bbde20020556827/pregnant-mother-trimester-long-hair-02.png&quot;,&quot;fallbackUrl&quot;:&quot;https://res.cloudinary.com/dlcjuc3ej/image/upload/v1666966605/zkybjd5twm5qkbn2lhkw.svg#/keystone/api/icons/635be44f4bbde20020556827/pregnant-mother-trimester-long-hair-02.svg#/keystone/api/icons/635be44f4bbde20020556827/pregnant-mother-trimester-long-hair-02.svg#/keystone/api/icons/635be44f4bbde20020556827/pregnant-mother-trimester-long-hair-02.svg#/keystone/api/icons/635be44f4bbde20020556827/pregnant-mother-trimester-long-hair-02.svg#/keystone/api/icons/635be44f4bbde20020556827/pregnant-mother-trimester-long-hair-02.svg#/keystone/api/icons/635be44f4bbde20020556827/pregnant-mother-trimester-long-hair-02.svg#/keystone/api/icons/635be44f4bbde20020556827/pregnant-mother-trimester-long-hair-02.svg&quot;,&quot;isPremium&quot;:true,&quot;size&quot;:{&quot;x&quot;:100,&quot;y&quot;:422.85714285714283}},&quot;source&quot;:{&quot;id&quot;:&quot;60119e83a0981600266d6f2d&quot;,&quot;version&quot;:1666966605,&quot;type&quot;:&quot;ASSETS&quot;},&quot;isPremium&quot;:true,&quot;parent&quot;:{&quot;type&quot;:&quot;CHILD&quot;,&quot;parentId&quot;:&quot;be689f13-f4b0-411c-863e-2c1a3693a473&quot;,&quot;order&quot;:&quot;5&quot;},&quot;opacity&quot;:1},&quot;86232c2f-f18d-49d8-b1c5-32f81fc7ad7f&quot;:{&quot;type&quot;:&quot;FIGURE_OBJECT&quot;,&quot;id&quot;:&quot;86232c2f-f18d-49d8-b1c5-32f81fc7ad7f&quot;,&quot;parent&quot;:{&quot;type&quot;:&quot;CROP&quot;,&quot;parentId&quot;:&quot;be689f13-f4b0-411c-863e-2c1a3693a473&quot;,&quot;order&quot;:&quot;5&quot;},&quot;relativeTransform&quot;:{&quot;translate&quot;:{&quot;x&quot;:-1796.3091249237505,&quot;y&quot;:-743.2446329801384},&quot;rotate&quot;:0,&quot;skewX&quot;:0,&quot;scale&quot;:{&quot;x&quot;:72.29731131552477,&quot;y&quot;:164.79874650578694}},&quot;path&quot;:{&quot;type&quot;:&quot;RECT&quot;,&quot;size&quot;:{&quot;x&quot;:2,&quot;y&quot;:2}},&quot;pathStyles&quot;:[{&quot;type&quot;:&quot;FILL&quot;,&quot;fillStyle&quot;:&quot;#fff&quot;}],&quot;isFrozen&quot;:true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9d9c2a76-025a-43b0-a169-141973da405f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8095c7c3-ec4d-4e22-91bf-422c79b95065&quot;:{&quot;type&quot;:&quot;FIGURE_OBJECT&quot;,&quot;id&quot;:&quot;8095c7c3-ec4d-4e22-91bf-422c79b95065&quot;,&quot;relativeTransform&quot;:{&quot;translate&quot;:{&quot;x&quot;:-215.4604654372631,&quot;y&quot;:-184.8476987361821},&quot;rotate&quot;:7.2164496600635185e-16,&quot;skewX&quot;:0,&quot;scale&quot;:{&quot;x&quot;:1,&quot;y&quot;:1}},&quot;opacity&quot;:1,&quot;source&quot;:{&quot;id&quot;:&quot;5dbb01f64ef0b000810d2b55&quot;,&quot;type&quot;:&quot;ASSETS&quot;},&quot;pathStyles&quot;:[{&quot;type&quot;:&quot;FILL&quot;,&quot;fillStyle&quot;:&quot;rgb(0,0,0)&quot;}],&quot;isLocked&quot;:false,&quot;parent&quot;:{&quot;type&quot;:&quot;CHILD&quot;,&quot;parentId&quot;:&quot;892c54e1-5de8-4cd2-83f9-0fd7c5fcbce3&quot;,&quot;order&quot;:&quot;2&quot;}},&quot;88babd93-f180-4f84-877b-62f2810eee33&quot;:{&quot;type&quot;:&quot;FIGURE_OBJECT&quot;,&quot;id&quot;:&quot;88babd93-f180-4f84-877b-62f2810eee33&quot;,&quot;name&quot;:&quot;Blood vial&quot;,&quot;relativeTransform&quot;:{&quot;translate&quot;:{&quot;x&quot;:-7.368844603374475e-15,&quot;y&quot;:13.646871311544547},&quot;rotate&quot;:0,&quot;skewX&quot;:-6.975945255140755e-16,&quot;scale&quot;:{&quot;x&quot;:0.46576273117433364,&quot;y&quot;:0.4657627311743335}},&quot;opacity&quot;:1,&quot;image&quot;:{&quot;url&quot;:&quot;https://icons.biorender.com/biorender/5dbafb87c9e7d80004b85b4e/20191031152119/image/blood-vial.png&quot;,&quot;fallbackUrl&quot;:&quot;https://res.cloudinary.com/dlcjuc3ej/image/upload/v1572535279/avppu598ftqswgf927db.svg#/keystone/api/icons/5dbafb87c9e7d80004b85b4e/20191031152119/image/blood-vial.svg&quot;,&quot;size&quot;:{&quot;x&quot;:65,&quot;y&quot;:239},&quot;isPremium&quot;:false,&quot;isPacked&quot;:true},&quot;source&quot;:{&quot;id&quot;:&quot;5dbafb87c9e7d80004b85b4e&quot;,&quot;type&quot;:&quot;ASSETS&quot;},&quot;pathStyles&quot;:[{&quot;type&quot;:&quot;FILL&quot;,&quot;fillStyle&quot;:&quot;rgb(0,0,0)&quot;}],&quot;isLocked&quot;:false,&quot;parent&quot;:{&quot;type&quot;:&quot;CHILD&quot;,&quot;parentId&quot;:&quot;8095c7c3-ec4d-4e22-91bf-422c79b95065&quot;,&quot;order&quot;:&quot;2&quot;}},&quot;8c197a15-8972-49d1-8fb2-13a9034fbf15&quot;:{&quot;type&quot;:&quot;FIGURE_OBJECT&quot;,&quot;id&quot;:&quot;8c197a15-8972-49d1-8fb2-13a9034fbf15&quot;,&quot;name&quot;:&quot;Blood vial cap&quot;,&quot;relativeTransform&quot;:{&quot;translate&quot;:{&quot;x&quot;:-0.00016662437091414788,&quot;y&quot;:-43.95950926040859},&quot;rotate&quot;:0,&quot;skewX&quot;:-6.975945255140761e-16,&quot;scale&quot;:{&quot;x&quot;:0.46576273117433326,&quot;y&quot;:0.4657627311743335}},&quot;opacity&quot;:1,&quot;image&quot;:{&quot;url&quot;:&quot;https://icons.biorender.com/biorender/5dbafee7c9e7d80004b85b60/blood-vial-cap.png&quot;,&quot;fallbackUrl&quot;:&quot;https://res.cloudinary.com/dlcjuc3ej/image/upload/v1572536037/tlv3njszabmvrha42fta.svg#/keystone/api/icons/5dbafee7c9e7d80004b85b60/blood-vial-cap.svg#/keystone/api/icons/5dbafee7c9e7d80004b85b60/blood-vial-cap.svg#/keystone/api/icons/5dbafee7c9e7d80004b85b60/blood-vial-cap.svg#/keystone/api/icons/5dbafee7c9e7d80004b85b60/blood-vial-cap.svg#/keystone/api/icons/5dbafee7c9e7d80004b85b60/blood-vial-cap.svg&quot;,&quot;size&quot;:{&quot;x&quot;:65,&quot;y&quot;:79},&quot;isPremium&quot;:false,&quot;isPacked&quot;:true},&quot;source&quot;:{&quot;id&quot;:&quot;5dbafea2c9e7d80004b85b5f&quot;,&quot;type&quot;:&quot;ASSETS&quot;},&quot;pathStyles&quot;:[{&quot;type&quot;:&quot;FILL&quot;,&quot;fillStyle&quot;:&quot;rgb(0,0,0)&quot;}],&quot;isLocked&quot;:false,&quot;parent&quot;:{&quot;type&quot;:&quot;CHILD&quot;,&quot;parentId&quot;:&quot;8095c7c3-ec4d-4e22-91bf-422c79b95065&quot;,&quot;order&quot;:&quot;5&quot;},&quot;styles&quot;:{&quot;vector-hidden&quot;:[{&quot;styleName&quot;:&quot;MONOCHROME_COLOR&quot;,&quot;index&quot;:0,&quot;color&quot;:&quot;#DFDDDD&quot;}]}},&quot;ba6be45b-73a0-4cc5-ad3b-044fb6181c6f&quot;:{&quot;type&quot;:&quot;FIGURE_OBJECT&quot;,&quot;id&quot;:&quot;ba6be45b-73a0-4cc5-ad3b-044fb6181c6f&quot;,&quot;relativeTransform&quot;:{&quot;translate&quot;:{&quot;x&quot;:434.34237981465697,&quot;y&quot;:-1029.9625431089041},&quot;rotate&quot;:0,&quot;skewX&quot;:0,&quot;scale&quot;:{&quot;x&quot;:1,&quot;y&quot;:1}},&quot;opacity&quot;:1,&quot;path&quot;:{&quot;type&quot;:&quot;POLY_LINE&quot;,&quot;points&quot;:[{&quot;x&quot;:-814.9282083183734,&quot;y&quot;:929.5777801751547},{&quot;x&quot;:-752.2532192751057,&quot;y&quot;:890.7341999895515},{&quot;x&quot;:-680.9403006394568,&quot;y&quot;:880.5890346452634}],&quot;closed&quot;:false},&quot;pathStyles&quot;:[{&quot;type&quot;:&quot;FILL&quot;,&quot;fillStyle&quot;:&quot;rgba(0,0,0,0)&quot;},{&quot;type&quot;:&quot;STROKE&quot;,&quot;strokeStyle&quot;:&quot;rgb(129, 134, 137)&quot;,&quot;lineWidth&quot;:4.684949750238434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892c54e1-5de8-4cd2-83f9-0fd7c5fcbce3&quot;,&quot;order&quot;:&quot;5&quot;},&quot;connectorInfo&quot;:{&quot;connectedObjects&quot;:[],&quot;type&quot;:&quot;QUADRATIC&quot;,&quot;offset&quot;:{&quot;x&quot;:0,&quot;y&quot;:0},&quot;bending&quot;:-0.1,&quot;firstElementIsHead&quot;:false,&quot;customized&quot;:true}},&quot;bbf6a7a8-a71e-4190-8aec-145389e8f7b1&quot;:{&quot;relativeTransform&quot;:{&quot;translate&quot;:{&quot;x&quot;:1344.2434562185745,&quot;y&quot;:-82.00253907991366},&quot;rotate&quot;:0,&quot;skewX&quot;:0,&quot;scale&quot;:{&quot;x&quot;:1,&quot;y&quot;:1}},&quot;type&quot;:&quot;FIGURE_OBJECT&quot;,&quot;id&quot;:&quot;bbf6a7a8-a71e-4190-8aec-145389e8f7b1&quot;,&quot;parent&quot;:{&quot;type&quot;:&quot;CHILD&quot;,&quot;parentId&quot;:&quot;9d9c2a76-025a-43b0-a169-141973da405f&quot;,&quot;order&quot;:&quot;5&quot;},&quot;name&quot;:&quot;Proteome of cell lysate in test tube (with protein components callout)&quot;,&quot;displayName&quot;:&quot;Proteome of cell lysate in test tube (with protein components callout)&quot;,&quot;source&quot;:{&quot;id&quot;:&quot;643577dc4e6826d93e4fb72a&quot;,&quot;type&quot;:&quot;ASSETS&quot;},&quot;isPremium&quot;:true},&quot;ffbd5d56-836d-4563-ae5a-e31aef9c05ef&quot;:{&quot;type&quot;:&quot;FIGURE_OBJECT&quot;,&quot;id&quot;:&quot;ffbd5d56-836d-4563-ae5a-e31aef9c05ef&quot;,&quot;relativeTransform&quot;:{&quot;translate&quot;:{&quot;x&quot;:-1431.8373587584729,&quot;y&quot;:-147.58089666954746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1&quot;}},&quot;1032ef6e-676d-4501-802c-dc3aae0b037e&quot;:{&quot;type&quot;:&quot;FIGURE_OBJECT&quot;,&quot;id&quot;:&quot;1032ef6e-676d-4501-802c-dc3aae0b037e&quot;,&quot;relativeTransform&quot;:{&quot;translate&quot;:{&quot;x&quot;:-77.19242003029792,&quot;y&quot;:-0.07065366678880541},&quot;rotate&quot;:0},&quot;opacity&quot;:1,&quot;path&quot;:{&quot;type&quot;:&quot;POLY_LINE&quot;,&quot;points&quot;:[{&quot;x&quot;:-40.704817736061145,&quot;y&quot;:67.4652829615672},{&quot;x&quot;:32.70481773606115,&quot;y&quot;:-40.4652829615671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1.6629568340370073,&quot;lineJoin&quot;:&quot;round&quot;}],&quot;isLocked&quot;:false,&quot;parent&quot;:{&quot;type&quot;:&quot;CHILD&quot;,&quot;parentId&quot;:&quot;ffbd5d56-836d-4563-ae5a-e31aef9c05ef&quot;,&quot;order&quot;:&quot;2&quot;}},&quot;7b6c973c-a11f-4a8e-84f9-b31cda801395&quot;:{&quot;type&quot;:&quot;FIGURE_OBJECT&quot;,&quot;id&quot;:&quot;7b6c973c-a11f-4a8e-84f9-b31cda801395&quot;,&quot;relativeTransform&quot;:{&quot;translate&quot;:{&quot;x&quot;:-54.46534329845883,&quot;y&quot;:56.46987869046946},&quot;rotate&quot;:0},&quot;opacity&quot;:1,&quot;path&quot;:{&quot;type&quot;:&quot;POLY_LINE&quot;,&quot;points&quot;:[{&quot;x&quot;:-64.43189446790026,&quot;y&quot;:16.075249395691074},{&quot;x&quot;:55.43189446790026,&quot;y&quot;:16.075249395691074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1.6629568340370073,&quot;lineJoin&quot;:&quot;round&quot;}],&quot;isLocked&quot;:false,&quot;parent&quot;:{&quot;type&quot;:&quot;CHILD&quot;,&quot;parentId&quot;:&quot;ffbd5d56-836d-4563-ae5a-e31aef9c05ef&quot;,&quot;order&quot;:&quot;5&quot;}},&quot;a7725469-57a1-48b8-816b-b5b8e04c1f05&quot;:{&quot;type&quot;:&quot;FIGURE_OBJECT&quot;,&quot;id&quot;:&quot;a7725469-57a1-48b8-816b-b5b8e04c1f05&quot;,&quot;relativeTransform&quot;:{&quot;translate&quot;:{&quot;x&quot;:18.086798755195588,&quot;y&quot;:-6.301876790973922e-14},&quot;rotate&quot;:0.2700161367257839,&quot;skewX&quot;:-3.54876551147056e-17},&quot;opacity&quot;:1,&quot;path&quot;:{&quot;type&quot;:&quot;ELLIPSE&quot;,&quot;size&quot;:{&quot;x&quot;:148.91143563347035,&quot;y&quot;:148.91143563347043}},&quot;pathStyles&quot;:[{&quot;type&quot;:&quot;FILL&quot;,&quot;fillStyle&quot;:&quot;rgb(243, 241, 248)&quot;},{&quot;type&quot;:&quot;STROKE&quot;,&quot;strokeStyle&quot;:&quot;rgba(23,23,23,1)&quot;,&quot;lineWidth&quot;:1.6629568340370073,&quot;lineJoin&quot;:&quot;round&quot;}],&quot;isLocked&quot;:false,&quot;parent&quot;:{&quot;type&quot;:&quot;CHILD&quot;,&quot;parentId&quot;:&quot;ffbd5d56-836d-4563-ae5a-e31aef9c05ef&quot;,&quot;order&quot;:&quot;7&quot;}},&quot;0095673b-7530-4120-be36-b9b7410e3aff&quot;:{&quot;type&quot;:&quot;FIGURE_OBJECT&quot;,&quot;id&quot;:&quot;0095673b-7530-4120-be36-b9b7410e3aff&quot;,&quot;name&quot;:&quot;Pacman&quot;,&quot;relativeTransform&quot;:{&quot;translate&quot;:{&quot;x&quot;:-1449.6031868351533,&quot;y&quot;:-181.85161795362447},&quot;rotate&quot;:-2.443460952792062e-16,&quot;skewX&quot;:0,&quot;scale&quot;:{&quot;x&quot;:0.16075249395691069,&quot;y&quot;:0.16075249395691069}},&quot;opacity&quot;:1,&quot;image&quot;:{&quot;url&quot;:&quot;https://icons.biorender.com/biorender/5ee3de774e18d300285a554f/pacman.png&quot;,&quot;fallbackUrl&quot;:&quot;https://res.cloudinary.com/dlcjuc3ej/image/upload/v1591991919/v0oy3c2k9vd68pxovdyp.svg#/keystone/api/icons/5ee3de774e18d300285a554f/pacman.svg&quot;,&quot;size&quot;:{&quot;x&quot;:200,&quot;y&quot;:200},&quot;isPremium&quot;:false,&quot;isPacked&quot;:true},&quot;source&quot;:{&quot;id&quot;:&quot;5be5f1ed7664d21200a3f9dc&quot;,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2&quot;}},&quot;37b07621-0e34-4e43-8595-c2bb583259d5&quot;:{&quot;type&quot;:&quot;FIGURE_OBJECT&quot;,&quot;id&quot;:&quot;37b07621-0e34-4e43-8595-c2bb583259d5&quot;,&quot;name&quot;:&quot;Pacman&quot;,&quot;relativeTransform&quot;:{&quot;translate&quot;:{&quot;x&quot;:-1384.1436932593756,&quot;y&quot;:-160.9162564517369},&quot;rotate&quot;:1.8412412958234115,&quot;skewX&quot;:0,&quot;scale&quot;:{&quot;x&quot;:0.16075249395691066,&quot;y&quot;:0.16075249395691074}},&quot;opacity&quot;:1,&quot;image&quot;:{&quot;url&quot;:&quot;https://icons.biorender.com/biorender/5ee3de774e18d300285a554f/pacman.png&quot;,&quot;fallbackUrl&quot;:&quot;https://res.cloudinary.com/dlcjuc3ej/image/upload/v1591991919/v0oy3c2k9vd68pxovdyp.svg#/keystone/api/icons/5ee3de774e18d300285a554f/pacman.svg&quot;,&quot;size&quot;:{&quot;x&quot;:200,&quot;y&quot;:200},&quot;isPremium&quot;:false,&quot;isPacked&quot;:true},&quot;source&quot;:{&quot;id&quot;:&quot;5be5f1ed7664d21200a3f9dc&quot;,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3&quot;}},&quot;8a4b96e4-b64f-4b7a-bccd-679d9543f114&quot;:{&quot;type&quot;:&quot;FIGURE_OBJECT&quot;,&quot;id&quot;:&quot;8a4b96e4-b64f-4b7a-bccd-679d9543f114&quot;,&quot;name&quot;:&quot;Pacman&quot;,&quot;relativeTransform&quot;:{&quot;translate&quot;:{&quot;x&quot;:-1403.7304056033215,&quot;y&quot;:-99.43063126965266},&quot;rotate&quot;:0.46969401943335204,&quot;skewX&quot;:-3.356485855275665e-16,&quot;scale&quot;:{&quot;x&quot;:0.16075249395691066,&quot;y&quot;:0.16075249395691063}},&quot;opacity&quot;:1,&quot;image&quot;:{&quot;url&quot;:&quot;https://icons.biorender.com/biorender/5ee3de774e18d300285a554f/pacman.png&quot;,&quot;fallbackUrl&quot;:&quot;https://res.cloudinary.com/dlcjuc3ej/image/upload/v1591991919/v0oy3c2k9vd68pxovdyp.svg#/keystone/api/icons/5ee3de774e18d300285a554f/pacman.svg&quot;,&quot;size&quot;:{&quot;x&quot;:200,&quot;y&quot;:200},&quot;isPremium&quot;:false,&quot;isPacked&quot;:true},&quot;source&quot;:{&quot;id&quot;:&quot;5be5f1ed7664d21200a3f9dc&quot;,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5&quot;}},&quot;efc265d3-f0c3-4ef6-b3c7-4df4bddce3d0&quot;:{&quot;type&quot;:&quot;FIGURE_OBJECT&quot;,&quot;id&quot;:&quot;efc265d3-f0c3-4ef6-b3c7-4df4bddce3d0&quot;,&quot;name&quot;:&quot;Pacman&quot;,&quot;relativeTransform&quot;:{&quot;translate&quot;:{&quot;x&quot;:-1448.9714992183603,&quot;y&quot;:-110.02726730614933},&quot;rotate&quot;:-1.0337425351013334,&quot;skewX&quot;:1.1832875778473496e-15,&quot;scale&quot;:{&quot;x&quot;:0.13805166579614755,&quot;y&quot;:0.1380516657961475}},&quot;opacity&quot;:0.5,&quot;image&quot;:{&quot;url&quot;:&quot;https://icons.biorender.com/biorender/5ee3de774e18d300285a5551/pacman.png&quot;,&quot;fallbackUrl&quot;:&quot;https://res.cloudinary.com/dlcjuc3ej/image/upload/v1591991919/ugeyzt2gzkjfdzzjio1r.svg#/keystone/api/icons/5ee3de774e18d300285a5551/pacman.svg&quot;,&quot;size&quot;:{&quot;x&quot;:200,&quot;y&quot;:200},&quot;isPremium&quot;:false,&quot;isPacked&quot;:true},&quot;source&quot;:{&quot;id&quot;:&quot;5be5f1ed7664d21200a3f9dc&quot;,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55&quot;}},&quot;c34482cd-e9e9-4e81-b5ac-5a9d8fe88448&quot;:{&quot;type&quot;:&quot;FIGURE_OBJECT&quot;,&quot;id&quot;:&quot;c34482cd-e9e9-4e81-b5ac-5a9d8fe88448&quot;,&quot;relativeTransform&quot;:{&quot;translate&quot;:{&quot;x&quot;:-1397.7687241837564,&quot;y&quot;:-197.0676023117558},&quot;rotate&quot;:0},&quot;opacity&quot;:0.5,&quot;path&quot;:{&quot;type&quot;:&quot;ELLIPSE&quot;,&quot;size&quot;:{&quot;x&quot;:16.952339705314383,&quot;y&quot;:16.952339705314383}},&quot;pathStyles&quot;:[{&quot;type&quot;:&quot;FILL&quot;,&quot;fillStyle&quot;:&quot;rgba(41, 131, 177, 1)&quot;},{&quot;type&quot;:&quot;STROKE&quot;,&quot;strokeStyle&quot;:&quot;rgba(19, 64, 86, 1)&quot;,&quot;lineWidth&quot;:1.1568981891075552,&quot;lineJoin&quot;:&quot;round&quot;}],&quot;isLocked&quot;:false,&quot;parent&quot;:{&quot;type&quot;:&quot;CHILD&quot;,&quot;parentId&quot;:&quot;bbf6a7a8-a71e-4190-8aec-145389e8f7b1&quot;,&quot;order&quot;:&quot;6&quot;}},&quot;6e91de12-b701-4c52-afb6-40f32c26cc22&quot;:{&quot;type&quot;:&quot;FIGURE_OBJECT&quot;,&quot;id&quot;:&quot;6e91de12-b701-4c52-afb6-40f32c26cc22&quot;,&quot;relativeTransform&quot;:{&quot;translate&quot;:{&quot;x&quot;:-1356.9154179609138,&quot;y&quot;:-130.09589605352812},&quot;rotate&quot;:0},&quot;opacity&quot;:0.5,&quot;path&quot;:{&quot;type&quot;:&quot;ELLIPSE&quot;,&quot;size&quot;:{&quot;x&quot;:16.952339705314383,&quot;y&quot;:16.952339705314383}},&quot;pathStyles&quot;:[{&quot;type&quot;:&quot;FILL&quot;,&quot;fillStyle&quot;:&quot;rgba(41, 131, 177, 1)&quot;},{&quot;type&quot;:&quot;STROKE&quot;,&quot;strokeStyle&quot;:&quot;rgba(19, 64, 86, 1)&quot;,&quot;lineWidth&quot;:1.1568981891075552,&quot;lineJoin&quot;:&quot;round&quot;}],&quot;isLocked&quot;:false,&quot;parent&quot;:{&quot;type&quot;:&quot;CHILD&quot;,&quot;parentId&quot;:&quot;bbf6a7a8-a71e-4190-8aec-145389e8f7b1&quot;,&quot;order&quot;:&quot;7&quot;}},&quot;01e41aa6-8f12-4ccc-9e03-4f263b873424&quot;:{&quot;type&quot;:&quot;FIGURE_OBJECT&quot;,&quot;id&quot;:&quot;01e41aa6-8f12-4ccc-9e03-4f263b873424&quot;,&quot;relativeTransform&quot;:{&quot;translate&quot;:{&quot;x&quot;:-1427.456202889809,&quot;y&quot;:-145.37474259660902},&quot;rotate&quot;:0},&quot;opacity&quot;:0.5,&quot;path&quot;:{&quot;type&quot;:&quot;ELLIPSE&quot;,&quot;size&quot;:{&quot;x&quot;:22.12449748741055,&quot;y&quot;:22.12449748741055}},&quot;pathStyles&quot;:[{&quot;type&quot;:&quot;FILL&quot;,&quot;fillStyle&quot;:&quot;rgba(216,134,81,1)&quot;},{&quot;type&quot;:&quot;STROKE&quot;,&quot;strokeStyle&quot;:&quot;rgba(114, 54, 29, 1)&quot;,&quot;lineWidth&quot;:1.1568981891075552,&quot;lineJoin&quot;:&quot;round&quot;}],&quot;isLocked&quot;:false,&quot;parent&quot;:{&quot;type&quot;:&quot;CHILD&quot;,&quot;parentId&quot;:&quot;bbf6a7a8-a71e-4190-8aec-145389e8f7b1&quot;,&quot;order&quot;:&quot;8&quot;}},&quot;892c54e1-5de8-4cd2-83f9-0fd7c5fcbce3&quot;:{&quot;type&quot;:&quot;FIGURE_OBJECT&quot;,&quot;id&quot;:&quot;892c54e1-5de8-4cd2-83f9-0fd7c5fcbce3&quot;,&quot;parent&quot;:{&quot;type&quot;:&quot;CHILD&quot;,&quot;parentId&quot;:&quot;9d9c2a76-025a-43b0-a169-141973da405f&quot;,&quot;order&quot;:&quot;2&quot;},&quot;relativeTransform&quot;:{}},&quot;9d9c2a76-025a-43b0-a169-141973da405f&quot;:{&quot;type&quot;:&quot;FIGURE_OBJECT&quot;,&quot;id&quot;:&quot;9d9c2a76-025a-43b0-a169-141973da405f&quot;,&quot;parent&quot;:{&quot;type&quot;:&quot;CHILD&quot;,&quot;parentId&quot;:&quot;69ed8831-b396-4d9a-ba73-58696945131d&quot;,&quot;order&quot;:&quot;7&quot;},&quot;relativeTransform&quot;:{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1c277abc-8998-4ba4-ac54-2b710e3b7d19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1c277abc-8998-4ba4-ac54-2b710e3b7d19&quot;:{&quot;type&quot;:&quot;FIGURE_OBJECT&quot;,&quot;id&quot;:&quot;1c277abc-8998-4ba4-ac54-2b710e3b7d19&quot;,&quot;relativeTransform&quot;:{&quot;translate&quot;:{&quot;x&quot;:186.56261298686607,&quot;y&quot;:-229.58343574946116},&quot;rotate&quot;:0,&quot;skewX&quot;:0,&quot;scale&quot;:{&quot;x&quot;:1,&quot;y&quot;:1}},&quot;opacity&quot;:1,&quot;path&quot;:{&quot;type&quot;:&quot;RECT&quot;,&quot;size&quot;:{&quot;x&quot;:186.81604073231458,&quot;y&quot;:91.42061567751564},&quot;cornerRounding&quot;:{&quot;type&quot;:&quot;ARC_LENGTH&quot;,&quot;global&quot;:17.838902770132858}},&quot;pathStyles&quot;:[{&quot;type&quot;:&quot;FILL&quot;,&quot;fillStyle&quot;:&quot;rgba(107, 106, 207, 1)&quot;},{&quot;type&quot;:&quot;STROKE&quot;,&quot;strokeStyle&quot;:&quot;rgba(44, 38, 93, 1)&quot;,&quot;lineWidth&quot;:2.2713196441618795,&quot;lineJoin&quot;:&quot;round&quot;}],&quot;isLocked&quot;:false,&quot;parent&quot;:{&quot;type&quot;:&quot;CHILD&quot;,&quot;parentId&quot;:&quot;69ed8831-b396-4d9a-ba73-58696945131d&quot;,&quot;order&quot;:&quot;8&quot;},&quot;layout&quot;:{&quot;sizeRatio&quot;:{&quot;x&quot;:0.88,&quot;y&quot;:0.88},&quot;keepAspectRatio&quot;:false}},&quot;0393e702-3359-4856-b6a6-2038e8d8fa7f&quot;:{&quot;id&quot;:&quot;0393e702-3359-4856-b6a6-2038e8d8fa7f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1.198983345510868,&quot;color&quot;:&quot;rgba(255,255,255,1)&quot;,&quot;fontWeight&quot;:&quot;normal&quot;,&quot;fontStyle&quot;:&quot;normal&quot;,&quot;decoration&quot;:&quot;none&quot;},&quot;range&quot;:[0,12]}],&quot;text&quot;:&quot;SomaScan - 7k&quot;},{&quot;runs&quot;:[],&quot;text&quot;:&quot;&quot;,&quot;baseStyle&quot;:{&quot;fontFamily&quot;:&quot;Roboto&quot;,&quot;fontSize&quot;:21.198983345510868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21.198983345510868,&quot;color&quot;:&quot;rgba(255,255,255,1)&quot;,&quot;fontWeight&quot;:&quot;normal&quot;,&quot;fontStyle&quot;:&quot;normal&quot;,&quot;decoration&quot;:&quot;none&quot;,&quot;script&quot;:&quot;none&quot;},&quot;range&quot;:[0,13]}],&quot;text&quot;:&quot;~7000 proteins&quot;}],&quot;_lastCaretLocation&quot;:{&quot;lineIndex&quot;:2,&quot;runIndex&quot;:-1,&quot;charIndex&quot;:-1,&quot;endOfLine&quot;:true}},&quot;format&quot;:&quot;BETTER_TEXT&quot;,&quot;size&quot;:{&quot;x&quot;:164.39811584443686,&quot;y&quot;:74.953548257342},&quot;targetSize&quot;:{&quot;x&quot;:164.39811584443686,&quot;y&quot;:2}},&quot;parent&quot;:{&quot;type&quot;:&quot;CHILD&quot;,&quot;parentId&quot;:&quot;1c277abc-8998-4ba4-ac54-2b710e3b7d19&quot;,&quot;order&quot;:&quot;5&quot;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b095f095-8972-4b18-9ba1-490385f2157f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a14a4050-b190-4bc4-81a6-5ffbe4b780e8&quot;:{&quot;id&quot;:&quot;a14a4050-b190-4bc4-81a6-5ffbe4b780e8&quot;,&quot;name&quot;:&quot;image.png&quot;,&quot;type&quot;:&quot;FIGURE_OBJECT&quot;,&quot;relativeTransform&quot;:{&quot;translate&quot;:{&quot;x&quot;:10.567136811747133,&quot;y&quot;:29.262842911323794},&quot;rotate&quot;:0,&quot;skewX&quot;:0,&quot;scale&quot;:{&quot;x&quot;:1.688402433393265,&quot;y&quot;:1.6884024333932652}},&quot;image&quot;:{&quot;url&quot;:&quot;https://core.services.biorender.com/api/uploads/noredirect/68cb8a74130deaa8695fdcfa/1758169716993_c6cf7d3c-8961-4eb7-9148-1c935413cb2c_icon.png&quot;,&quot;isPremium&quot;:false,&quot;isSignedURL&quot;:true,&quot;size&quot;:{&quot;x&quot;:300,&quot;y&quot;:200}},&quot;source&quot;:{&quot;id&quot;:&quot;68cb8a74130deaa8695fdcfa&quot;,&quot;type&quot;:&quot;UPLOADS&quot;},&quot;isPremium&quot;:false,&quot;parent&quot;:{&quot;type&quot;:&quot;CHILD&quot;,&quot;parentId&quot;:&quot;b095f095-8972-4b18-9ba1-490385f2157f&quot;,&quot;order&quot;:&quot;5&quot;}},&quot;b095f095-8972-4b18-9ba1-490385f2157f&quot;:{&quot;type&quot;:&quot;FIGURE_OBJECT&quot;,&quot;id&quot;:&quot;b095f095-8972-4b18-9ba1-490385f2157f&quot;,&quot;parent&quot;:{&quot;type&quot;:&quot;CHILD&quot;,&quot;parentId&quot;:&quot;69ed8831-b396-4d9a-ba73-58696945131d&quot;,&quot;order&quot;:&quot;9&quot;},&quot;relativeTransform&quot;:{&quot;translate&quot;:{&quot;x&quot;:175.99547617511894,&quot;y&quot;:-68.25320334071418},&quot;rotate&quot;:0,&quot;skewX&quot;:0,&quot;scale&quot;:{&quot;x&quot;:1,&quot;y&quot;:1}}},&quot;3e0136fc-fc76-4e29-83f8-a570fbcf6b6d&quot;:{&quot;type&quot;:&quot;FIGURE_OBJECT&quot;,&quot;id&quot;:&quot;3e0136fc-fc76-4e29-83f8-a570fbcf6b6d&quot;,&quot;parent&quot;:{&quot;type&quot;:&quot;CROP&quot;,&quot;parentId&quot;:&quot;b095f095-8972-4b18-9ba1-490385f2157f&quot;,&quot;order&quot;:&quot;5&quot;},&quot;relativeTransform&quot;:{&quot;translate&quot;:{&quot;x&quot;:10.567136811747133,&quot;y&quot;:11.075172428804255},&quot;rotate&quot;:0,&quot;skewX&quot;:0,&quot;scale&quot;:{&quot;x&quot;:253.26036500898974,&quot;y&quot;:71.60225087133108}},&quot;path&quot;:{&quot;type&quot;:&quot;RECT&quot;,&quot;size&quot;:{&quot;x&quot;:2,&quot;y&quot;:2}},&quot;pathStyles&quot;:[{&quot;type&quot;:&quot;FILL&quot;,&quot;fillStyle&quot;:&quot;#fff&quot;}],&quot;isFrozen&quot;:true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40acf081-74ee-4d65-90a2-d2a3a3bba79c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40acf081-74ee-4d65-90a2-d2a3a3bba79c&quot;:{&quot;type&quot;:&quot;FIGURE_OBJECT&quot;,&quot;id&quot;:&quot;40acf081-74ee-4d65-90a2-d2a3a3bba79c&quot;,&quot;relativeTransform&quot;:{&quot;translate&quot;:{&quot;x&quot;:50.3796976475274,&quot;y&quot;:-229.71544851613874},&quot;rotate&quot;:0,&quot;skewX&quot;:0,&quot;scale&quot;:{&quot;x&quot;:1,&quot;y&quot;:1}},&quot;opacity&quot;:1,&quot;path&quot;:{&quot;type&quot;:&quot;POLY_LINE&quot;,&quot;points&quot;:[{&quot;x&quot;:-26.109387139551835,&quot;y&quot;:0},{&quot;x&quot;:26.109387139551835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3.4069794662428183,&quot;lineJoin&quot;:&quot;round&quot;}]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69ed8831-b396-4d9a-ba73-58696945131d&quot;,&quot;order&quot;:&quot;95&quot;},&quot;connectorInfo&quot;:{&quot;type&quot;:&quot;LINE&quot;,&quot;offset&quot;:{&quot;x&quot;:0,&quot;y&quot;:0},&quot;bending&quot;:0.1,&quot;customized&quot;:false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fc8562c4-e250-46d9-9779-46d90eb78891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fc8562c4-e250-46d9-9779-46d90eb78891&quot;:{&quot;type&quot;:&quot;FIGURE_OBJECT&quot;,&quot;id&quot;:&quot;fc8562c4-e250-46d9-9779-46d90eb78891&quot;,&quot;relativeTransform&quot;:{&quot;translate&quot;:{&quot;x&quot;:186.5629130422743,&quot;y&quot;:-154.5094049073502},&quot;rotate&quot;:1.5707963267948966,&quot;skewX&quot;:0,&quot;scale&quot;:{&quot;x&quot;:1,&quot;y&quot;:1}},&quot;opacity&quot;:1,&quot;path&quot;:{&quot;type&quot;:&quot;BRACKET&quot;,&quot;size&quot;:{&quot;x&quot;:15.899237509133155,&quot;y&quot;:304.35683231769184},&quot;handleBase&quot;:{&quot;x&quot;:-1,&quot;y&quot;:0},&quot;handleWidth&quot;:14,&quot;cornerRounding&quot;:{&quot;type&quot;:&quot;ARC_LENGTH&quot;,&quot;global&quot;:19.622793047146143,&quot;perNode&quot;:{&quot;3&quot;:0}}},&quot;pathStyles&quot;:[{&quot;type&quot;:&quot;FILL&quot;,&quot;fillStyle&quot;:&quot;rgba(0,0,0,0)&quot;},{&quot;type&quot;:&quot;STROKE&quot;,&quot;strokeStyle&quot;:&quot;#232323&quot;,&quot;lineWidth&quot;:3.4069794662428183,&quot;lineJoin&quot;:&quot;round&quot;}],&quot;isLocked&quot;:false,&quot;parent&quot;:{&quot;type&quot;:&quot;CHILD&quot;,&quot;parentId&quot;:&quot;69ed8831-b396-4d9a-ba73-58696945131d&quot;,&quot;order&quot;:&quot;97&quot;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079d76d1-fd08-43aa-8934-95b86c733d88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3f61dee1-7046-4d26-b356-a2d7c8929294&quot;:{&quot;type&quot;:&quot;FIGURE_OBJECT&quot;,&quot;id&quot;:&quot;3f61dee1-7046-4d26-b356-a2d7c8929294&quot;,&quot;relativeTransform&quot;:{&quot;translate&quot;:{&quot;x&quot;:-655.9173945404933,&quot;y&quot;:103.576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196,62,150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79d76d1-fd08-43aa-8934-95b86c733d88&quot;,&quot;order&quot;:&quot;1&quot;},&quot;connectorInfo&quot;:{&quot;type&quot;:&quot;LINE&quot;,&quot;offset&quot;:{&quot;x&quot;:0,&quot;y&quot;:0},&quot;bending&quot;:0.1,&quot;customized&quot;:false}},&quot;bc9a2ab1-1dc4-4481-b6ab-77e0a5a54824&quot;:{&quot;id&quot;:&quot;bc9a2ab1-1dc4-4481-b6ab-77e0a5a54824&quot;,&quot;type&quot;:&quot;FIGURE_OBJECT&quot;,&quot;relativeTransform&quot;:{&quot;translate&quot;:{&quot;x&quot;:-518.492176341427,&quot;y&quot;:108.82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196,62,150,1)&quot;,&quot;fontWeight&quot;:&quot;bold&quot;,&quot;fontStyle&quot;:&quot;normal&quot;,&quot;decoration&quot;:&quot;none&quot;},&quot;range&quot;:[0,28]}],&quot;text&quot;:&quot;Blood pressure / Hypertension&quot;}],&quot;_lastCaretLocation&quot;:{&quot;lineIndex&quot;:0,&quot;runIndex&quot;:-1,&quot;charIndex&quot;:-1,&quot;endOfLine&quot;:true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079d76d1-fd08-43aa-8934-95b86c733d88&quot;,&quot;order&quot;:&quot;2&quot;}},&quot;71324aed-1664-4e39-afa7-ab03f2dc53f2&quot;:{&quot;type&quot;:&quot;FIGURE_OBJECT&quot;,&quot;id&quot;:&quot;71324aed-1664-4e39-afa7-ab03f2dc53f2&quot;,&quot;relativeTransform&quot;:{&quot;translate&quot;:{&quot;x&quot;:-655.9173945404933,&quot;y&quot;:157.652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196,62,150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79d76d1-fd08-43aa-8934-95b86c733d88&quot;,&quot;order&quot;:&quot;3&quot;},&quot;connectorInfo&quot;:{&quot;type&quot;:&quot;LINE&quot;,&quot;offset&quot;:{&quot;x&quot;:0,&quot;y&quot;:0},&quot;bending&quot;:0.1,&quot;customized&quot;:false}},&quot;f14d22b1-221a-493a-8e22-6ef9076bc493&quot;:{&quot;id&quot;:&quot;f14d22b1-221a-493a-8e22-6ef9076bc493&quot;,&quot;type&quot;:&quot;FIGURE_OBJECT&quot;,&quot;relativeTransform&quot;:{&quot;translate&quot;:{&quot;x&quot;:-518.492176341427,&quot;y&quot;:162.90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196,62,150,1)&quot;,&quot;fontWeight&quot;:&quot;bold&quot;,&quot;fontStyle&quot;:&quot;normal&quot;,&quot;decoration&quot;:&quot;none&quot;},&quot;range&quot;:[0,17]}],&quot;text&quot;:&quot;Renal disease risk&quot;}],&quot;_lastCaretLocation&quot;:{&quot;lineIndex&quot;:0,&quot;runIndex&quot;:-1,&quot;charIndex&quot;:-1,&quot;endOfLine&quot;:true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079d76d1-fd08-43aa-8934-95b86c733d88&quot;,&quot;order&quot;:&quot;5&quot;}},&quot;beec37bd-c6c4-4ad9-9d84-a45571090ea5&quot;:{&quot;type&quot;:&quot;FIGURE_OBJECT&quot;,&quot;id&quot;:&quot;beec37bd-c6c4-4ad9-9d84-a45571090ea5&quot;,&quot;relativeTransform&quot;:{&quot;translate&quot;:{&quot;x&quot;:-655.9173945404933,&quot;y&quot;:211.72799999999998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196,62,150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79d76d1-fd08-43aa-8934-95b86c733d88&quot;,&quot;order&quot;:&quot;6&quot;},&quot;connectorInfo&quot;:{&quot;type&quot;:&quot;LINE&quot;,&quot;offset&quot;:{&quot;x&quot;:0,&quot;y&quot;:0},&quot;bending&quot;:0.1,&quot;customized&quot;:false}},&quot;f773f199-b2a8-4764-be9a-513c93b32491&quot;:{&quot;id&quot;:&quot;f773f199-b2a8-4764-be9a-513c93b32491&quot;,&quot;type&quot;:&quot;FIGURE_OBJECT&quot;,&quot;relativeTransform&quot;:{&quot;translate&quot;:{&quot;x&quot;:-518.492176341427,&quot;y&quot;:216.9779999999999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196,62,150,1)&quot;,&quot;fontWeight&quot;:&quot;bold&quot;,&quot;fontStyle&quot;:&quot;normal&quot;,&quot;decoration&quot;:&quot;none&quot;},&quot;range&quot;:[0,20]}],&quot;text&quot;:&quot;Future complications.&quot;}],&quot;_lastCaretLocation&quot;:{&quot;lineIndex&quot;:0,&quot;runIndex&quot;:-1,&quot;charIndex&quot;:-1,&quot;endOfLine&quot;:true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079d76d1-fd08-43aa-8934-95b86c733d88&quot;,&quot;order&quot;:&quot;7&quot;}},&quot;079d76d1-fd08-43aa-8934-95b86c733d88&quot;:{&quot;type&quot;:&quot;FIGURE_OBJECT&quot;,&quot;id&quot;:&quot;079d76d1-fd08-43aa-8934-95b86c733d88&quot;,&quot;parent&quot;:{&quot;type&quot;:&quot;CHILD&quot;,&quot;parentId&quot;:&quot;69ed8831-b396-4d9a-ba73-58696945131d&quot;,&quot;order&quot;:&quot;99&quot;},&quot;relativeTransform&quot;:{&quot;translate&quot;:{&quot;x&quot;:244.14499999999998,&quot;y&quot;:-54.076},&quot;rotate&quot;:0,&quot;skewX&quot;:0,&quot;scale&quot;:{&quot;x&quot;:1,&quot;y&quot;:1}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5fb7abb8-223c-44ba-80ec-c11f01149e88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f2db6011-8035-40bb-b59b-41328709c127&quot;:{&quot;type&quot;:&quot;FIGURE_OBJECT&quot;,&quot;id&quot;:&quot;f2db6011-8035-40bb-b59b-41328709c127&quot;,&quot;relativeTransform&quot;:{&quot;translate&quot;:{&quot;x&quot;:54.16660545950663,&quot;y&quot;:49.5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242,179,66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5fb7abb8-223c-44ba-80ec-c11f01149e88&quot;,&quot;order&quot;:&quot;1&quot;},&quot;connectorInfo&quot;:{&quot;type&quot;:&quot;LINE&quot;,&quot;offset&quot;:{&quot;x&quot;:0,&quot;y&quot;:0},&quot;bending&quot;:0.1,&quot;customized&quot;:false}},&quot;c1b79b79-350d-4629-8ae7-99e67e457a12&quot;:{&quot;id&quot;:&quot;c1b79b79-350d-4629-8ae7-99e67e457a12&quot;,&quot;type&quot;:&quot;FIGURE_OBJECT&quot;,&quot;relativeTransform&quot;:{&quot;translate&quot;:{&quot;x&quot;:191.59182365857293,&quot;y&quot;:54.7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242,179,66,1)&quot;,&quot;fontWeight&quot;:&quot;bold&quot;,&quot;fontStyle&quot;:&quot;normal&quot;,&quot;decoration&quot;:&quot;none&quot;},&quot;range&quot;:[0,12]}],&quot;text&quot;:&quot;Risk of death&quot;,&quot;base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5fb7abb8-223c-44ba-80ec-c11f01149e88&quot;,&quot;order&quot;:&quot;2&quot;}},&quot;7e88a99d-1b11-4754-9d9f-a345d40dfb63&quot;:{&quot;type&quot;:&quot;FIGURE_OBJECT&quot;,&quot;id&quot;:&quot;7e88a99d-1b11-4754-9d9f-a345d40dfb63&quot;,&quot;relativeTransform&quot;:{&quot;translate&quot;:{&quot;x&quot;:54.16660545950663,&quot;y&quot;:103.576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242,179,66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5fb7abb8-223c-44ba-80ec-c11f01149e88&quot;,&quot;order&quot;:&quot;3&quot;},&quot;connectorInfo&quot;:{&quot;type&quot;:&quot;LINE&quot;,&quot;offset&quot;:{&quot;x&quot;:0,&quot;y&quot;:0},&quot;bending&quot;:0.1,&quot;customized&quot;:false}},&quot;e06ccfa8-b159-43c3-9785-ca61a621a8a1&quot;:{&quot;id&quot;:&quot;e06ccfa8-b159-43c3-9785-ca61a621a8a1&quot;,&quot;type&quot;:&quot;FIGURE_OBJECT&quot;,&quot;relativeTransform&quot;:{&quot;translate&quot;:{&quot;x&quot;:191.59182365857293,&quot;y&quot;:108.82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242,179,66,1)&quot;,&quot;fontWeight&quot;:&quot;bold&quot;,&quot;fontStyle&quot;:&quot;normal&quot;,&quot;decoration&quot;:&quot;none&quot;},&quot;range&quot;:[0,30]}],&quot;text&quot;:&quot;Hypoxic injury (brain / lungs) &quot;}],&quot;_lastCaretLocation&quot;:{&quot;lineIndex&quot;:0,&quot;runIndex&quot;:0,&quot;charIndex&quot;:30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5fb7abb8-223c-44ba-80ec-c11f01149e88&quot;,&quot;order&quot;:&quot;5&quot;}},&quot;f3a8830b-f666-47d9-a89f-1a363a25b6fb&quot;:{&quot;type&quot;:&quot;FIGURE_OBJECT&quot;,&quot;id&quot;:&quot;f3a8830b-f666-47d9-a89f-1a363a25b6fb&quot;,&quot;relativeTransform&quot;:{&quot;translate&quot;:{&quot;x&quot;:54.16660545950663,&quot;y&quot;:157.652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242,179,66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5fb7abb8-223c-44ba-80ec-c11f01149e88&quot;,&quot;order&quot;:&quot;6&quot;},&quot;connectorInfo&quot;:{&quot;type&quot;:&quot;LINE&quot;,&quot;offset&quot;:{&quot;x&quot;:0,&quot;y&quot;:0},&quot;bending&quot;:0.1,&quot;customized&quot;:false}},&quot;be5a5753-b42c-4792-b732-6e25351406db&quot;:{&quot;id&quot;:&quot;be5a5753-b42c-4792-b732-6e25351406db&quot;,&quot;type&quot;:&quot;FIGURE_OBJECT&quot;,&quot;relativeTransform&quot;:{&quot;translate&quot;:{&quot;x&quot;:191.59182365857293,&quot;y&quot;:162.90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242,179,66,1)&quot;,&quot;fontWeight&quot;:&quot;bold&quot;,&quot;fontStyle&quot;:&quot;normal&quot;,&quot;decoration&quot;:&quot;none&quot;},&quot;range&quot;:[0,20]}],&quot;text&quot;:&quot;Neurodevelopment risk&quot;}],&quot;_lastCaretLocation&quot;:{&quot;lineIndex&quot;:0,&quot;runIndex&quot;:-1,&quot;charIndex&quot;:-1,&quot;endOfLine&quot;:true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5fb7abb8-223c-44ba-80ec-c11f01149e88&quot;,&quot;order&quot;:&quot;7&quot;}},&quot;5fb7abb8-223c-44ba-80ec-c11f01149e88&quot;:{&quot;type&quot;:&quot;FIGURE_OBJECT&quot;,&quot;id&quot;:&quot;5fb7abb8-223c-44ba-80ec-c11f01149e88&quot;,&quot;parent&quot;:{&quot;type&quot;:&quot;CHILD&quot;,&quot;parentId&quot;:&quot;69ed8831-b396-4d9a-ba73-58696945131d&quot;,&quot;order&quot;:&quot;997&quot;},&quot;relativeTransform&quot;:{&quot;translate&quot;:{&quot;x&quot;:-0.2501897428872155,&quot;y&quot;:0}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heme/theme1.xml><?xml version="1.0" encoding="utf-8"?>
<a:theme xmlns:a="http://schemas.openxmlformats.org/drawingml/2006/main" name="Lab project update Aug 202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D99B9FC-B07C-6D46-9C12-E69D859AF44A}">
  <we:reference id="wa200006038" version="1.0.0.4" store="en-US" storeType="OMEX"/>
  <we:alternateReferences>
    <we:reference id="WA200006038" version="1.0.0.4" store="" storeType="OMEX"/>
  </we:alternateReferences>
  <we:properties>
    <we:property name="pptx_export_from_biorender" value="false"/>
    <we:property name="has-user-completed-add" value="true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Taskpane.Url"/>
    </a:ext>
  </we:extLst>
</we:webextension>
</file>

<file path=docMetadata/LabelInfo.xml><?xml version="1.0" encoding="utf-8"?>
<clbl:labelList xmlns:clbl="http://schemas.microsoft.com/office/2020/mipLabelMetadata">
  <clbl:label id="{82b3e37e-8171-485d-b10b-38dae7ed14a8}" enabled="0" method="" siteId="{82b3e37e-8171-485d-b10b-38dae7ed14a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TSANZ 2022 (iIFTA)</Template>
  <TotalTime>37558</TotalTime>
  <Words>646</Words>
  <Application>Microsoft Macintosh PowerPoint</Application>
  <PresentationFormat>Widescreen</PresentationFormat>
  <Paragraphs>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Courier New</vt:lpstr>
      <vt:lpstr>Garamond</vt:lpstr>
      <vt:lpstr>Lab project update Aug 2021</vt:lpstr>
      <vt:lpstr>My First Project Post PhD!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Harry Robertson</dc:creator>
  <cp:lastModifiedBy>Harry Robertson</cp:lastModifiedBy>
  <cp:revision>340</cp:revision>
  <dcterms:created xsi:type="dcterms:W3CDTF">2022-06-14T00:26:42Z</dcterms:created>
  <dcterms:modified xsi:type="dcterms:W3CDTF">2025-09-22T12:43:45Z</dcterms:modified>
</cp:coreProperties>
</file>