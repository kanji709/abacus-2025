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40619A6-519E-5993-913A-8C278FEA76A3}"/>
              </a:ext>
            </a:extLst>
          </p:cNvPr>
          <p:cNvSpPr/>
          <p:nvPr/>
        </p:nvSpPr>
        <p:spPr>
          <a:xfrm>
            <a:off x="532044" y="1965177"/>
            <a:ext cx="5087447" cy="440210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ounded Rectangle 1"/>
          <p:cNvSpPr/>
          <p:nvPr/>
        </p:nvSpPr>
        <p:spPr>
          <a:xfrm>
            <a:off x="837065" y="428094"/>
            <a:ext cx="2576269" cy="743217"/>
          </a:xfrm>
          <a:prstGeom prst="roundRect">
            <a:avLst/>
          </a:prstGeom>
          <a:solidFill>
            <a:srgbClr val="2F5FA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Model Development</a:t>
            </a:r>
          </a:p>
          <a:p>
            <a:pPr algn="ctr"/>
            <a:r>
              <a:rPr sz="1400" b="1" dirty="0" err="1">
                <a:solidFill>
                  <a:srgbClr val="FFFFFF"/>
                </a:solidFill>
              </a:rPr>
              <a:t>SomaScan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lang="en-AU" sz="1400" b="1" dirty="0">
                <a:solidFill>
                  <a:srgbClr val="FFFFFF"/>
                </a:solidFill>
              </a:rPr>
              <a:t>100 </a:t>
            </a:r>
            <a:r>
              <a:rPr sz="1400" b="1" dirty="0">
                <a:solidFill>
                  <a:srgbClr val="FFFFFF"/>
                </a:solidFill>
              </a:rPr>
              <a:t>proteins/sample</a:t>
            </a:r>
            <a:r>
              <a:rPr lang="en-AU" sz="1400" b="1" dirty="0">
                <a:solidFill>
                  <a:srgbClr val="FFFFFF"/>
                </a:solidFill>
              </a:rPr>
              <a:t> after DE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82506" y="642750"/>
            <a:ext cx="1433269" cy="560844"/>
          </a:xfrm>
          <a:prstGeom prst="roundRect">
            <a:avLst/>
          </a:prstGeom>
          <a:solidFill>
            <a:srgbClr val="2F5FA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Primary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73050" y="937285"/>
            <a:ext cx="1433269" cy="560844"/>
          </a:xfrm>
          <a:prstGeom prst="roundRect">
            <a:avLst/>
          </a:prstGeom>
          <a:solidFill>
            <a:srgbClr val="2F5FA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Secondary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93290" y="937285"/>
            <a:ext cx="1433269" cy="560844"/>
          </a:xfrm>
          <a:prstGeom prst="roundRect">
            <a:avLst/>
          </a:prstGeom>
          <a:solidFill>
            <a:srgbClr val="2F5FA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995" y="2131465"/>
            <a:ext cx="3489698" cy="2363657"/>
          </a:xfrm>
          <a:prstGeom prst="roundRect">
            <a:avLst/>
          </a:prstGeom>
          <a:solidFill>
            <a:srgbClr val="A6CFB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-37621" y="1628831"/>
            <a:ext cx="155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/>
              <a:t>Cohort</a:t>
            </a:r>
            <a:r>
              <a:rPr lang="en-AU" sz="1200" b="1" dirty="0"/>
              <a:t>s</a:t>
            </a:r>
            <a:endParaRPr sz="12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139447" y="1389435"/>
            <a:ext cx="1828800" cy="523906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0" dirty="0">
                <a:solidFill>
                  <a:srgbClr val="000000"/>
                </a:solidFill>
              </a:rPr>
              <a:t>Cohort1: around 150 </a:t>
            </a:r>
            <a:br>
              <a:rPr lang="en-AU" sz="1400" b="0" dirty="0">
                <a:solidFill>
                  <a:srgbClr val="000000"/>
                </a:solidFill>
              </a:rPr>
            </a:br>
            <a:r>
              <a:rPr lang="en-AU" sz="1400" b="0" dirty="0">
                <a:solidFill>
                  <a:srgbClr val="000000"/>
                </a:solidFill>
              </a:rPr>
              <a:t>Cohort2: around 150</a:t>
            </a:r>
            <a:endParaRPr sz="1400" b="0" dirty="0">
              <a:solidFill>
                <a:srgbClr val="00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75014" y="2294818"/>
            <a:ext cx="1342884" cy="747793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Training</a:t>
            </a:r>
          </a:p>
          <a:p>
            <a:pPr algn="ctr"/>
            <a:r>
              <a:rPr sz="1300" b="0" dirty="0">
                <a:solidFill>
                  <a:srgbClr val="000000"/>
                </a:solidFill>
              </a:rPr>
              <a:t>(</a:t>
            </a:r>
            <a:r>
              <a:rPr lang="en-AU" sz="1300" b="0" dirty="0">
                <a:solidFill>
                  <a:srgbClr val="000000"/>
                </a:solidFill>
              </a:rPr>
              <a:t>5</a:t>
            </a:r>
            <a:r>
              <a:rPr sz="1300" b="0" dirty="0">
                <a:solidFill>
                  <a:srgbClr val="000000"/>
                </a:solidFill>
              </a:rPr>
              <a:t>0%</a:t>
            </a:r>
            <a:r>
              <a:rPr lang="en-AU" sz="1300" dirty="0">
                <a:solidFill>
                  <a:srgbClr val="000000"/>
                </a:solidFill>
              </a:rPr>
              <a:t> Cohort1</a:t>
            </a:r>
          </a:p>
          <a:p>
            <a:pPr algn="ctr"/>
            <a:r>
              <a:rPr lang="en-AU" sz="1300" dirty="0">
                <a:solidFill>
                  <a:srgbClr val="000000"/>
                </a:solidFill>
              </a:rPr>
              <a:t>+ 50% Cohort2</a:t>
            </a:r>
            <a:r>
              <a:rPr sz="13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0069" y="2315446"/>
            <a:ext cx="1090531" cy="747793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Tuning</a:t>
            </a:r>
          </a:p>
          <a:p>
            <a:pPr algn="ctr"/>
            <a:r>
              <a:rPr sz="1300" b="0" dirty="0">
                <a:solidFill>
                  <a:srgbClr val="000000"/>
                </a:solidFill>
              </a:rPr>
              <a:t>(</a:t>
            </a:r>
            <a:r>
              <a:rPr lang="en-AU" sz="1300" dirty="0">
                <a:solidFill>
                  <a:srgbClr val="000000"/>
                </a:solidFill>
              </a:rPr>
              <a:t>20</a:t>
            </a:r>
            <a:r>
              <a:rPr sz="1300" b="0" dirty="0">
                <a:solidFill>
                  <a:srgbClr val="000000"/>
                </a:solidFill>
              </a:rPr>
              <a:t>%</a:t>
            </a:r>
            <a:r>
              <a:rPr lang="en-AU" sz="1300" b="0" dirty="0">
                <a:solidFill>
                  <a:srgbClr val="000000"/>
                </a:solidFill>
              </a:rPr>
              <a:t> </a:t>
            </a:r>
            <a:r>
              <a:rPr lang="en-AU" sz="1300" dirty="0">
                <a:solidFill>
                  <a:srgbClr val="000000"/>
                </a:solidFill>
              </a:rPr>
              <a:t>Cohort1</a:t>
            </a:r>
            <a:r>
              <a:rPr sz="13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8165" y="2310138"/>
            <a:ext cx="1090531" cy="747793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Validation</a:t>
            </a:r>
            <a:endParaRPr lang="en-AU" sz="1300" b="0" dirty="0">
              <a:solidFill>
                <a:srgbClr val="000000"/>
              </a:solidFill>
            </a:endParaRPr>
          </a:p>
          <a:p>
            <a:pPr algn="ctr"/>
            <a:r>
              <a:rPr lang="en-AU" sz="1300" dirty="0">
                <a:solidFill>
                  <a:srgbClr val="000000"/>
                </a:solidFill>
              </a:rPr>
              <a:t>(20% Cohort2)</a:t>
            </a:r>
          </a:p>
          <a:p>
            <a:pPr algn="ctr"/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81747" y="3216142"/>
            <a:ext cx="155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/>
              <a:t>Outcome(s)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412" y="4860540"/>
            <a:ext cx="4694267" cy="1174506"/>
          </a:xfrm>
          <a:prstGeom prst="roundRect">
            <a:avLst/>
          </a:prstGeom>
          <a:solidFill>
            <a:srgbClr val="C4B0D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30106" y="5678062"/>
            <a:ext cx="3489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/>
              <a:t>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415" y="5009426"/>
            <a:ext cx="3302750" cy="218106"/>
          </a:xfrm>
          <a:prstGeom prst="roundRect">
            <a:avLst/>
          </a:prstGeom>
          <a:solidFill>
            <a:srgbClr val="FFFF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0" dirty="0">
                <a:solidFill>
                  <a:srgbClr val="000000"/>
                </a:solidFill>
              </a:rPr>
              <a:t>CPOP model</a:t>
            </a:r>
            <a:endParaRPr sz="1200" b="0" dirty="0">
              <a:solidFill>
                <a:srgbClr val="000000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88694" y="5359512"/>
            <a:ext cx="3302750" cy="218106"/>
          </a:xfrm>
          <a:prstGeom prst="roundRect">
            <a:avLst/>
          </a:prstGeom>
          <a:solidFill>
            <a:srgbClr val="FFFF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rgbClr val="000000"/>
                </a:solidFill>
              </a:rPr>
              <a:t>Basic ML models: RF, SVM</a:t>
            </a:r>
            <a:endParaRPr sz="1200" b="0" dirty="0">
              <a:solidFill>
                <a:srgbClr val="00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5014" y="5654406"/>
            <a:ext cx="3302750" cy="280422"/>
          </a:xfrm>
          <a:prstGeom prst="roundRect">
            <a:avLst/>
          </a:prstGeom>
          <a:solidFill>
            <a:srgbClr val="FFFF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rgbClr val="000000"/>
                </a:solidFill>
              </a:rPr>
              <a:t>GLM</a:t>
            </a:r>
            <a:endParaRPr sz="1200" b="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82846" y="2243569"/>
            <a:ext cx="1370953" cy="2243378"/>
          </a:xfrm>
          <a:prstGeom prst="roundRect">
            <a:avLst/>
          </a:prstGeom>
          <a:solidFill>
            <a:srgbClr val="A6CFB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69793" y="2433859"/>
            <a:ext cx="997057" cy="1070290"/>
          </a:xfrm>
          <a:prstGeom prst="roundRect">
            <a:avLst/>
          </a:prstGeom>
          <a:solidFill>
            <a:srgbClr val="FFFF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rgbClr val="000000"/>
                </a:solidFill>
              </a:rPr>
              <a:t>Validation</a:t>
            </a:r>
          </a:p>
          <a:p>
            <a:pPr algn="ctr"/>
            <a:r>
              <a:rPr lang="en-AU" sz="1200" dirty="0">
                <a:solidFill>
                  <a:srgbClr val="000000"/>
                </a:solidFill>
              </a:rPr>
              <a:t>(30% Cohort1)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3871" y="2331802"/>
            <a:ext cx="1184005" cy="2243378"/>
          </a:xfrm>
          <a:prstGeom prst="roundRect">
            <a:avLst/>
          </a:prstGeom>
          <a:solidFill>
            <a:srgbClr val="A6CFB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58487" y="5281202"/>
            <a:ext cx="4594737" cy="765789"/>
          </a:xfrm>
          <a:prstGeom prst="roundRect">
            <a:avLst/>
          </a:prstGeom>
          <a:solidFill>
            <a:srgbClr val="E5E5E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CPOP Models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11868" y="4891078"/>
            <a:ext cx="34273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b="1" dirty="0"/>
              <a:t>Final Model Selection</a:t>
            </a:r>
            <a:endParaRPr sz="1200" b="1" dirty="0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67ADA2EB-7C4D-4446-9A94-1417D0A4E24B}"/>
              </a:ext>
            </a:extLst>
          </p:cNvPr>
          <p:cNvSpPr/>
          <p:nvPr/>
        </p:nvSpPr>
        <p:spPr>
          <a:xfrm rot="16200000" flipH="1">
            <a:off x="1935004" y="4216164"/>
            <a:ext cx="765788" cy="37389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D278DBC3-E474-3364-2568-8C695351AD12}"/>
              </a:ext>
            </a:extLst>
          </p:cNvPr>
          <p:cNvSpPr/>
          <p:nvPr/>
        </p:nvSpPr>
        <p:spPr>
          <a:xfrm rot="16200000">
            <a:off x="4519736" y="3913918"/>
            <a:ext cx="819501" cy="37389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D7350364-917A-DCC2-1215-F469C33ED1DE}"/>
              </a:ext>
            </a:extLst>
          </p:cNvPr>
          <p:cNvCxnSpPr>
            <a:stCxn id="46" idx="0"/>
            <a:endCxn id="46" idx="2"/>
          </p:cNvCxnSpPr>
          <p:nvPr/>
        </p:nvCxnSpPr>
        <p:spPr>
          <a:xfrm rot="16200000" flipH="1">
            <a:off x="874714" y="4166230"/>
            <a:ext cx="4402107" cy="12700"/>
          </a:xfrm>
          <a:prstGeom prst="curvedConnector5">
            <a:avLst>
              <a:gd name="adj1" fmla="val -10990"/>
              <a:gd name="adj2" fmla="val 24508394"/>
              <a:gd name="adj3" fmla="val 1097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>
            <a:extLst>
              <a:ext uri="{FF2B5EF4-FFF2-40B4-BE49-F238E27FC236}">
                <a16:creationId xmlns:a16="http://schemas.microsoft.com/office/drawing/2014/main" id="{BA96C915-BEDF-0747-145D-67933DE7C002}"/>
              </a:ext>
            </a:extLst>
          </p:cNvPr>
          <p:cNvSpPr/>
          <p:nvPr/>
        </p:nvSpPr>
        <p:spPr>
          <a:xfrm>
            <a:off x="5641217" y="3375976"/>
            <a:ext cx="819501" cy="37389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819D5EFC-9170-11C6-BA6A-C2CCF4025507}"/>
              </a:ext>
            </a:extLst>
          </p:cNvPr>
          <p:cNvSpPr/>
          <p:nvPr/>
        </p:nvSpPr>
        <p:spPr>
          <a:xfrm rot="16200000" flipH="1">
            <a:off x="6954639" y="4205189"/>
            <a:ext cx="765788" cy="37389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2F63E6D5-320D-EB18-3345-8B1CEE1FA8E2}"/>
              </a:ext>
            </a:extLst>
          </p:cNvPr>
          <p:cNvSpPr/>
          <p:nvPr/>
        </p:nvSpPr>
        <p:spPr>
          <a:xfrm rot="16200000">
            <a:off x="9110442" y="4352075"/>
            <a:ext cx="819501" cy="37389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B7FAE56-EB2A-E832-B6EC-B14F5E7B6F10}"/>
              </a:ext>
            </a:extLst>
          </p:cNvPr>
          <p:cNvSpPr/>
          <p:nvPr/>
        </p:nvSpPr>
        <p:spPr>
          <a:xfrm>
            <a:off x="8967344" y="2494314"/>
            <a:ext cx="997057" cy="1070290"/>
          </a:xfrm>
          <a:prstGeom prst="roundRect">
            <a:avLst/>
          </a:prstGeom>
          <a:solidFill>
            <a:srgbClr val="FFFF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rgbClr val="000000"/>
                </a:solidFill>
              </a:rPr>
              <a:t>Validation</a:t>
            </a:r>
          </a:p>
          <a:p>
            <a:pPr algn="ctr"/>
            <a:r>
              <a:rPr lang="en-AU" sz="1200" dirty="0">
                <a:solidFill>
                  <a:srgbClr val="000000"/>
                </a:solidFill>
              </a:rPr>
              <a:t>(30% Cohort2)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A91D7-7A42-8B6A-49DD-A83516D076BF}"/>
              </a:ext>
            </a:extLst>
          </p:cNvPr>
          <p:cNvSpPr txBox="1"/>
          <p:nvPr/>
        </p:nvSpPr>
        <p:spPr>
          <a:xfrm>
            <a:off x="4182223" y="3192473"/>
            <a:ext cx="34273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b="1" dirty="0"/>
              <a:t>First Model Selection</a:t>
            </a:r>
            <a:endParaRPr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296B036-20BB-F3B5-D236-5467D9CE9288}"/>
              </a:ext>
            </a:extLst>
          </p:cNvPr>
          <p:cNvSpPr/>
          <p:nvPr/>
        </p:nvSpPr>
        <p:spPr>
          <a:xfrm>
            <a:off x="365760" y="457200"/>
            <a:ext cx="2306556" cy="2037907"/>
          </a:xfrm>
          <a:prstGeom prst="roundRect">
            <a:avLst/>
          </a:prstGeom>
          <a:solidFill>
            <a:srgbClr val="F2F6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Step 1 – Select data cohorts</a:t>
            </a: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• Choose </a:t>
            </a:r>
            <a:r>
              <a:rPr lang="en-AU" dirty="0">
                <a:solidFill>
                  <a:schemeClr val="tx1"/>
                </a:solidFill>
              </a:rPr>
              <a:t>50% Cohort 1 and 2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Ensure a shared feature set </a:t>
            </a:r>
            <a:endParaRPr lang="en-AU" dirty="0">
              <a:solidFill>
                <a:schemeClr val="tx1"/>
              </a:solidFill>
            </a:endParaRP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• No sample pairing required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983DB58C-F337-FF44-E600-050DFFAAC65D}"/>
              </a:ext>
            </a:extLst>
          </p:cNvPr>
          <p:cNvSpPr/>
          <p:nvPr/>
        </p:nvSpPr>
        <p:spPr>
          <a:xfrm>
            <a:off x="2834640" y="1417320"/>
            <a:ext cx="477756" cy="278691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402FD4-B604-F9A7-0535-4492A3C9E07D}"/>
              </a:ext>
            </a:extLst>
          </p:cNvPr>
          <p:cNvSpPr/>
          <p:nvPr/>
        </p:nvSpPr>
        <p:spPr>
          <a:xfrm>
            <a:off x="3463378" y="410417"/>
            <a:ext cx="2388782" cy="2229530"/>
          </a:xfrm>
          <a:prstGeom prst="roundRect">
            <a:avLst/>
          </a:prstGeom>
          <a:solidFill>
            <a:srgbClr val="F2F6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Step 2 – Build log‑ratio features Z</a:t>
            </a: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For each dataset X (</a:t>
            </a:r>
            <a:r>
              <a:rPr dirty="0" err="1">
                <a:solidFill>
                  <a:schemeClr val="tx1"/>
                </a:solidFill>
              </a:rPr>
              <a:t>n×p</a:t>
            </a:r>
            <a:r>
              <a:rPr dirty="0">
                <a:solidFill>
                  <a:schemeClr val="tx1"/>
                </a:solidFill>
              </a:rPr>
              <a:t>):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• Z has q = p(p−1)/2 columns</a:t>
            </a:r>
            <a:br>
              <a:rPr lang="en-AU"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Each feature: log(</a:t>
            </a:r>
            <a:r>
              <a:rPr dirty="0" err="1">
                <a:solidFill>
                  <a:schemeClr val="tx1"/>
                </a:solidFill>
              </a:rPr>
              <a:t>x_l</a:t>
            </a:r>
            <a:r>
              <a:rPr dirty="0">
                <a:solidFill>
                  <a:schemeClr val="tx1"/>
                </a:solidFill>
              </a:rPr>
              <a:t>) − log(</a:t>
            </a:r>
            <a:r>
              <a:rPr dirty="0" err="1">
                <a:solidFill>
                  <a:schemeClr val="tx1"/>
                </a:solidFill>
              </a:rPr>
              <a:t>x_m</a:t>
            </a:r>
            <a:r>
              <a:rPr dirty="0">
                <a:solidFill>
                  <a:schemeClr val="tx1"/>
                </a:solidFill>
              </a:rPr>
              <a:t>)</a:t>
            </a:r>
            <a:br>
              <a:rPr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• Prefer targeted panels to control q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29B4077-43AC-44D8-A93C-8D8FFE4C58BC}"/>
              </a:ext>
            </a:extLst>
          </p:cNvPr>
          <p:cNvSpPr/>
          <p:nvPr/>
        </p:nvSpPr>
        <p:spPr>
          <a:xfrm>
            <a:off x="6400800" y="1417320"/>
            <a:ext cx="477756" cy="278691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E2E483-D610-B8A2-57B9-D1A4B0CFDB75}"/>
              </a:ext>
            </a:extLst>
          </p:cNvPr>
          <p:cNvSpPr/>
          <p:nvPr/>
        </p:nvSpPr>
        <p:spPr>
          <a:xfrm>
            <a:off x="7040880" y="365760"/>
            <a:ext cx="2548034" cy="2388782"/>
          </a:xfrm>
          <a:prstGeom prst="roundRect">
            <a:avLst/>
          </a:prstGeom>
          <a:solidFill>
            <a:srgbClr val="F2F6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Step 3 – Weighted Elastic Net (WEN)</a:t>
            </a: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Fit WEN separately on Z₁ and Z₂ with penalty weights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wⱼ = |mean(Z₁ⱼ) − mean(Z₂ⱼ)| (</a:t>
            </a:r>
            <a:r>
              <a:rPr dirty="0" err="1">
                <a:solidFill>
                  <a:schemeClr val="tx1"/>
                </a:solidFill>
              </a:rPr>
              <a:t>penalise</a:t>
            </a:r>
            <a:r>
              <a:rPr dirty="0">
                <a:solidFill>
                  <a:schemeClr val="tx1"/>
                </a:solidFill>
              </a:rPr>
              <a:t> unstable ratios)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Select common predictive ratios</a:t>
            </a:r>
            <a:r>
              <a:rPr lang="en-AU" dirty="0">
                <a:solidFill>
                  <a:schemeClr val="tx1"/>
                </a:solidFill>
              </a:rPr>
              <a:t>: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  S</a:t>
            </a:r>
            <a:r>
              <a:rPr lang="en-AU" sz="1100" baseline="30000" dirty="0">
                <a:solidFill>
                  <a:schemeClr val="tx1"/>
                </a:solidFill>
              </a:rPr>
              <a:t>(1) </a:t>
            </a:r>
            <a:r>
              <a:rPr lang="en-AU" dirty="0">
                <a:solidFill>
                  <a:schemeClr val="tx1"/>
                </a:solidFill>
              </a:rPr>
              <a:t>= { j : </a:t>
            </a:r>
            <a:r>
              <a:rPr lang="el-GR" dirty="0">
                <a:solidFill>
                  <a:schemeClr val="tx1"/>
                </a:solidFill>
              </a:rPr>
              <a:t>β</a:t>
            </a:r>
            <a:r>
              <a:rPr lang="en-AU" dirty="0">
                <a:solidFill>
                  <a:schemeClr val="tx1"/>
                </a:solidFill>
              </a:rPr>
              <a:t>̂₁ⱼ ≠ 0 and </a:t>
            </a:r>
            <a:r>
              <a:rPr lang="el-GR" dirty="0">
                <a:solidFill>
                  <a:schemeClr val="tx1"/>
                </a:solidFill>
              </a:rPr>
              <a:t>β</a:t>
            </a:r>
            <a:r>
              <a:rPr lang="en-AU" dirty="0">
                <a:solidFill>
                  <a:schemeClr val="tx1"/>
                </a:solidFill>
              </a:rPr>
              <a:t>̂₂ⱼ ≠ 0 }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ECC0C2F-0299-3CA0-1B73-28CEAF615D63}"/>
              </a:ext>
            </a:extLst>
          </p:cNvPr>
          <p:cNvSpPr/>
          <p:nvPr/>
        </p:nvSpPr>
        <p:spPr>
          <a:xfrm rot="5400000">
            <a:off x="7606462" y="3380976"/>
            <a:ext cx="477756" cy="278691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96566C-2BB3-CF48-9667-799FD97CFE79}"/>
              </a:ext>
            </a:extLst>
          </p:cNvPr>
          <p:cNvSpPr/>
          <p:nvPr/>
        </p:nvSpPr>
        <p:spPr>
          <a:xfrm>
            <a:off x="7040880" y="4286101"/>
            <a:ext cx="2627660" cy="2309156"/>
          </a:xfrm>
          <a:prstGeom prst="roundRect">
            <a:avLst/>
          </a:prstGeom>
          <a:solidFill>
            <a:srgbClr val="F2F6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Step 4 – Between‑data stability filter</a:t>
            </a: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Ridge on S(1) in each dataset → β̂₁, β̂₂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Keep features with consistent effects/signs: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S</a:t>
            </a:r>
            <a:r>
              <a:rPr sz="1100" baseline="30000" dirty="0">
                <a:solidFill>
                  <a:schemeClr val="tx1"/>
                </a:solidFill>
              </a:rPr>
              <a:t>(2)</a:t>
            </a:r>
            <a:r>
              <a:rPr dirty="0">
                <a:solidFill>
                  <a:schemeClr val="tx1"/>
                </a:solidFill>
              </a:rPr>
              <a:t> = { j : sign(β̂₁ⱼ) = sign(β̂₂ⱼ) }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9F66ECF-C1F6-FED3-0B9D-2F36F92A7185}"/>
              </a:ext>
            </a:extLst>
          </p:cNvPr>
          <p:cNvSpPr/>
          <p:nvPr/>
        </p:nvSpPr>
        <p:spPr>
          <a:xfrm rot="10800000">
            <a:off x="6094412" y="5344632"/>
            <a:ext cx="278691" cy="477756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2DFCBF-FFD5-21A9-04CF-CAC97F560728}"/>
              </a:ext>
            </a:extLst>
          </p:cNvPr>
          <p:cNvSpPr/>
          <p:nvPr/>
        </p:nvSpPr>
        <p:spPr>
          <a:xfrm>
            <a:off x="684736" y="4724045"/>
            <a:ext cx="5167424" cy="1540831"/>
          </a:xfrm>
          <a:prstGeom prst="roundRect">
            <a:avLst/>
          </a:prstGeom>
          <a:solidFill>
            <a:srgbClr val="DAECD6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Step 5 – Final model estimation &amp; prediction</a:t>
            </a:r>
          </a:p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Unweighted ridge on S</a:t>
            </a:r>
            <a:r>
              <a:rPr baseline="30000" dirty="0">
                <a:solidFill>
                  <a:schemeClr val="tx1"/>
                </a:solidFill>
              </a:rPr>
              <a:t>(2)</a:t>
            </a:r>
            <a:r>
              <a:rPr dirty="0">
                <a:solidFill>
                  <a:schemeClr val="tx1"/>
                </a:solidFill>
              </a:rPr>
              <a:t> → models β̂_CPOP,1 and β̂_CPOP,2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Final coefficients: average the two models for deployment.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Predict a new sample without re‑normalization.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9E1723-0623-029F-B894-DD502E8634B4}"/>
              </a:ext>
            </a:extLst>
          </p:cNvPr>
          <p:cNvSpPr/>
          <p:nvPr/>
        </p:nvSpPr>
        <p:spPr>
          <a:xfrm>
            <a:off x="4265427" y="2803687"/>
            <a:ext cx="3173465" cy="1433269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>
              <a:defRPr sz="1200"/>
            </a:pPr>
            <a:r>
              <a:rPr dirty="0">
                <a:solidFill>
                  <a:schemeClr val="tx1"/>
                </a:solidFill>
              </a:rPr>
              <a:t>• Iteratively refine Steps 3–4 to </a:t>
            </a:r>
            <a:r>
              <a:rPr dirty="0" err="1">
                <a:solidFill>
                  <a:schemeClr val="tx1"/>
                </a:solidFill>
              </a:rPr>
              <a:t>stabilise</a:t>
            </a:r>
            <a:r>
              <a:rPr dirty="0">
                <a:solidFill>
                  <a:schemeClr val="tx1"/>
                </a:solidFill>
              </a:rPr>
              <a:t> S</a:t>
            </a:r>
            <a:r>
              <a:rPr sz="1100" baseline="30000" dirty="0">
                <a:solidFill>
                  <a:schemeClr val="tx1"/>
                </a:solidFill>
              </a:rPr>
              <a:t>(2)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Handle missing incoming features by imputation from reference data</a:t>
            </a:r>
            <a:br>
              <a:rPr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7E6AF-E2C1-F4AD-5A40-28B50524A7FF}"/>
              </a:ext>
            </a:extLst>
          </p:cNvPr>
          <p:cNvSpPr txBox="1"/>
          <p:nvPr/>
        </p:nvSpPr>
        <p:spPr>
          <a:xfrm>
            <a:off x="988828" y="6379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CPOP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EFE57F-1579-D6E4-5DAB-1D85DC6D68E5}"/>
              </a:ext>
            </a:extLst>
          </p:cNvPr>
          <p:cNvCxnSpPr>
            <a:stCxn id="7" idx="3"/>
          </p:cNvCxnSpPr>
          <p:nvPr/>
        </p:nvCxnSpPr>
        <p:spPr>
          <a:xfrm rot="5400000" flipH="1">
            <a:off x="7454729" y="3368589"/>
            <a:ext cx="781222" cy="12700"/>
          </a:xfrm>
          <a:prstGeom prst="curvedConnector5">
            <a:avLst>
              <a:gd name="adj1" fmla="val -29262"/>
              <a:gd name="adj2" fmla="val -3680929"/>
              <a:gd name="adj3" fmla="val 61467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82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371</Words>
  <Application>Microsoft Macintosh PowerPoint</Application>
  <PresentationFormat>Custom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 D</cp:lastModifiedBy>
  <cp:revision>4</cp:revision>
  <dcterms:created xsi:type="dcterms:W3CDTF">2013-01-27T09:14:16Z</dcterms:created>
  <dcterms:modified xsi:type="dcterms:W3CDTF">2025-11-03T03:33:10Z</dcterms:modified>
  <cp:category/>
</cp:coreProperties>
</file>