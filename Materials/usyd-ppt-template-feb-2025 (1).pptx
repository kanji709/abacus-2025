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4"/>
    <p:sldMasterId id="2147483713" r:id="rId5"/>
    <p:sldMasterId id="2147483720" r:id="rId6"/>
    <p:sldMasterId id="2147483725" r:id="rId7"/>
    <p:sldMasterId id="2147483753" r:id="rId8"/>
  </p:sldMasterIdLst>
  <p:notesMasterIdLst>
    <p:notesMasterId r:id="rId32"/>
  </p:notesMasterIdLst>
  <p:sldIdLst>
    <p:sldId id="393" r:id="rId9"/>
    <p:sldId id="519" r:id="rId10"/>
    <p:sldId id="539" r:id="rId11"/>
    <p:sldId id="1670" r:id="rId12"/>
    <p:sldId id="1659" r:id="rId13"/>
    <p:sldId id="1663" r:id="rId14"/>
    <p:sldId id="536" r:id="rId15"/>
    <p:sldId id="538" r:id="rId16"/>
    <p:sldId id="520" r:id="rId17"/>
    <p:sldId id="1671" r:id="rId18"/>
    <p:sldId id="1653" r:id="rId19"/>
    <p:sldId id="1397" r:id="rId20"/>
    <p:sldId id="1672" r:id="rId21"/>
    <p:sldId id="407" r:id="rId22"/>
    <p:sldId id="408" r:id="rId23"/>
    <p:sldId id="537" r:id="rId24"/>
    <p:sldId id="1669" r:id="rId25"/>
    <p:sldId id="521" r:id="rId26"/>
    <p:sldId id="1679" r:id="rId27"/>
    <p:sldId id="1680" r:id="rId28"/>
    <p:sldId id="1681" r:id="rId29"/>
    <p:sldId id="531" r:id="rId30"/>
    <p:sldId id="1675" r:id="rId3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D3551D-6E56-3115-7C93-54B8F2867FCD}" name="Dawn Leyland" initials="" userId="S::dawn.leyland@sydney.edu.au::0156b27b-d76c-496f-804d-eaf682773965" providerId="AD"/>
  <p188:author id="{B9ADBDA8-FF4E-24E2-FA2D-2D70436F6A6D}" name="Andrew Brettell" initials="AB" userId="S::andrew.brettell@sydney.edu.au::f44c2514-c849-4e7a-8552-86c664d14e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E1"/>
    <a:srgbClr val="414141"/>
    <a:srgbClr val="000000"/>
    <a:srgbClr val="873D35"/>
    <a:srgbClr val="8F9EC9"/>
    <a:srgbClr val="1A345E"/>
    <a:srgbClr val="DA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8A731-ED60-904F-B488-9436A457261C}" v="16" dt="2025-10-30T23:46:02.8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1"/>
    <p:restoredTop sz="95884"/>
  </p:normalViewPr>
  <p:slideViewPr>
    <p:cSldViewPr snapToGrid="0">
      <p:cViewPr varScale="1">
        <p:scale>
          <a:sx n="145" d="100"/>
          <a:sy n="145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53762-C138-0D4D-98BD-E45749408AA7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451B1-F1C2-C342-9482-CA419A1AF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1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3A37-4158-593F-8C14-24958307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EE52E-1CE1-9A29-7B7B-EA819785F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1A2DB-CC85-9CAE-D331-DA9459A2C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E3BB-2601-1A28-AC5B-503BBA5D0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5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897F-98E9-F43A-F2BC-45D6E32D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BDE0B-2638-319A-86F9-63D3D0D3F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4E5B8-79EB-5841-412A-A698425F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860BA-2F5F-76B2-0AE5-927084762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33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2168-5999-EF26-080D-914B5BB2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B2E88-FE75-E1A6-4CAF-5AF5031AE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F5C5D-38DF-B3EA-2F8A-EE9EBCFF6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2ED1-39F0-1500-ED8C-6172A64D1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CD04-C308-39FE-66C2-E074A1C6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85D35-EC26-15BA-5599-DEDCE3736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A32E9-DEA7-4D63-81B8-B37A2F0C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F3AB-E25F-7AD8-7F1B-007AE98B2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8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350B-2180-4E37-5186-7B2F43A3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8FCEE-5C90-32F9-8085-8F078879F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56A4F-4607-4DED-AD82-6764AB137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DA280-812F-C074-60E4-929BE109A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5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F56C-1D55-45AB-1CCC-519FB06B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AB991-3D40-7A6C-1570-9F0FFB63A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EAF05-1E3A-2987-9747-320C757CD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DF868-E4FD-EAC0-2AFB-ECC284B95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04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88C1-432B-BB2B-6AF4-0C98FAEF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E188D-81E7-0807-C6E5-42E5CECDD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2B126-E609-3741-35BC-F29B07A4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B1DD9-35B6-6FD9-AE92-8FAB4CEB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" y="1812923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/>
              <a:t>Presentation subheading </a:t>
            </a:r>
            <a:br>
              <a:rPr lang="en-GB"/>
            </a:br>
            <a:r>
              <a:rPr lang="en-GB"/>
              <a:t>can go over 2 lines 28pt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3108324"/>
            <a:ext cx="5533967" cy="6064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11BDAC-8640-232C-8AA9-58B28238E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3986813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9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1813272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7C8522-1D1F-6885-6C75-3131D1B98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943350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0" y="0"/>
            <a:ext cx="915531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5406CF-7A89-E373-E12A-6D0F46DD3D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3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6D37ED-27E5-AE93-0796-AAE7687CBB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39797D-3238-5637-CDB3-B336C7726E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5A468-BEE5-4DEF-FEB5-93F5619DC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969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4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55181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 algn="l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088DD-1084-A341-27B4-5A10814D6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2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64325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University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Sydney’s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Camperdown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sits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Gadigal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people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with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campuses,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teaching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research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facilities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4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2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Gamaraygal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Dharug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Wangal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Darkinyung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10" err="1">
                <a:latin typeface="Arial"/>
                <a:cs typeface="Arial"/>
              </a:rPr>
              <a:t>Burramadagal</a:t>
            </a:r>
            <a:r>
              <a:rPr lang="en-AU" sz="1800" spc="-10">
                <a:latin typeface="Arial"/>
                <a:cs typeface="Arial"/>
              </a:rPr>
              <a:t>, </a:t>
            </a:r>
            <a:r>
              <a:rPr lang="en-AU" sz="1800" err="1">
                <a:latin typeface="Arial"/>
                <a:cs typeface="Arial"/>
              </a:rPr>
              <a:t>Dharawal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Gandangara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Gamilaraay,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Barkindji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Bundjalung,</a:t>
            </a:r>
            <a:r>
              <a:rPr lang="en-AU" sz="1800" spc="-10">
                <a:latin typeface="Arial"/>
                <a:cs typeface="Arial"/>
              </a:rPr>
              <a:t> Wiradjuri, </a:t>
            </a:r>
            <a:r>
              <a:rPr lang="en-AU" sz="1800" err="1">
                <a:latin typeface="Arial"/>
                <a:cs typeface="Arial"/>
              </a:rPr>
              <a:t>Ngunawal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Gagadju</a:t>
            </a:r>
            <a:r>
              <a:rPr lang="en-AU" sz="1800" spc="-10">
                <a:latin typeface="Arial"/>
                <a:cs typeface="Arial"/>
              </a:rPr>
              <a:t> peoples.</a:t>
            </a:r>
            <a:endParaRPr lang="en-AU" sz="1800"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E6B5EA-D71E-5840-6F2F-FE964EA7C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984068"/>
            <a:ext cx="5511800" cy="15114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00" i="0">
                <a:latin typeface="Arial"/>
                <a:cs typeface="Arial"/>
              </a:rPr>
              <a:t>Add in own text for Acknowledgement of Country 18pt</a:t>
            </a:r>
            <a:endParaRPr lang="en-AU" sz="1800" i="0" spc="-20">
              <a:latin typeface="Arial"/>
              <a:cs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8E0A38-BB43-C185-B50B-304F295C5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4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4546F0-922A-43AF-F76C-2BA2453F5BBF}"/>
              </a:ext>
            </a:extLst>
          </p:cNvPr>
          <p:cNvSpPr txBox="1">
            <a:spLocks/>
          </p:cNvSpPr>
          <p:nvPr userDrawn="1"/>
        </p:nvSpPr>
        <p:spPr>
          <a:xfrm>
            <a:off x="571501" y="1200150"/>
            <a:ext cx="3055937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Supporting you with: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Co-curricular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Academic &amp; Learning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Health, Disability &amp; Wellbeing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Sexual Misconduct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Financial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Bullying &amp; Harassment</a:t>
            </a:r>
          </a:p>
        </p:txBody>
      </p:sp>
      <p:pic>
        <p:nvPicPr>
          <p:cNvPr id="5" name="Picture Placeholder 3" descr="Four people walking through the main entrance to the Quadrangle.">
            <a:extLst>
              <a:ext uri="{FF2B5EF4-FFF2-40B4-BE49-F238E27FC236}">
                <a16:creationId xmlns:a16="http://schemas.microsoft.com/office/drawing/2014/main" id="{F7ED3CB8-A125-3F6D-F9F2-DF091420B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2083" y="0"/>
            <a:ext cx="4581917" cy="5143500"/>
          </a:xfrm>
          <a:prstGeom prst="rect">
            <a:avLst/>
          </a:prstGeom>
          <a:solidFill>
            <a:schemeClr val="bg2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1C8724-13AD-A382-B9BF-D29BD4103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0" y="4019550"/>
            <a:ext cx="759557" cy="759557"/>
            <a:chOff x="3514529" y="3257550"/>
            <a:chExt cx="759557" cy="7595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F48B21-6483-89F4-DD27-36BC12586B71}"/>
                </a:ext>
              </a:extLst>
            </p:cNvPr>
            <p:cNvSpPr/>
            <p:nvPr/>
          </p:nvSpPr>
          <p:spPr>
            <a:xfrm>
              <a:off x="3514529" y="3257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118CC9F0-CBFB-6D99-0F0D-E855F5D4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9478" y="3273668"/>
              <a:ext cx="729658" cy="727319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8B58231-720A-3A7A-2505-4957ADE7A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448" y="590550"/>
            <a:ext cx="4010635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Student </a:t>
            </a:r>
            <a:r>
              <a:rPr lang="en-US" i="1"/>
              <a:t>Life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21CAD2-32FB-6D33-26E6-599142AFFE16}"/>
              </a:ext>
            </a:extLst>
          </p:cNvPr>
          <p:cNvSpPr txBox="1">
            <a:spLocks/>
          </p:cNvSpPr>
          <p:nvPr userDrawn="1"/>
        </p:nvSpPr>
        <p:spPr>
          <a:xfrm>
            <a:off x="571501" y="1581150"/>
            <a:ext cx="4671350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Informed by our University experts and addressing our unique needs as a place of work, study and research: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Supporting health: </a:t>
            </a:r>
            <a:r>
              <a:rPr lang="en-US" sz="1300"/>
              <a:t>staff health support services, including return to work and workplace adjustments, counselling and coaching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Preventing harm: </a:t>
            </a:r>
            <a:r>
              <a:rPr lang="en-US" sz="1300"/>
              <a:t>psychosocial hazards, leader-specific toolkits, Fitness Passport and our flu vaccination program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Promoting thriving: </a:t>
            </a:r>
            <a:r>
              <a:rPr lang="en-US" sz="1300"/>
              <a:t>health and wellbeing events, learning and development, Wellbeing Champions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93E48-6357-3857-6034-2F2978854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45754" y="4019550"/>
            <a:ext cx="759557" cy="759557"/>
            <a:chOff x="5257800" y="4019550"/>
            <a:chExt cx="759557" cy="759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D3BC1C-AEEF-7D31-694C-745B778D56B5}"/>
                </a:ext>
              </a:extLst>
            </p:cNvPr>
            <p:cNvSpPr/>
            <p:nvPr/>
          </p:nvSpPr>
          <p:spPr>
            <a:xfrm>
              <a:off x="5257800" y="4019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0F239-AC4D-1E3F-298B-AEDB82F15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0989" y="4045581"/>
              <a:ext cx="707494" cy="707493"/>
            </a:xfrm>
            <a:prstGeom prst="rect">
              <a:avLst/>
            </a:prstGeom>
          </p:spPr>
        </p:pic>
      </p:grpSp>
      <p:pic>
        <p:nvPicPr>
          <p:cNvPr id="8" name="Picture Placeholder 3" descr="A group of people sitting at a table in the Quadrangle lawns during a function, with others standing in the background.">
            <a:extLst>
              <a:ext uri="{FF2B5EF4-FFF2-40B4-BE49-F238E27FC236}">
                <a16:creationId xmlns:a16="http://schemas.microsoft.com/office/drawing/2014/main" id="{99AB24B3-5E38-51B7-4D53-F7F15C8665AD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6298" y="0"/>
            <a:ext cx="3097702" cy="51435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E58CD4-2C75-EAAC-D753-D83D3C3E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667" y="578461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Staff Health and </a:t>
            </a:r>
            <a:br>
              <a:rPr lang="en-US"/>
            </a:br>
            <a:r>
              <a:rPr lang="en-US"/>
              <a:t>Wellbeing Program </a:t>
            </a:r>
            <a:r>
              <a:rPr lang="en-US" i="1"/>
              <a:t>2023-2026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02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9931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B9D67C-39D6-1CF6-4A0E-3E234CB0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19774E-6CB1-18EA-7464-8A2105EA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DDCE3-2621-40D5-0F4E-6D7787BA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1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A2F580-458B-6978-E5C4-D439F8A8EF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DE63B7-3D2D-E116-E58F-2358C7026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931C68-5A57-D921-2A9C-73B3990F8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0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367AE0-0B1A-C793-8FD0-6C83B3BAF9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1066835-3577-7EA9-7C60-12C9BC765B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1239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1">
                <a:latin typeface="Times" pitchFamily="2" charset="0"/>
              </a:rPr>
              <a:t>1-2 lines of copy</a:t>
            </a:r>
          </a:p>
          <a:p>
            <a:pPr marL="12700">
              <a:spcBef>
                <a:spcPts val="100"/>
              </a:spcBef>
            </a:pP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AAED2F-1B70-12A0-8666-145503BFB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3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latin typeface="Times" pitchFamily="2" charset="0"/>
              </a:rPr>
              <a:t>1-2 lines of copy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3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break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22D78-7BA7-65B0-0EEE-0A792B433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B0E7B-FB3B-69F1-A14A-171E812F8A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FD17E9-68CF-24D2-3900-A8DF3B5883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break 3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43B30-F643-5953-909F-59DB30DAE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D8F6FB-2C1C-F109-DF00-59FF9854A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68A364-34D1-6159-0A81-A0137190A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D41BF0-E578-6B9F-D0D8-21CBFD4A1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01303"/>
            <a:ext cx="5083630" cy="9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2FA554D-90A4-9E1C-B3B1-C4E7FD2E6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14550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9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356158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3491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1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3333750"/>
            <a:ext cx="5829300" cy="100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65" y="-960120"/>
            <a:ext cx="9144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9144000" cy="3028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28950"/>
            <a:ext cx="9144000" cy="71436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85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40647"/>
            <a:ext cx="9144000" cy="459740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47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13" y="1657350"/>
            <a:ext cx="3152775" cy="2362200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buNone/>
              <a:defRPr sz="10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000" b="1">
                <a:latin typeface="Arial"/>
                <a:cs typeface="Arial"/>
              </a:rPr>
              <a:t>Insert team/discipline </a:t>
            </a:r>
            <a:r>
              <a:rPr lang="en-AU" sz="1000" b="1" spc="-20">
                <a:latin typeface="Arial"/>
                <a:cs typeface="Arial"/>
              </a:rPr>
              <a:t>area</a:t>
            </a:r>
            <a:endParaRPr lang="en-AU" sz="100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Name</a:t>
            </a:r>
            <a:r>
              <a:rPr lang="en-AU" sz="1000" spc="-20">
                <a:latin typeface="Arial"/>
                <a:cs typeface="Arial"/>
              </a:rPr>
              <a:t> </a:t>
            </a:r>
            <a:r>
              <a:rPr lang="en-AU" sz="1000" spc="-10">
                <a:latin typeface="Arial"/>
                <a:cs typeface="Arial"/>
              </a:rPr>
              <a:t>Surname Title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+61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2</a:t>
            </a:r>
            <a:r>
              <a:rPr lang="en-AU" sz="1000" spc="-5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1234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 spc="-20">
                <a:latin typeface="Arial"/>
                <a:cs typeface="Arial"/>
              </a:rPr>
              <a:t>5678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spc="-10">
                <a:latin typeface="Arial"/>
                <a:cs typeface="Arial"/>
                <a:hlinkClick r:id="rId2"/>
              </a:rPr>
              <a:t>first.last@sydney.edu.au</a:t>
            </a:r>
            <a:endParaRPr lang="en-AU"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b="1" spc="-10" err="1">
                <a:latin typeface="Arial"/>
                <a:cs typeface="Arial"/>
              </a:rPr>
              <a:t>sydney.edu.au</a:t>
            </a:r>
            <a:r>
              <a:rPr lang="en-AU" sz="1000" b="1" spc="-10">
                <a:latin typeface="Arial"/>
                <a:cs typeface="Arial"/>
              </a:rPr>
              <a:t>/</a:t>
            </a:r>
            <a:r>
              <a:rPr lang="en-AU" sz="1000" b="1" spc="-10" err="1">
                <a:latin typeface="Arial"/>
                <a:cs typeface="Arial"/>
              </a:rPr>
              <a:t>xxxx</a:t>
            </a:r>
            <a:endParaRPr lang="en-AU"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2180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66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602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474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30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1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8334D-F6CE-6F26-F021-0B9D5783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62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2968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A890-DBCE-9D0B-FC1E-1FBC36406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94637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6E6E4-89B8-DE75-7430-4DB49BAA2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3346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EBB7-A22D-DEA0-3883-7D6A226ED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0432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C447-82BB-3065-F7F8-2993FACA6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684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A7D94-FC97-9D5C-C395-284A560F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033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A8BAD8-45B3-FA80-A6FD-062B923B62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3511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8B64C5-69D6-29E7-DC8C-3D7E36B92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0449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F1E3-1C14-C1DF-E876-81BE15B66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</a:p>
        </p:txBody>
      </p:sp>
    </p:spTree>
    <p:extLst>
      <p:ext uri="{BB962C8B-B14F-4D97-AF65-F5344CB8AC3E}">
        <p14:creationId xmlns:p14="http://schemas.microsoft.com/office/powerpoint/2010/main" val="10994655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EEB19-4E3F-B145-7FD5-34ED6F606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</a:p>
        </p:txBody>
      </p:sp>
    </p:spTree>
    <p:extLst>
      <p:ext uri="{BB962C8B-B14F-4D97-AF65-F5344CB8AC3E}">
        <p14:creationId xmlns:p14="http://schemas.microsoft.com/office/powerpoint/2010/main" val="92183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A3C1-A213-1628-DCF0-0721D033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</a:p>
        </p:txBody>
      </p:sp>
    </p:spTree>
    <p:extLst>
      <p:ext uri="{BB962C8B-B14F-4D97-AF65-F5344CB8AC3E}">
        <p14:creationId xmlns:p14="http://schemas.microsoft.com/office/powerpoint/2010/main" val="16119798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518918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1885950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77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22618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677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48556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95856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42663204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660FC81-FDB2-6847-91E7-792B3F29E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</a:p>
        </p:txBody>
      </p:sp>
    </p:spTree>
    <p:extLst>
      <p:ext uri="{BB962C8B-B14F-4D97-AF65-F5344CB8AC3E}">
        <p14:creationId xmlns:p14="http://schemas.microsoft.com/office/powerpoint/2010/main" val="21317314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BE29F25-B1A6-E14D-D106-B0B1A8245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26382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75C487F-806F-DF0A-C957-59A18F20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9042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tex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226724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199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86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8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5" r:id="rId2"/>
    <p:sldLayoutId id="2147483707" r:id="rId3"/>
    <p:sldLayoutId id="2147483745" r:id="rId4"/>
    <p:sldLayoutId id="2147483746" r:id="rId5"/>
    <p:sldLayoutId id="2147483747" r:id="rId6"/>
    <p:sldLayoutId id="2147483796" r:id="rId7"/>
    <p:sldLayoutId id="2147483798" r:id="rId8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8" r:id="rId3"/>
    <p:sldLayoutId id="2147483794" r:id="rId4"/>
    <p:sldLayoutId id="2147483795" r:id="rId5"/>
    <p:sldLayoutId id="2147483787" r:id="rId6"/>
    <p:sldLayoutId id="2147483788" r:id="rId7"/>
    <p:sldLayoutId id="2147483797" r:id="rId8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5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4" r:id="rId3"/>
    <p:sldLayoutId id="2147483750" r:id="rId4"/>
    <p:sldLayoutId id="2147483749" r:id="rId5"/>
    <p:sldLayoutId id="2147483751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6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3" r:id="rId2"/>
    <p:sldLayoutId id="2147483734" r:id="rId3"/>
    <p:sldLayoutId id="2147483735" r:id="rId4"/>
    <p:sldLayoutId id="2147483732" r:id="rId5"/>
    <p:sldLayoutId id="2147483727" r:id="rId6"/>
    <p:sldLayoutId id="2147483728" r:id="rId7"/>
    <p:sldLayoutId id="2147483736" r:id="rId8"/>
    <p:sldLayoutId id="2147483748" r:id="rId9"/>
    <p:sldLayoutId id="2147483738" r:id="rId10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1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2.xml"/><Relationship Id="rId16" Type="http://schemas.openxmlformats.org/officeDocument/2006/relationships/image" Target="../media/image2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0.png"/><Relationship Id="rId5" Type="http://schemas.openxmlformats.org/officeDocument/2006/relationships/tags" Target="../tags/tag5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Relationship Id="rId9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2.jpe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1.jpe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38332B-A9FD-5471-0C19-5C5B571B83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2033" y="501038"/>
            <a:ext cx="5533967" cy="1066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OptiMark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</a:t>
            </a:r>
            <a:r>
              <a:rPr kumimoji="0" lang="en-US" sz="2800" b="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Optimised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Multi-Objective Biomarker Selection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2E5F3FE-A8C5-DCD3-6ABB-AB332A185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21635" y="0"/>
            <a:ext cx="2222682" cy="895347"/>
          </a:xfrm>
          <a:custGeom>
            <a:avLst/>
            <a:gdLst/>
            <a:ahLst/>
            <a:cxnLst/>
            <a:rect l="l" t="t" r="r" b="b"/>
            <a:pathLst>
              <a:path w="2843529" h="828675">
                <a:moveTo>
                  <a:pt x="2843212" y="0"/>
                </a:moveTo>
                <a:lnTo>
                  <a:pt x="0" y="0"/>
                </a:lnTo>
                <a:lnTo>
                  <a:pt x="0" y="828675"/>
                </a:lnTo>
                <a:lnTo>
                  <a:pt x="2843212" y="828675"/>
                </a:lnTo>
                <a:lnTo>
                  <a:pt x="2843212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">
            <a:extLst>
              <a:ext uri="{FF2B5EF4-FFF2-40B4-BE49-F238E27FC236}">
                <a16:creationId xmlns:a16="http://schemas.microsoft.com/office/drawing/2014/main" id="{108FD3FE-57AF-C32F-3A8E-B769E1DE0E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162800" y="62084"/>
            <a:ext cx="1905000" cy="771177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AU" sz="800">
                <a:solidFill>
                  <a:srgbClr val="FFFFFF"/>
                </a:solidFill>
                <a:latin typeface="Arial"/>
                <a:cs typeface="Arial"/>
              </a:rPr>
              <a:t>USER NOTE: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AU" sz="800">
                <a:solidFill>
                  <a:srgbClr val="FFFFFF"/>
                </a:solidFill>
                <a:latin typeface="Arial"/>
                <a:cs typeface="Arial"/>
              </a:rPr>
              <a:t>There are more Title Slide options available to add to your presentation </a:t>
            </a:r>
            <a:br>
              <a:rPr lang="en-AU" sz="80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AU" sz="800">
                <a:solidFill>
                  <a:srgbClr val="FFFFFF"/>
                </a:solidFill>
                <a:latin typeface="Arial"/>
                <a:cs typeface="Arial"/>
              </a:rPr>
              <a:t>by going to: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AU" sz="800">
                <a:solidFill>
                  <a:srgbClr val="FFFFFF"/>
                </a:solidFill>
                <a:latin typeface="Arial"/>
                <a:cs typeface="Arial"/>
              </a:rPr>
              <a:t>Home tab &gt; New Slide &gt; Drop down arrow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DF412E-B024-1642-56C1-66710D57AB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1733550"/>
            <a:ext cx="5533967" cy="1066800"/>
          </a:xfrm>
        </p:spPr>
        <p:txBody>
          <a:bodyPr/>
          <a:lstStyle/>
          <a:p>
            <a:r>
              <a:rPr lang="en-AU"/>
              <a:t>From reproducible signatures to translational-ready panels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333D6-422E-7651-933C-816B702B89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Presented by Wenze 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C8A6C62-0360-66EE-22F7-3BE50712D6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4400" y="4227776"/>
            <a:ext cx="3502275" cy="414686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9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C661-3350-03D6-E56E-49CA6567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5BAD-1906-86A8-6827-A587076D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</p:spPr>
        <p:txBody>
          <a:bodyPr/>
          <a:lstStyle/>
          <a:p>
            <a:r>
              <a:rPr lang="en-AU"/>
              <a:t>Talk Overview</a:t>
            </a:r>
            <a:endParaRPr lang="en-US"/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72AEB00E-3D53-FF02-9C93-02EC4C95F86A}"/>
              </a:ext>
            </a:extLst>
          </p:cNvPr>
          <p:cNvSpPr txBox="1">
            <a:spLocks/>
          </p:cNvSpPr>
          <p:nvPr/>
        </p:nvSpPr>
        <p:spPr>
          <a:xfrm>
            <a:off x="577850" y="1349957"/>
            <a:ext cx="4876800" cy="587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Motivation</a:t>
            </a:r>
            <a:r>
              <a:rPr lang="en-AU"/>
              <a:t>: clinical translation demands more than high AUC on a single cohort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076007E5-CCBE-8CF8-54A8-478FDB7F55F1}"/>
              </a:ext>
            </a:extLst>
          </p:cNvPr>
          <p:cNvSpPr txBox="1">
            <a:spLocks/>
          </p:cNvSpPr>
          <p:nvPr/>
        </p:nvSpPr>
        <p:spPr>
          <a:xfrm>
            <a:off x="577850" y="2259517"/>
            <a:ext cx="4876800" cy="557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Key gaps</a:t>
            </a:r>
            <a:r>
              <a:rPr lang="en-AU"/>
              <a:t>: transferability, patent, shadow contribution of non-selected markers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6FE82A0A-6139-78FD-26DD-5F2743FA61DE}"/>
              </a:ext>
            </a:extLst>
          </p:cNvPr>
          <p:cNvSpPr txBox="1">
            <a:spLocks/>
          </p:cNvSpPr>
          <p:nvPr/>
        </p:nvSpPr>
        <p:spPr>
          <a:xfrm>
            <a:off x="577850" y="3004784"/>
            <a:ext cx="4876800" cy="8800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What </a:t>
            </a:r>
            <a:r>
              <a:rPr lang="en-AU" b="1" err="1"/>
              <a:t>OptiMark</a:t>
            </a:r>
            <a:r>
              <a:rPr lang="en-AU" b="1"/>
              <a:t> does</a:t>
            </a:r>
            <a:r>
              <a:rPr lang="en-AU"/>
              <a:t>: explicit objectives and constraints → a clinically feasible solution set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524AFFC9-ECC9-30A5-FCEB-EAE56017BB14}"/>
              </a:ext>
            </a:extLst>
          </p:cNvPr>
          <p:cNvSpPr txBox="1">
            <a:spLocks/>
          </p:cNvSpPr>
          <p:nvPr/>
        </p:nvSpPr>
        <p:spPr>
          <a:xfrm>
            <a:off x="577850" y="4248149"/>
            <a:ext cx="4876800" cy="570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Contributions</a:t>
            </a:r>
            <a:r>
              <a:rPr lang="en-AU"/>
              <a:t>: a framework, scalability, applications</a:t>
            </a:r>
          </a:p>
        </p:txBody>
      </p:sp>
      <p:pic>
        <p:nvPicPr>
          <p:cNvPr id="23" name="Picture Placeholder 3" descr="Close up of flowering jacaranda branches.">
            <a:extLst>
              <a:ext uri="{FF2B5EF4-FFF2-40B4-BE49-F238E27FC236}">
                <a16:creationId xmlns:a16="http://schemas.microsoft.com/office/drawing/2014/main" id="{F191E484-ABC7-163B-AEE9-10E4B3EF33FC}"/>
              </a:ext>
            </a:extLst>
          </p:cNvPr>
          <p:cNvPicPr>
            <a:picLocks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1204" y="0"/>
            <a:ext cx="3352796" cy="5143500"/>
          </a:xfrm>
          <a:prstGeom prst="rect">
            <a:avLst/>
          </a:prstGeom>
          <a:solidFill>
            <a:schemeClr val="bg2"/>
          </a:solidFill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F47173A-3C9E-263A-86C6-0ADAFB1A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1848974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7D1481-BF24-0198-F724-B669A264D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2728989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184D1C-85E9-0650-4D8C-469AE710D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3609004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29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822EF-D05F-574A-65CD-C8DB01A1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5ADD-2664-8CB6-659E-01B305D7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r>
              <a:rPr lang="en-GB" dirty="0">
                <a:latin typeface="Times"/>
              </a:rPr>
              <a:t>Problem motivation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08297-6A52-9B76-E568-D3138A8F0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412951"/>
            <a:ext cx="2194559" cy="3327569"/>
          </a:xfrm>
        </p:spPr>
        <p:txBody>
          <a:bodyPr lIns="91440" tIns="45720" rIns="91440" bIns="45720" anchor="t"/>
          <a:lstStyle/>
          <a:p>
            <a:r>
              <a:rPr lang="en-GB" dirty="0">
                <a:cs typeface="Arial"/>
              </a:rPr>
              <a:t>Translational Obstetrics Group </a:t>
            </a:r>
          </a:p>
          <a:p>
            <a:pPr marL="0" indent="0">
              <a:buNone/>
            </a:pPr>
            <a:r>
              <a:rPr lang="zh-CN" altLang="en-US" dirty="0">
                <a:cs typeface="Arial"/>
              </a:rPr>
              <a:t>   </a:t>
            </a:r>
            <a:r>
              <a:rPr lang="en-GB" altLang="zh-CN" dirty="0">
                <a:cs typeface="Arial"/>
              </a:rPr>
              <a:t>from</a:t>
            </a:r>
            <a:r>
              <a:rPr lang="en-GB" dirty="0">
                <a:cs typeface="Arial"/>
              </a:rPr>
              <a:t> Melbourne  Medical School</a:t>
            </a:r>
          </a:p>
          <a:p>
            <a:endParaRPr lang="en-GB" dirty="0">
              <a:cs typeface="Arial"/>
            </a:endParaRPr>
          </a:p>
          <a:p>
            <a:r>
              <a:rPr lang="en-GB" dirty="0">
                <a:cs typeface="Arial"/>
              </a:rPr>
              <a:t>Use blood analytes to predict</a:t>
            </a:r>
          </a:p>
          <a:p>
            <a:pPr marL="0" indent="0">
              <a:buNone/>
            </a:pPr>
            <a:r>
              <a:rPr lang="en-GB" dirty="0">
                <a:cs typeface="Arial"/>
              </a:rPr>
              <a:t>   </a:t>
            </a:r>
            <a:r>
              <a:rPr lang="en-GB" dirty="0" err="1">
                <a:cs typeface="Arial"/>
              </a:rPr>
              <a:t>Fetal</a:t>
            </a:r>
            <a:r>
              <a:rPr lang="en-GB" dirty="0">
                <a:cs typeface="Arial"/>
              </a:rPr>
              <a:t> Growth Restriction (FGR)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pic>
        <p:nvPicPr>
          <p:cNvPr id="5" name="Picture 4" descr="A group of people with text and images&#10;&#10;AI-generated content may be incorrect.">
            <a:extLst>
              <a:ext uri="{FF2B5EF4-FFF2-40B4-BE49-F238E27FC236}">
                <a16:creationId xmlns:a16="http://schemas.microsoft.com/office/drawing/2014/main" id="{C1A2DA2E-54BE-CC39-7B71-13EA5F8ED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0" y="1105930"/>
            <a:ext cx="5247667" cy="4212916"/>
          </a:xfrm>
          <a:prstGeom prst="rect">
            <a:avLst/>
          </a:prstGeom>
        </p:spPr>
      </p:pic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E094A89-7839-7B15-3903-859E69AC2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914" y="2174261"/>
            <a:ext cx="1111223" cy="1381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3C5F2-16D9-9995-180B-D5082EAE6159}"/>
              </a:ext>
            </a:extLst>
          </p:cNvPr>
          <p:cNvSpPr txBox="1"/>
          <p:nvPr/>
        </p:nvSpPr>
        <p:spPr>
          <a:xfrm>
            <a:off x="7364346" y="3668239"/>
            <a:ext cx="177965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AU" sz="1200" dirty="0"/>
              <a:t>Postdoctoral Research </a:t>
            </a:r>
          </a:p>
          <a:p>
            <a:pPr rtl="0"/>
            <a:r>
              <a:rPr lang="en-AU" sz="1200" dirty="0"/>
              <a:t>Fellow</a:t>
            </a:r>
          </a:p>
          <a:p>
            <a:pPr rtl="0"/>
            <a:endParaRPr lang="en-AU" sz="1200" b="1" dirty="0"/>
          </a:p>
          <a:p>
            <a:pPr rtl="0"/>
            <a:r>
              <a:rPr lang="en-AU" sz="1200" b="1" dirty="0"/>
              <a:t>       Lucy Bartho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CB0A-5F2C-4BC7-D2D9-C0C645CF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backgrounds of FGR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62AFA-0F1F-0E30-BCE0-1994647B4E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972" y="1769290"/>
            <a:ext cx="6684962" cy="2755900"/>
          </a:xfrm>
        </p:spPr>
        <p:txBody>
          <a:bodyPr/>
          <a:lstStyle/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Pregnancy is a complicated process with </a:t>
            </a:r>
            <a:r>
              <a:rPr lang="en-US" dirty="0">
                <a:latin typeface="Garamond" panose="02020404030301010803" pitchFamily="18" charset="0"/>
              </a:rPr>
              <a:t>maternal, placental and fetal factors determine pregnancy outcomes.</a:t>
            </a:r>
            <a:r>
              <a:rPr lang="en-AU" dirty="0">
                <a:latin typeface="Garamond" panose="02020404030301010803" pitchFamily="18" charset="0"/>
              </a:rPr>
              <a:t>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 dirty="0">
                <a:latin typeface="Garamond" panose="02020404030301010803" pitchFamily="18" charset="0"/>
              </a:rPr>
              <a:t>Fetal growth restriction (FGR) affects ~5% of pregnancies.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 dirty="0">
                <a:latin typeface="Garamond" panose="02020404030301010803" pitchFamily="18" charset="0"/>
              </a:rPr>
              <a:t>FGR increases risk of stillbirth, neonatal complications, and long-term disease.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 dirty="0">
                <a:latin typeface="Garamond" panose="02020404030301010803" pitchFamily="18" charset="0"/>
              </a:rPr>
              <a:t>Better biomarkers could guide timely interventions and reduce preventable harm.</a:t>
            </a:r>
          </a:p>
        </p:txBody>
      </p:sp>
    </p:spTree>
    <p:extLst>
      <p:ext uri="{BB962C8B-B14F-4D97-AF65-F5344CB8AC3E}">
        <p14:creationId xmlns:p14="http://schemas.microsoft.com/office/powerpoint/2010/main" val="205665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928D60-6150-3D7D-4480-DA6AD9467908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4D25D1F-2D85-E3E1-0CF1-0C2FF320C4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0053" y="227052"/>
            <a:ext cx="1337818" cy="301645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B9C8D6E-760B-F31B-3B54-23A1EBAD95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61462" y="109181"/>
            <a:ext cx="3865465" cy="2158373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7FD46E1-804C-3010-2179-515B693E0E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235077" y="508115"/>
            <a:ext cx="1897215" cy="1004507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74EE8E5A-288E-28A3-16BB-3E0338A44AB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841023" y="1932191"/>
            <a:ext cx="4685322" cy="131201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8851AFF-3BD0-80E1-E884-198CCF9D75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592593" y="919838"/>
            <a:ext cx="662990" cy="178644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95F4161-F018-8D36-1807-536F64F12C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86041" y="1536362"/>
            <a:ext cx="2995292" cy="322145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0678F4D1-63F2-9583-65F7-244FA2AB571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17655" y="3368245"/>
            <a:ext cx="2512848" cy="1382296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443E0E34-7800-2DE0-DDD2-7E4783DA60D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924948" y="3368245"/>
            <a:ext cx="2512848" cy="138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1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EE345-E12A-A159-B360-43AA20E29D77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A9177-0919-EB2F-0CC3-98B972D876E9}"/>
              </a:ext>
            </a:extLst>
          </p:cNvPr>
          <p:cNvSpPr txBox="1"/>
          <p:nvPr/>
        </p:nvSpPr>
        <p:spPr>
          <a:xfrm>
            <a:off x="411049" y="323078"/>
            <a:ext cx="51435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We have 2 Cohorts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CE6E29-8807-2F78-8604-BAABCDC81B3C}"/>
              </a:ext>
            </a:extLst>
          </p:cNvPr>
          <p:cNvSpPr/>
          <p:nvPr/>
        </p:nvSpPr>
        <p:spPr>
          <a:xfrm>
            <a:off x="411049" y="1013629"/>
            <a:ext cx="416095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Collaborator’s data arrived in two batches (1 &amp; 2).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No biological reason for which cohort a sample was assigned to.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Cohort 1 (n = 126), Cohort 2 </a:t>
            </a:r>
          </a:p>
          <a:p>
            <a:r>
              <a:rPr lang="en-AU" dirty="0">
                <a:latin typeface="Garamond" panose="02020404030301010803" pitchFamily="18" charset="0"/>
              </a:rPr>
              <a:t>	(n = 156).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Our goal is to use cohort 1 as discovery and cohort 2 as validation.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FF0000"/>
                </a:solidFill>
                <a:latin typeface="Garamond" panose="02020404030301010803" pitchFamily="18" charset="0"/>
              </a:rPr>
              <a:t>Too much </a:t>
            </a:r>
            <a:r>
              <a:rPr lang="zh-CN" altLang="en-US" dirty="0">
                <a:solidFill>
                  <a:srgbClr val="FF0000"/>
                </a:solidFill>
                <a:latin typeface="Garamond" panose="02020404030301010803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</a:rPr>
              <a:t>ask</a:t>
            </a:r>
            <a:r>
              <a:rPr lang="zh-CN" altLang="en-US" dirty="0">
                <a:solidFill>
                  <a:srgbClr val="FF0000"/>
                </a:solidFill>
                <a:latin typeface="Garamond" panose="02020404030301010803" pitchFamily="18" charset="0"/>
              </a:rPr>
              <a:t> </a:t>
            </a:r>
            <a:r>
              <a:rPr lang="en-AU" altLang="zh-CN" dirty="0" err="1">
                <a:solidFill>
                  <a:srgbClr val="FF0000"/>
                </a:solidFill>
                <a:latin typeface="Garamond" panose="02020404030301010803" pitchFamily="18" charset="0"/>
              </a:rPr>
              <a:t>jie</a:t>
            </a:r>
            <a:r>
              <a:rPr lang="en-AU" altLang="zh-CN" dirty="0">
                <a:solidFill>
                  <a:srgbClr val="FF0000"/>
                </a:solidFill>
                <a:latin typeface="Garamond" panose="02020404030301010803" pitchFamily="18" charset="0"/>
              </a:rPr>
              <a:t> for help</a:t>
            </a:r>
            <a:r>
              <a:rPr lang="zh-CN" altLang="en-US" dirty="0">
                <a:solidFill>
                  <a:srgbClr val="FF0000"/>
                </a:solidFill>
                <a:latin typeface="Garamond" panose="02020404030301010803" pitchFamily="18" charset="0"/>
              </a:rPr>
              <a:t>）</a:t>
            </a:r>
            <a:endParaRPr lang="en-AU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24C2F64-3C08-C267-596C-D10EC7D19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9D779F-B6E7-2758-7D2C-7D0DE805DC97}"/>
              </a:ext>
            </a:extLst>
          </p:cNvPr>
          <p:cNvGrpSpPr/>
          <p:nvPr/>
        </p:nvGrpSpPr>
        <p:grpSpPr>
          <a:xfrm>
            <a:off x="5151400" y="-400050"/>
            <a:ext cx="3594737" cy="5715000"/>
            <a:chOff x="7455705" y="0"/>
            <a:chExt cx="3468379" cy="55141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EABBCD-F10D-12BC-346A-553DE145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5705" y="2469397"/>
              <a:ext cx="3468379" cy="30447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42E755-8119-C289-A0AC-3622F80A7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5705" y="0"/>
              <a:ext cx="3468379" cy="3044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2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4387-ED3E-4EA7-E97B-8E8A4D35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7AD8-3353-DA7F-CFCF-AE85DA88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5670550" cy="738664"/>
          </a:xfrm>
        </p:spPr>
        <p:txBody>
          <a:bodyPr/>
          <a:lstStyle/>
          <a:p>
            <a:r>
              <a:rPr lang="en-AU" dirty="0"/>
              <a:t>A sense of Metadata </a:t>
            </a:r>
            <a:endParaRPr lang="en-US" dirty="0"/>
          </a:p>
        </p:txBody>
      </p:sp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5A9B5C93-2DC0-FE0E-8CF5-EE770DD13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80" y="1999269"/>
            <a:ext cx="4373401" cy="2571750"/>
          </a:xfrm>
          <a:prstGeom prst="rect">
            <a:avLst/>
          </a:prstGeom>
        </p:spPr>
      </p:pic>
      <p:pic>
        <p:nvPicPr>
          <p:cNvPr id="8" name="Picture 7" descr="A graph of a number of pink bars&#10;&#10;AI-generated content may be incorrect.">
            <a:extLst>
              <a:ext uri="{FF2B5EF4-FFF2-40B4-BE49-F238E27FC236}">
                <a16:creationId xmlns:a16="http://schemas.microsoft.com/office/drawing/2014/main" id="{CE3EEDED-F8AE-E24E-4729-4E1A46B61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35" y="1999269"/>
            <a:ext cx="4056904" cy="24323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3450D6-B4CE-CC6E-C09C-57FB8DCE1676}"/>
              </a:ext>
            </a:extLst>
          </p:cNvPr>
          <p:cNvSpPr txBox="1"/>
          <p:nvPr/>
        </p:nvSpPr>
        <p:spPr>
          <a:xfrm>
            <a:off x="6005146" y="606669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 and 7 come together</a:t>
            </a:r>
            <a:r>
              <a:rPr lang="zh-CN" altLang="en-US" dirty="0">
                <a:solidFill>
                  <a:srgbClr val="FF0000"/>
                </a:solidFill>
                <a:latin typeface="Garamond" panose="02020404030301010803" pitchFamily="18" charset="0"/>
              </a:rPr>
              <a:t> （</a:t>
            </a:r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</a:rPr>
              <a:t>ask</a:t>
            </a:r>
            <a:r>
              <a:rPr lang="zh-CN" altLang="en-US" dirty="0">
                <a:solidFill>
                  <a:srgbClr val="FF0000"/>
                </a:solidFill>
                <a:latin typeface="Garamond" panose="02020404030301010803" pitchFamily="18" charset="0"/>
              </a:rPr>
              <a:t> </a:t>
            </a:r>
            <a:r>
              <a:rPr lang="en-AU" altLang="zh-CN" dirty="0" err="1">
                <a:solidFill>
                  <a:srgbClr val="FF0000"/>
                </a:solidFill>
                <a:latin typeface="Garamond" panose="02020404030301010803" pitchFamily="18" charset="0"/>
              </a:rPr>
              <a:t>jie</a:t>
            </a:r>
            <a:r>
              <a:rPr lang="en-AU" altLang="zh-CN" dirty="0">
                <a:solidFill>
                  <a:srgbClr val="FF0000"/>
                </a:solidFill>
                <a:latin typeface="Garamond" panose="02020404030301010803" pitchFamily="18" charset="0"/>
              </a:rPr>
              <a:t> for help</a:t>
            </a:r>
            <a:r>
              <a:rPr lang="zh-CN" altLang="en-US" dirty="0">
                <a:solidFill>
                  <a:srgbClr val="FF0000"/>
                </a:solidFill>
                <a:latin typeface="Garamond" panose="02020404030301010803" pitchFamily="18" charset="0"/>
              </a:rPr>
              <a:t>）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30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9E18-9E44-AE16-7CFE-7DDAD5E2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r>
              <a:rPr lang="en-GB" dirty="0">
                <a:latin typeface="Times"/>
              </a:rPr>
              <a:t>What is special in this biomarker discovery project ?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30D59-94C0-3468-353D-9C2D4E8BD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9870" y="1969919"/>
            <a:ext cx="4496568" cy="3279016"/>
          </a:xfrm>
        </p:spPr>
        <p:txBody>
          <a:bodyPr lIns="91440" tIns="45720" rIns="91440" bIns="45720" anchor="t"/>
          <a:lstStyle/>
          <a:p>
            <a:pPr>
              <a:buFont typeface="Calibri"/>
              <a:buChar char="-"/>
            </a:pPr>
            <a:r>
              <a:rPr lang="en-GB" sz="1400" dirty="0">
                <a:cs typeface="Arial"/>
              </a:rPr>
              <a:t>Since the early 2000s, there are probably &gt;150,000 biomarker discovery papers</a:t>
            </a:r>
          </a:p>
          <a:p>
            <a:pPr marL="0" indent="0">
              <a:buNone/>
            </a:pPr>
            <a:endParaRPr lang="en-US" sz="1400" dirty="0">
              <a:cs typeface="Arial"/>
            </a:endParaRPr>
          </a:p>
          <a:p>
            <a:pPr>
              <a:buFont typeface="Calibri"/>
              <a:buChar char="-"/>
            </a:pPr>
            <a:r>
              <a:rPr lang="en-GB" sz="1400" dirty="0">
                <a:cs typeface="Arial"/>
              </a:rPr>
              <a:t>Yet translation is strikingly slow, we are struggling to get from bench-to-bedside, only on the order of ~100 looked clinically useful.</a:t>
            </a:r>
          </a:p>
          <a:p>
            <a:pPr>
              <a:buFont typeface="Calibri"/>
              <a:buChar char="-"/>
            </a:pPr>
            <a:endParaRPr lang="en-GB" sz="1400" dirty="0">
              <a:cs typeface="Arial"/>
            </a:endParaRPr>
          </a:p>
          <a:p>
            <a:pPr>
              <a:buFont typeface="Calibri"/>
              <a:buChar char="-"/>
            </a:pPr>
            <a:r>
              <a:rPr lang="en-GB" sz="1400" dirty="0">
                <a:cs typeface="Arial"/>
              </a:rPr>
              <a:t>A little while ago, people think the issue is reproducibility – but that didn't quite fix the problem</a:t>
            </a:r>
          </a:p>
          <a:p>
            <a:pPr marL="0" indent="0">
              <a:buNone/>
            </a:pPr>
            <a:endParaRPr lang="en-GB" sz="1400" dirty="0">
              <a:cs typeface="Arial"/>
            </a:endParaRPr>
          </a:p>
          <a:p>
            <a:pPr marL="457200" lvl="1" indent="0">
              <a:buNone/>
            </a:pPr>
            <a:endParaRPr lang="en-GB" sz="1400" dirty="0">
              <a:cs typeface="Arial"/>
            </a:endParaRP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10" name="Picture 9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B6B0E848-E016-1534-FDD0-449B19B72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52" y="1144591"/>
            <a:ext cx="3682653" cy="399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2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CCA7-13AF-2FD9-D478-9766BCCD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09CD-ED77-C2FD-7218-0E15C2D5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58" y="230403"/>
            <a:ext cx="7033281" cy="738664"/>
          </a:xfrm>
        </p:spPr>
        <p:txBody>
          <a:bodyPr lIns="0" tIns="0" rIns="0" bIns="0" anchor="t"/>
          <a:lstStyle/>
          <a:p>
            <a:r>
              <a:rPr lang="en-AU" dirty="0">
                <a:latin typeface="Times"/>
              </a:rPr>
              <a:t>What has been being</a:t>
            </a:r>
            <a:r>
              <a:rPr lang="zh-CN" altLang="en-US" dirty="0">
                <a:latin typeface="Times"/>
              </a:rPr>
              <a:t> </a:t>
            </a:r>
            <a:r>
              <a:rPr lang="en-AU" dirty="0">
                <a:latin typeface="Times"/>
              </a:rPr>
              <a:t>addressed and what has not?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6C81C2-FB95-BC74-5308-BC5D0F96C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1468" y="1504950"/>
            <a:ext cx="4598817" cy="3675662"/>
          </a:xfrm>
        </p:spPr>
        <p:txBody>
          <a:bodyPr/>
          <a:lstStyle/>
          <a:p>
            <a:r>
              <a:rPr lang="en-US" dirty="0"/>
              <a:t>Reproducibility &amp; batch effects</a:t>
            </a:r>
          </a:p>
          <a:p>
            <a:endParaRPr lang="en-US" dirty="0"/>
          </a:p>
          <a:p>
            <a:r>
              <a:rPr lang="en-US" dirty="0"/>
              <a:t>Assay migration: discovery (thousands) </a:t>
            </a:r>
          </a:p>
          <a:p>
            <a:pPr marL="0" indent="0">
              <a:buNone/>
            </a:pPr>
            <a:r>
              <a:rPr lang="en-US" dirty="0"/>
              <a:t>   ≠ implementation (less than 5)</a:t>
            </a:r>
          </a:p>
          <a:p>
            <a:endParaRPr lang="en-US" dirty="0"/>
          </a:p>
          <a:p>
            <a:r>
              <a:rPr lang="en-US" dirty="0"/>
              <a:t>Misaligned evaluation targets: </a:t>
            </a:r>
          </a:p>
          <a:p>
            <a:pPr marL="0" indent="0">
              <a:buNone/>
            </a:pPr>
            <a:r>
              <a:rPr lang="en-US" dirty="0"/>
              <a:t>   AUC/F1-&gt;</a:t>
            </a:r>
            <a:r>
              <a:rPr lang="en-US" dirty="0" err="1"/>
              <a:t>sensitivity@specificity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Transferability &amp; risk of bias</a:t>
            </a:r>
          </a:p>
          <a:p>
            <a:endParaRPr lang="en-US" dirty="0"/>
          </a:p>
          <a:p>
            <a:r>
              <a:rPr lang="en-US" dirty="0"/>
              <a:t>Patents</a:t>
            </a:r>
          </a:p>
          <a:p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D61E5-E768-F1A0-630A-F3A5053DC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747" y="891273"/>
            <a:ext cx="4461468" cy="2232296"/>
          </a:xfrm>
          <a:prstGeom prst="rect">
            <a:avLst/>
          </a:prstGeom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26AFA3D-4945-444B-5D7E-F512F868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4950"/>
            <a:ext cx="4461468" cy="2133600"/>
          </a:xfrm>
          <a:prstGeom prst="rect">
            <a:avLst/>
          </a:prstGeom>
        </p:spPr>
      </p:pic>
      <p:pic>
        <p:nvPicPr>
          <p:cNvPr id="5" name="Picture 4" descr="A close-up of a medical document&#10;&#10;AI-generated content may be incorrect.">
            <a:extLst>
              <a:ext uri="{FF2B5EF4-FFF2-40B4-BE49-F238E27FC236}">
                <a16:creationId xmlns:a16="http://schemas.microsoft.com/office/drawing/2014/main" id="{4CD24293-B604-EB2D-835F-9C493B9DE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" y="2722347"/>
            <a:ext cx="4229100" cy="2190750"/>
          </a:xfrm>
          <a:prstGeom prst="rect">
            <a:avLst/>
          </a:prstGeom>
        </p:spPr>
      </p:pic>
      <p:pic>
        <p:nvPicPr>
          <p:cNvPr id="7" name="Graphic 6" descr="Badge Tick1 with solid fill">
            <a:extLst>
              <a:ext uri="{FF2B5EF4-FFF2-40B4-BE49-F238E27FC236}">
                <a16:creationId xmlns:a16="http://schemas.microsoft.com/office/drawing/2014/main" id="{236AD840-0BD4-1D85-08A8-AE1345202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1696" y="1342600"/>
            <a:ext cx="539834" cy="539834"/>
          </a:xfrm>
          <a:prstGeom prst="rect">
            <a:avLst/>
          </a:prstGeom>
        </p:spPr>
      </p:pic>
      <p:pic>
        <p:nvPicPr>
          <p:cNvPr id="10" name="Graphic 9" descr="Badge Unfollow with solid fill">
            <a:extLst>
              <a:ext uri="{FF2B5EF4-FFF2-40B4-BE49-F238E27FC236}">
                <a16:creationId xmlns:a16="http://schemas.microsoft.com/office/drawing/2014/main" id="{AAEBD153-E986-E391-DA17-BD374A5D45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2331470"/>
            <a:ext cx="539835" cy="539835"/>
          </a:xfrm>
          <a:prstGeom prst="rect">
            <a:avLst/>
          </a:prstGeom>
        </p:spPr>
      </p:pic>
      <p:pic>
        <p:nvPicPr>
          <p:cNvPr id="13" name="Graphic 12" descr="Badge Unfollow with solid fill">
            <a:extLst>
              <a:ext uri="{FF2B5EF4-FFF2-40B4-BE49-F238E27FC236}">
                <a16:creationId xmlns:a16="http://schemas.microsoft.com/office/drawing/2014/main" id="{E5B2CDCC-9C62-0F59-D2EF-1D713813D5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3008291"/>
            <a:ext cx="539835" cy="539835"/>
          </a:xfrm>
          <a:prstGeom prst="rect">
            <a:avLst/>
          </a:prstGeom>
        </p:spPr>
      </p:pic>
      <p:pic>
        <p:nvPicPr>
          <p:cNvPr id="14" name="Graphic 13" descr="Badge Unfollow with solid fill">
            <a:extLst>
              <a:ext uri="{FF2B5EF4-FFF2-40B4-BE49-F238E27FC236}">
                <a16:creationId xmlns:a16="http://schemas.microsoft.com/office/drawing/2014/main" id="{171ACF2E-DDB1-3F68-142C-1DE5720CC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3718939"/>
            <a:ext cx="539835" cy="539835"/>
          </a:xfrm>
          <a:prstGeom prst="rect">
            <a:avLst/>
          </a:prstGeom>
        </p:spPr>
      </p:pic>
      <p:pic>
        <p:nvPicPr>
          <p:cNvPr id="15" name="Graphic 14" descr="Badge Unfollow with solid fill">
            <a:extLst>
              <a:ext uri="{FF2B5EF4-FFF2-40B4-BE49-F238E27FC236}">
                <a16:creationId xmlns:a16="http://schemas.microsoft.com/office/drawing/2014/main" id="{401D1DE2-0957-E433-5970-9A08B5C0FE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4" y="4449775"/>
            <a:ext cx="539835" cy="5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2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A1C2-CCD0-AFEB-A8D5-56A99F8F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55" y="279398"/>
            <a:ext cx="7232650" cy="738664"/>
          </a:xfrm>
        </p:spPr>
        <p:txBody>
          <a:bodyPr/>
          <a:lstStyle/>
          <a:p>
            <a:r>
              <a:rPr lang="en-US" dirty="0"/>
              <a:t>Assay migration</a:t>
            </a:r>
            <a:r>
              <a:rPr lang="en-US" dirty="0">
                <a:sym typeface="Wingdings" pitchFamily="2" charset="2"/>
              </a:rPr>
              <a:t> small panel</a:t>
            </a:r>
            <a:endParaRPr lang="en-US" dirty="0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AB4A2F1-8052-59B9-C3C3-DC6A1A0C8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1427906"/>
            <a:ext cx="4196080" cy="2618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DFF1A-F78F-A577-F462-48879DCB11CB}"/>
              </a:ext>
            </a:extLst>
          </p:cNvPr>
          <p:cNvSpPr txBox="1"/>
          <p:nvPr/>
        </p:nvSpPr>
        <p:spPr>
          <a:xfrm>
            <a:off x="-96724" y="951265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Discovery research (from </a:t>
            </a:r>
            <a:r>
              <a:rPr lang="en-US" dirty="0" err="1"/>
              <a:t>SomaScan</a:t>
            </a:r>
            <a:r>
              <a:rPr lang="en-US" dirty="0"/>
              <a:t> webpage)</a:t>
            </a:r>
          </a:p>
        </p:txBody>
      </p:sp>
      <p:pic>
        <p:nvPicPr>
          <p:cNvPr id="9" name="Picture 8" descr="A test tube with a red liquid&#10;&#10;AI-generated content may be incorrect.">
            <a:extLst>
              <a:ext uri="{FF2B5EF4-FFF2-40B4-BE49-F238E27FC236}">
                <a16:creationId xmlns:a16="http://schemas.microsoft.com/office/drawing/2014/main" id="{0BCC5134-CAC4-66C9-B8C0-8ACC8EF94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420" y="2442405"/>
            <a:ext cx="4513580" cy="27010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D9B045-8865-3A43-F270-49106C679305}"/>
              </a:ext>
            </a:extLst>
          </p:cNvPr>
          <p:cNvSpPr txBox="1"/>
          <p:nvPr/>
        </p:nvSpPr>
        <p:spPr>
          <a:xfrm>
            <a:off x="3970020" y="1955204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Clinical implementation (Generally 1-5 </a:t>
            </a:r>
            <a:r>
              <a:rPr lang="en-US" dirty="0" err="1"/>
              <a:t>biomakers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679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0C32-2210-EF28-8DFF-4AC8B304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72CFA-BD9D-3771-21F3-B79AC8DB61FB}"/>
              </a:ext>
            </a:extLst>
          </p:cNvPr>
          <p:cNvSpPr txBox="1"/>
          <p:nvPr/>
        </p:nvSpPr>
        <p:spPr>
          <a:xfrm>
            <a:off x="70799" y="227433"/>
            <a:ext cx="436404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Patents</a:t>
            </a:r>
          </a:p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What makes features patentable?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C56006-044C-E344-CBC7-D884CB8E560F}"/>
              </a:ext>
            </a:extLst>
          </p:cNvPr>
          <p:cNvSpPr/>
          <p:nvPr/>
        </p:nvSpPr>
        <p:spPr>
          <a:xfrm>
            <a:off x="0" y="966097"/>
            <a:ext cx="483886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latin typeface="Garamond" panose="02020404030301010803" pitchFamily="18" charset="0"/>
              </a:rPr>
              <a:t>You tell people how it works; in return you exclude others from using it. </a:t>
            </a:r>
          </a:p>
          <a:p>
            <a:pPr marL="342900" indent="-342900">
              <a:buFont typeface="+mj-lt"/>
              <a:buAutoNum type="arabicPeriod"/>
            </a:pPr>
            <a:endParaRPr lang="en-AU" dirty="0">
              <a:latin typeface="Garamond" panose="020204040303010108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latin typeface="Garamond" panose="02020404030301010803" pitchFamily="18" charset="0"/>
              </a:rPr>
              <a:t>Novelty – Biomarkers need to have not been disclosed in exact combination before. </a:t>
            </a:r>
          </a:p>
          <a:p>
            <a:pPr marL="342900" indent="-342900">
              <a:buFont typeface="+mj-lt"/>
              <a:buAutoNum type="arabicPeriod"/>
            </a:pPr>
            <a:endParaRPr lang="en-AU" dirty="0">
              <a:latin typeface="Garamond" panose="020204040303010108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latin typeface="Garamond" panose="02020404030301010803" pitchFamily="18" charset="0"/>
              </a:rPr>
              <a:t>Non-obvious – “Someone skilled in the art” could not come to this conclusion. (</a:t>
            </a:r>
            <a:r>
              <a:rPr lang="en-AU" i="1" dirty="0">
                <a:latin typeface="Garamond" panose="02020404030301010803" pitchFamily="18" charset="0"/>
              </a:rPr>
              <a:t>stops meta-analysis</a:t>
            </a:r>
            <a:r>
              <a:rPr lang="en-AU" dirty="0">
                <a:latin typeface="Garamond" panose="02020404030301010803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AU" dirty="0">
              <a:latin typeface="Garamond" panose="020204040303010108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AU" dirty="0">
                <a:latin typeface="Garamond" panose="02020404030301010803" pitchFamily="18" charset="0"/>
              </a:rPr>
              <a:t>Reproducible - “Someone skilled in the art” should be able to verify your claims. (</a:t>
            </a:r>
            <a:r>
              <a:rPr lang="en-AU" i="1" dirty="0">
                <a:latin typeface="Garamond" panose="02020404030301010803" pitchFamily="18" charset="0"/>
              </a:rPr>
              <a:t>stops overreach</a:t>
            </a:r>
            <a:r>
              <a:rPr lang="en-AU" dirty="0">
                <a:latin typeface="Garamond" panose="02020404030301010803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084193-8923-2721-DD38-19C0FB7EF0BF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B0E655-25F9-CC96-3490-C725101BAFF0}"/>
              </a:ext>
            </a:extLst>
          </p:cNvPr>
          <p:cNvCxnSpPr/>
          <p:nvPr/>
        </p:nvCxnSpPr>
        <p:spPr>
          <a:xfrm>
            <a:off x="4572000" y="670560"/>
            <a:ext cx="0" cy="3954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65F494-7D7A-A7E7-B005-70E246566158}"/>
              </a:ext>
            </a:extLst>
          </p:cNvPr>
          <p:cNvSpPr txBox="1"/>
          <p:nvPr/>
        </p:nvSpPr>
        <p:spPr>
          <a:xfrm>
            <a:off x="4709160" y="596765"/>
            <a:ext cx="436404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Issues in</a:t>
            </a:r>
            <a:r>
              <a:rPr lang="zh-CN" alt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 </a:t>
            </a:r>
            <a:r>
              <a:rPr lang="en-AU" altLang="zh-CN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biomarker discovery</a:t>
            </a:r>
            <a:endParaRPr lang="en-US" sz="2400" dirty="0">
              <a:solidFill>
                <a:srgbClr val="E64626"/>
              </a:solidFill>
              <a:latin typeface="Times" pitchFamily="2" charset="0"/>
              <a:ea typeface="+mj-ea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789F95-0FF3-D967-E0FF-3A6452BD1140}"/>
              </a:ext>
            </a:extLst>
          </p:cNvPr>
          <p:cNvSpPr/>
          <p:nvPr/>
        </p:nvSpPr>
        <p:spPr>
          <a:xfrm>
            <a:off x="4673759" y="1400437"/>
            <a:ext cx="423402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Garamond" panose="02020404030301010803" pitchFamily="18" charset="0"/>
              </a:rPr>
              <a:t>1. When trying to patent a set of genes. You need to smallest number (2-5).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2. If I have a 5 gene panel, but someone uses 4 of those, that is ok.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3. However, we know that there is a lot of collinearity in expression data. </a:t>
            </a:r>
          </a:p>
          <a:p>
            <a:r>
              <a:rPr lang="en-AU" dirty="0">
                <a:latin typeface="Garamond" panose="02020404030301010803" pitchFamily="18" charset="0"/>
              </a:rPr>
              <a:t>    (CXCL9 </a:t>
            </a:r>
            <a:r>
              <a:rPr lang="en-AU" dirty="0" err="1">
                <a:latin typeface="Garamond" panose="02020404030301010803" pitchFamily="18" charset="0"/>
              </a:rPr>
              <a:t>exprs</a:t>
            </a:r>
            <a:r>
              <a:rPr lang="en-AU" dirty="0">
                <a:latin typeface="Garamond" panose="02020404030301010803" pitchFamily="18" charset="0"/>
              </a:rPr>
              <a:t> = CXCL10 </a:t>
            </a:r>
            <a:r>
              <a:rPr lang="en-AU" dirty="0" err="1">
                <a:latin typeface="Garamond" panose="02020404030301010803" pitchFamily="18" charset="0"/>
              </a:rPr>
              <a:t>exprs</a:t>
            </a:r>
            <a:r>
              <a:rPr lang="en-AU" dirty="0">
                <a:latin typeface="Garamond" panose="02020404030301010803" pitchFamily="18" charset="0"/>
              </a:rPr>
              <a:t>)</a:t>
            </a:r>
          </a:p>
          <a:p>
            <a:endParaRPr lang="en-AU" dirty="0"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54895-70A6-87A8-5AA3-4B9892AA6018}"/>
              </a:ext>
            </a:extLst>
          </p:cNvPr>
          <p:cNvSpPr txBox="1"/>
          <p:nvPr/>
        </p:nvSpPr>
        <p:spPr>
          <a:xfrm>
            <a:off x="6380480" y="-132080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Problems--&gt; MOO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3EDD6-6221-36EF-F2E8-E12A12234C2B}"/>
              </a:ext>
            </a:extLst>
          </p:cNvPr>
          <p:cNvSpPr txBox="1"/>
          <p:nvPr/>
        </p:nvSpPr>
        <p:spPr>
          <a:xfrm>
            <a:off x="3637280" y="101600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Needs of Small</a:t>
            </a:r>
          </a:p>
        </p:txBody>
      </p:sp>
    </p:spTree>
    <p:extLst>
      <p:ext uri="{BB962C8B-B14F-4D97-AF65-F5344CB8AC3E}">
        <p14:creationId xmlns:p14="http://schemas.microsoft.com/office/powerpoint/2010/main" val="16303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3E58-FCBC-DFB7-7B67-9163A164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8A082-F478-6A8A-BD4D-814D83C66218}"/>
              </a:ext>
            </a:extLst>
          </p:cNvPr>
          <p:cNvSpPr txBox="1"/>
          <p:nvPr/>
        </p:nvSpPr>
        <p:spPr>
          <a:xfrm>
            <a:off x="503114" y="122228"/>
            <a:ext cx="453862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Patents</a:t>
            </a:r>
          </a:p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So what can we do?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1865E-D829-5EAB-820A-322908C7956A}"/>
              </a:ext>
            </a:extLst>
          </p:cNvPr>
          <p:cNvSpPr/>
          <p:nvPr/>
        </p:nvSpPr>
        <p:spPr>
          <a:xfrm>
            <a:off x="343093" y="982193"/>
            <a:ext cx="35272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Current statistical approaches explore what genes are most important to diagnose a condition.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But really, we want to know what genes are </a:t>
            </a:r>
            <a:r>
              <a:rPr lang="en-AU" b="1" dirty="0">
                <a:latin typeface="Garamond" panose="02020404030301010803" pitchFamily="18" charset="0"/>
              </a:rPr>
              <a:t>critical</a:t>
            </a:r>
            <a:r>
              <a:rPr lang="en-AU" dirty="0">
                <a:latin typeface="Garamond" panose="02020404030301010803" pitchFamily="18" charset="0"/>
              </a:rPr>
              <a:t> for model building.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I.e. what gene X is needed to build good models. But if absent, no model can be built.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8B36C48F-FFA7-530F-CEBC-073FF1EC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17" y="766773"/>
            <a:ext cx="3620342" cy="3452215"/>
          </a:xfrm>
          <a:prstGeom prst="rect">
            <a:avLst/>
          </a:prstGeom>
        </p:spPr>
      </p:pic>
      <p:pic>
        <p:nvPicPr>
          <p:cNvPr id="7" name="Picture 6" descr="A diagram of a gene model&#10;&#10;Description automatically generated with medium confidence">
            <a:extLst>
              <a:ext uri="{FF2B5EF4-FFF2-40B4-BE49-F238E27FC236}">
                <a16:creationId xmlns:a16="http://schemas.microsoft.com/office/drawing/2014/main" id="{B40C47F4-8508-3FC8-D947-9751FC9AE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717" y="766773"/>
            <a:ext cx="3620342" cy="3452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826A7-9D86-011C-8F9F-2E6EF231ACC1}"/>
              </a:ext>
            </a:extLst>
          </p:cNvPr>
          <p:cNvSpPr txBox="1"/>
          <p:nvPr/>
        </p:nvSpPr>
        <p:spPr>
          <a:xfrm>
            <a:off x="4663440" y="-91440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Why different metrics is needed</a:t>
            </a:r>
          </a:p>
        </p:txBody>
      </p:sp>
    </p:spTree>
    <p:extLst>
      <p:ext uri="{BB962C8B-B14F-4D97-AF65-F5344CB8AC3E}">
        <p14:creationId xmlns:p14="http://schemas.microsoft.com/office/powerpoint/2010/main" val="124411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2F8B-2C4C-4F82-31C7-CA0C3E20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" y="126998"/>
            <a:ext cx="7819390" cy="738664"/>
          </a:xfrm>
        </p:spPr>
        <p:txBody>
          <a:bodyPr/>
          <a:lstStyle/>
          <a:p>
            <a:r>
              <a:rPr lang="en-US" dirty="0"/>
              <a:t>Misaligned evaluation</a:t>
            </a:r>
            <a:br>
              <a:rPr lang="en-US" dirty="0"/>
            </a:br>
            <a:r>
              <a:rPr lang="en-AU" dirty="0">
                <a:latin typeface="Times"/>
              </a:rPr>
              <a:t>Different language – better translation between disciplines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8221D-D4B2-06C4-2CA1-73F0F274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865662"/>
            <a:ext cx="8051800" cy="2781300"/>
          </a:xfrm>
        </p:spPr>
        <p:txBody>
          <a:bodyPr/>
          <a:lstStyle/>
          <a:p>
            <a:r>
              <a:rPr lang="en-US" dirty="0"/>
              <a:t>Clinical focus: Sensitivity @ 90% Specificity </a:t>
            </a:r>
          </a:p>
          <a:p>
            <a:r>
              <a:rPr lang="en-US" dirty="0"/>
              <a:t>AUC and </a:t>
            </a:r>
            <a:r>
              <a:rPr lang="en-US" dirty="0" err="1"/>
              <a:t>Sensetivity@Specifity</a:t>
            </a:r>
            <a:r>
              <a:rPr lang="en-US" dirty="0"/>
              <a:t> is not always aligned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2" descr="Output image">
            <a:extLst>
              <a:ext uri="{FF2B5EF4-FFF2-40B4-BE49-F238E27FC236}">
                <a16:creationId xmlns:a16="http://schemas.microsoft.com/office/drawing/2014/main" id="{DEF15F46-3547-048E-0029-77669578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092" y="1709834"/>
            <a:ext cx="3886569" cy="322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graph showing a number of blue dots&#10;&#10;AI-generated content may be incorrect.">
            <a:extLst>
              <a:ext uri="{FF2B5EF4-FFF2-40B4-BE49-F238E27FC236}">
                <a16:creationId xmlns:a16="http://schemas.microsoft.com/office/drawing/2014/main" id="{C531487B-6620-6132-17A0-B10E1BF28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56" y="1454583"/>
            <a:ext cx="6262400" cy="35619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04D84B-301A-7D66-B276-7177A3782E35}"/>
              </a:ext>
            </a:extLst>
          </p:cNvPr>
          <p:cNvSpPr/>
          <p:nvPr/>
        </p:nvSpPr>
        <p:spPr>
          <a:xfrm>
            <a:off x="6040315" y="1565031"/>
            <a:ext cx="439616" cy="185517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1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E978-BD2A-3A92-2EF4-4DB5AC82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18A3C8-20D5-2F46-DB14-D73BED5B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93" y="912014"/>
            <a:ext cx="3657183" cy="3324094"/>
          </a:xfrm>
        </p:spPr>
        <p:txBody>
          <a:bodyPr/>
          <a:lstStyle/>
          <a:p>
            <a:r>
              <a:rPr lang="en-US"/>
              <a:t>Two cohorts have distribution shift</a:t>
            </a:r>
          </a:p>
        </p:txBody>
      </p:sp>
      <p:pic>
        <p:nvPicPr>
          <p:cNvPr id="9" name="Picture 8" descr="A diagram of a number of dots&#10;&#10;AI-generated content may be incorrect.">
            <a:extLst>
              <a:ext uri="{FF2B5EF4-FFF2-40B4-BE49-F238E27FC236}">
                <a16:creationId xmlns:a16="http://schemas.microsoft.com/office/drawing/2014/main" id="{BADEE4AC-5784-E65A-8D71-DD8038686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13" y="1656002"/>
            <a:ext cx="3982043" cy="294274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C27A6A-1012-CC26-089A-38490445E829}"/>
              </a:ext>
            </a:extLst>
          </p:cNvPr>
          <p:cNvSpPr txBox="1">
            <a:spLocks/>
          </p:cNvSpPr>
          <p:nvPr/>
        </p:nvSpPr>
        <p:spPr>
          <a:xfrm>
            <a:off x="4704265" y="909703"/>
            <a:ext cx="3657183" cy="332409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ea typeface="+mn-ea"/>
                <a:cs typeface="Arial"/>
              </a:defRPr>
            </a:lvl1pPr>
            <a:lvl2pPr marL="457200">
              <a:buFont typeface="System Font Regular"/>
              <a:buChar char="-"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Traditional machine learning feature selection methods does not work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DDBA2B-6535-6A38-22E2-FA92791A39FE}"/>
              </a:ext>
            </a:extLst>
          </p:cNvPr>
          <p:cNvSpPr txBox="1"/>
          <p:nvPr/>
        </p:nvSpPr>
        <p:spPr>
          <a:xfrm>
            <a:off x="632460" y="304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105B5-163B-AC85-89B7-D0A115799D01}"/>
              </a:ext>
            </a:extLst>
          </p:cNvPr>
          <p:cNvSpPr txBox="1"/>
          <p:nvPr/>
        </p:nvSpPr>
        <p:spPr>
          <a:xfrm>
            <a:off x="291779" y="277895"/>
            <a:ext cx="51435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Transferability</a:t>
            </a:r>
          </a:p>
        </p:txBody>
      </p:sp>
      <p:pic>
        <p:nvPicPr>
          <p:cNvPr id="7" name="Picture 6" descr="A diagram of a diagram with red and blue squares&#10;&#10;AI-generated content may be incorrect.">
            <a:extLst>
              <a:ext uri="{FF2B5EF4-FFF2-40B4-BE49-F238E27FC236}">
                <a16:creationId xmlns:a16="http://schemas.microsoft.com/office/drawing/2014/main" id="{6A66300B-7DB3-F143-42CB-A3CA5AB803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736" y="2106801"/>
            <a:ext cx="4635012" cy="24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79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36AA-500A-9B8A-7634-23537C79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 anchor="t"/>
          <a:lstStyle/>
          <a:p>
            <a:r>
              <a:rPr lang="en-AU" dirty="0">
                <a:latin typeface="Times"/>
              </a:rPr>
              <a:t>Brief summary: From Omics to Clinic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48CA-D86B-B09E-D9B6-4B227B7A6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9519" y="1193800"/>
            <a:ext cx="6684962" cy="2755900"/>
          </a:xfrm>
        </p:spPr>
        <p:txBody>
          <a:bodyPr/>
          <a:lstStyle/>
          <a:p>
            <a:r>
              <a:rPr lang="en-AU"/>
              <a:t>High-resolution molecular profiles (transcriptome, proteome, metabolome) enable precision medicine</a:t>
            </a:r>
          </a:p>
          <a:p>
            <a:endParaRPr lang="en-AU"/>
          </a:p>
          <a:p>
            <a:r>
              <a:rPr lang="en-AU"/>
              <a:t>Clinical reality: adoption requires robustness, reproducibility, low redundancy, assay feasibility and compliance</a:t>
            </a:r>
          </a:p>
          <a:p>
            <a:endParaRPr lang="en-AU"/>
          </a:p>
          <a:p>
            <a:r>
              <a:rPr lang="en-AU"/>
              <a:t>Transferability across cohorts/platforms is critical for real-world utility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EBCD68-8138-33A3-D889-309ACD489212}"/>
              </a:ext>
            </a:extLst>
          </p:cNvPr>
          <p:cNvSpPr/>
          <p:nvPr/>
        </p:nvSpPr>
        <p:spPr>
          <a:xfrm>
            <a:off x="640080" y="3897630"/>
            <a:ext cx="7863840" cy="73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/>
            </a:pPr>
            <a:r>
              <a:t>Take-home: Clinical adoption requires transferability and assay feasibility, not just high internal AUC.</a:t>
            </a:r>
          </a:p>
        </p:txBody>
      </p:sp>
    </p:spTree>
    <p:extLst>
      <p:ext uri="{BB962C8B-B14F-4D97-AF65-F5344CB8AC3E}">
        <p14:creationId xmlns:p14="http://schemas.microsoft.com/office/powerpoint/2010/main" val="410244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3D2-79E6-37AB-9D6A-D532FBE0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F74E-3E49-ED90-451F-E01F1F0E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5670550" cy="738664"/>
          </a:xfrm>
        </p:spPr>
        <p:txBody>
          <a:bodyPr/>
          <a:lstStyle/>
          <a:p>
            <a:r>
              <a:rPr lang="en-AU"/>
              <a:t>Gap &amp; Problem Statement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BA84223-5A00-B935-E3AC-BEDBCCB26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831" y="1260605"/>
            <a:ext cx="6969211" cy="3324094"/>
          </a:xfrm>
        </p:spPr>
        <p:txBody>
          <a:bodyPr/>
          <a:lstStyle/>
          <a:p>
            <a:r>
              <a:rPr lang="en-AU" dirty="0"/>
              <a:t>Transferability seldom an explicit optimisation objective</a:t>
            </a:r>
          </a:p>
          <a:p>
            <a:endParaRPr lang="en-AU" dirty="0"/>
          </a:p>
          <a:p>
            <a:r>
              <a:rPr lang="en-AU" dirty="0"/>
              <a:t>Patentability/cost/operational constraints often ignored</a:t>
            </a:r>
          </a:p>
          <a:p>
            <a:endParaRPr lang="en-AU" dirty="0"/>
          </a:p>
          <a:p>
            <a:r>
              <a:rPr lang="en-AU" dirty="0"/>
              <a:t>Non-selected features’ predictive influence (shadow effect) is overlooked</a:t>
            </a:r>
          </a:p>
          <a:p>
            <a:endParaRPr lang="en-AU" dirty="0"/>
          </a:p>
          <a:p>
            <a:r>
              <a:rPr lang="en-AU" dirty="0"/>
              <a:t>Lack of log-ratio/zero-sum stabilization against platform/batch effects</a:t>
            </a:r>
          </a:p>
          <a:p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F331C59-26AE-9DD4-BDFB-0B6168306A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8ACC7-4F32-2738-CF30-7458DC494B33}"/>
              </a:ext>
            </a:extLst>
          </p:cNvPr>
          <p:cNvSpPr txBox="1"/>
          <p:nvPr/>
        </p:nvSpPr>
        <p:spPr>
          <a:xfrm>
            <a:off x="6177280" y="386080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Combine 16-17</a:t>
            </a:r>
          </a:p>
        </p:txBody>
      </p:sp>
    </p:spTree>
    <p:extLst>
      <p:ext uri="{BB962C8B-B14F-4D97-AF65-F5344CB8AC3E}">
        <p14:creationId xmlns:p14="http://schemas.microsoft.com/office/powerpoint/2010/main" val="2290972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D839-B78D-0A17-3AD5-6479AC2C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B12CE-7E7A-FC23-CD4F-FCCFF768077E}"/>
              </a:ext>
            </a:extLst>
          </p:cNvPr>
          <p:cNvSpPr txBox="1"/>
          <p:nvPr/>
        </p:nvSpPr>
        <p:spPr>
          <a:xfrm>
            <a:off x="291779" y="355941"/>
            <a:ext cx="537592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000" b="1" dirty="0">
                <a:solidFill>
                  <a:srgbClr val="F47524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Multi Objective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4726E8-10C8-DA24-D85A-EFA38EFA981E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5277D8-8DE0-5862-65B9-6AE55BA77B01}"/>
              </a:ext>
            </a:extLst>
          </p:cNvPr>
          <p:cNvSpPr/>
          <p:nvPr/>
        </p:nvSpPr>
        <p:spPr>
          <a:xfrm>
            <a:off x="343093" y="982194"/>
            <a:ext cx="422890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We want biomarkers to have certain characteristics related to their use.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A rule out test like ”could this patient potentially have cancer” should have high sensitivity.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A confirmatory diagnosis like ”HIV diagnosis” should have a high specificity. 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14313" indent="-214313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But what if we wanted to prioritize something abstract like commercialization??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703E794-5198-5524-CFE2-B70FE8BFC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819" y="1237674"/>
            <a:ext cx="4365941" cy="315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73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D3B7-2619-D7B5-A95F-B77C056B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6872-8778-CACE-E6F4-7F2E48FE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5670550" cy="738664"/>
          </a:xfrm>
        </p:spPr>
        <p:txBody>
          <a:bodyPr/>
          <a:lstStyle/>
          <a:p>
            <a:r>
              <a:rPr lang="en-AU" dirty="0" err="1"/>
              <a:t>OptiMark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890A21-5524-79B3-B8F3-7C5266245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260605"/>
            <a:ext cx="6317220" cy="3360954"/>
          </a:xfrm>
        </p:spPr>
        <p:txBody>
          <a:bodyPr/>
          <a:lstStyle/>
          <a:p>
            <a:r>
              <a:rPr lang="en-AU"/>
              <a:t>Enumerate all solutions that meet pre-defined clinical criteria (Clinical-Ready Set)</a:t>
            </a:r>
          </a:p>
          <a:p>
            <a:endParaRPr lang="en-AU"/>
          </a:p>
          <a:p>
            <a:r>
              <a:rPr lang="en-AU"/>
              <a:t>Jointly optimize: predictive power, transferability, stability and translational objectives</a:t>
            </a:r>
          </a:p>
          <a:p>
            <a:endParaRPr lang="en-AU"/>
          </a:p>
          <a:p>
            <a:r>
              <a:rPr lang="en-AU"/>
              <a:t>Translational objectives: assay cost/time, patent novelty/proxy, operational constraints</a:t>
            </a:r>
          </a:p>
          <a:p>
            <a:endParaRPr lang="en-AU"/>
          </a:p>
          <a:p>
            <a:r>
              <a:rPr lang="en-AU"/>
              <a:t>Log-ratio modelling + shadow-feature penalties for robustness under shifts</a:t>
            </a:r>
          </a:p>
          <a:p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CBB00F4-B31E-97D7-E8BB-A77734AEEF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iomarkerPanels hex sticker">
            <a:extLst>
              <a:ext uri="{FF2B5EF4-FFF2-40B4-BE49-F238E27FC236}">
                <a16:creationId xmlns:a16="http://schemas.microsoft.com/office/drawing/2014/main" id="{DB05FAC4-02E7-C2E8-ABBB-C6FF666C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2538759"/>
            <a:ext cx="19050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78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AD6B-6A56-7768-F988-9F1B60CF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71024-CF56-2501-69EC-B9DD4C861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0D0DC56-CC24-2D2B-9650-47DA02B44D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69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8D2E-23AC-9816-138F-6792D699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F4220-29D2-D424-4CE2-CBDDEA4BB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55AD754-3C5A-6404-E839-AEB0CF70B7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68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859D-FC70-BC2F-4C8C-34C83599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76A7-4385-6C58-4E97-562B04062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4A4E819-8E59-1DD1-293D-A62EAE2890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99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096D197-FC15-372C-A60B-54412D03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B7D7-F97E-BD48-161B-F3F42DFD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7589489" cy="761895"/>
          </a:xfrm>
        </p:spPr>
        <p:txBody>
          <a:bodyPr lIns="0" tIns="0" rIns="0" bIns="0" anchor="t"/>
          <a:lstStyle/>
          <a:p>
            <a:r>
              <a:rPr lang="en-AU" dirty="0">
                <a:latin typeface="Times"/>
              </a:rPr>
              <a:t>Acknowledgments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B8B2B58-041C-0B1B-A64E-6DE19F508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260605"/>
            <a:ext cx="7285990" cy="3324094"/>
          </a:xfrm>
        </p:spPr>
        <p:txBody>
          <a:bodyPr/>
          <a:lstStyle/>
          <a:p>
            <a:r>
              <a:rPr lang="en-AU" dirty="0"/>
              <a:t>Acknowledgments: Sydney Precision Data Science Centre</a:t>
            </a:r>
          </a:p>
          <a:p>
            <a:r>
              <a:rPr lang="en-AU" dirty="0"/>
              <a:t>Our Team</a:t>
            </a:r>
          </a:p>
          <a:p>
            <a:endParaRPr lang="en-AU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B55A1-CC98-2576-8736-132B9201B1B6}"/>
              </a:ext>
            </a:extLst>
          </p:cNvPr>
          <p:cNvSpPr txBox="1"/>
          <p:nvPr/>
        </p:nvSpPr>
        <p:spPr>
          <a:xfrm>
            <a:off x="4713156" y="452715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Dr. Kevin Wang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8DD39-8866-410B-3C23-95EFE6F45CEC}"/>
              </a:ext>
            </a:extLst>
          </p:cNvPr>
          <p:cNvSpPr txBox="1"/>
          <p:nvPr/>
        </p:nvSpPr>
        <p:spPr>
          <a:xfrm>
            <a:off x="2837206" y="453159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Dr. Jie Kang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4CCBD-1BC6-144F-EAFD-B59860DC7AE9}"/>
              </a:ext>
            </a:extLst>
          </p:cNvPr>
          <p:cNvSpPr txBox="1"/>
          <p:nvPr/>
        </p:nvSpPr>
        <p:spPr>
          <a:xfrm>
            <a:off x="6786628" y="4419649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Supervisor: </a:t>
            </a:r>
          </a:p>
          <a:p>
            <a:r>
              <a:rPr lang="en-US"/>
              <a:t>Prof. Jean Yang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25C9C-80A0-E046-C04C-319745E080BB}"/>
              </a:ext>
            </a:extLst>
          </p:cNvPr>
          <p:cNvSpPr txBox="1"/>
          <p:nvPr/>
        </p:nvSpPr>
        <p:spPr>
          <a:xfrm>
            <a:off x="291929" y="4373483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Harry Robertson</a:t>
            </a:r>
          </a:p>
        </p:txBody>
      </p:sp>
      <p:pic>
        <p:nvPicPr>
          <p:cNvPr id="1032" name="Picture 8" descr="Profile photo for Harry">
            <a:extLst>
              <a:ext uri="{FF2B5EF4-FFF2-40B4-BE49-F238E27FC236}">
                <a16:creationId xmlns:a16="http://schemas.microsoft.com/office/drawing/2014/main" id="{1DB8EAC7-510C-2E82-2359-303140A72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93" y="2243739"/>
            <a:ext cx="2129744" cy="212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person kissing a fish&#10;&#10;AI-generated content may be incorrect.">
            <a:extLst>
              <a:ext uri="{FF2B5EF4-FFF2-40B4-BE49-F238E27FC236}">
                <a16:creationId xmlns:a16="http://schemas.microsoft.com/office/drawing/2014/main" id="{D2E5998C-B6AF-6166-207D-0E467FFEA0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337" y="2254501"/>
            <a:ext cx="2179438" cy="2118982"/>
          </a:xfrm>
          <a:prstGeom prst="rect">
            <a:avLst/>
          </a:prstGeom>
        </p:spPr>
      </p:pic>
      <p:pic>
        <p:nvPicPr>
          <p:cNvPr id="1034" name="Picture 10" descr="Profile photo for Kevin">
            <a:extLst>
              <a:ext uri="{FF2B5EF4-FFF2-40B4-BE49-F238E27FC236}">
                <a16:creationId xmlns:a16="http://schemas.microsoft.com/office/drawing/2014/main" id="{5B5047F2-AEFB-CC79-81A6-48BFF7563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775" y="2243739"/>
            <a:ext cx="2129744" cy="212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file photo for Jean">
            <a:extLst>
              <a:ext uri="{FF2B5EF4-FFF2-40B4-BE49-F238E27FC236}">
                <a16:creationId xmlns:a16="http://schemas.microsoft.com/office/drawing/2014/main" id="{9EAA7EF6-27C0-C53C-FF15-92F6F0213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523" y="2254501"/>
            <a:ext cx="2129744" cy="212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93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9DAF-CF38-3917-711B-76E5504A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830" y="2641598"/>
            <a:ext cx="5670550" cy="738664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34A93-1627-0E9E-936E-1578417F2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61CF31-F469-A459-6A08-93DD278177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0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e689f13-f4b0-411c-863e-2c1a3693a473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be689f13-f4b0-411c-863e-2c1a3693a473&quot;:{&quot;type&quot;:&quot;FIGURE_OBJECT&quot;,&quot;id&quot;:&quot;be689f13-f4b0-411c-863e-2c1a3693a473&quot;,&quot;parent&quot;:{&quot;type&quot;:&quot;CHILD&quot;,&quot;parentId&quot;:&quot;69ed8831-b396-4d9a-ba73-58696945131d&quot;,&quot;order&quot;:&quot;1&quot;},&quot;relativeTransform&quot;:{&quot;translate&quot;:{&quot;x&quot;:1455.8344958267194,&quot;y&quot;:592.8701550342894},&quot;rotate&quot;:0,&quot;skewX&quot;:0,&quot;scale&quot;:{&quot;x&quot;:1,&quot;y&quot;:1}},&quot;opacity&quot;:1},&quot;583df851-6c52-4c94-8fcf-fca956eddb4c&quot;:{&quot;id&quot;:&quot;583df851-6c52-4c94-8fcf-fca956eddb4c&quot;,&quot;name&quot;:&quot;Pregnant mother (trimester 3, long hair)&quot;,&quot;displayName&quot;:&quot;&quot;,&quot;type&quot;:&quot;FIGURE_OBJECT&quot;,&quot;relativeTransform&quot;:{&quot;translate&quot;:{&quot;x&quot;:-1796.3091249237505,&quot;y&quot;:-602.329034494563},&quot;rotate&quot;:0,&quot;skewX&quot;:0,&quot;scale&quot;:{&quot;x&quot;:1.445946226310499,&quot;y&quot;:1.4459462263104985}},&quot;image&quot;:{&quot;url&quot;:&quot;https://icons.biorender.com/biorender/635be44f4bbde20020556827/pregnant-mother-trimester-long-hair-02.png&quot;,&quot;fallbackUrl&quot;:&quot;https://res.cloudinary.com/dlcjuc3ej/image/upload/v1666966605/zkybjd5twm5qkbn2lhkw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&quot;,&quot;isPremium&quot;:true,&quot;size&quot;:{&quot;x&quot;:100,&quot;y&quot;:422.85714285714283}},&quot;source&quot;:{&quot;id&quot;:&quot;60119e83a0981600266d6f2d&quot;,&quot;version&quot;:1666966605,&quot;type&quot;:&quot;ASSETS&quot;},&quot;isPremium&quot;:true,&quot;parent&quot;:{&quot;type&quot;:&quot;CHILD&quot;,&quot;parentId&quot;:&quot;be689f13-f4b0-411c-863e-2c1a3693a473&quot;,&quot;order&quot;:&quot;5&quot;},&quot;opacity&quot;:1},&quot;86232c2f-f18d-49d8-b1c5-32f81fc7ad7f&quot;:{&quot;type&quot;:&quot;FIGURE_OBJECT&quot;,&quot;id&quot;:&quot;86232c2f-f18d-49d8-b1c5-32f81fc7ad7f&quot;,&quot;parent&quot;:{&quot;type&quot;:&quot;CROP&quot;,&quot;parentId&quot;:&quot;be689f13-f4b0-411c-863e-2c1a3693a473&quot;,&quot;order&quot;:&quot;5&quot;},&quot;relativeTransform&quot;:{&quot;translate&quot;:{&quot;x&quot;:-1796.3091249237505,&quot;y&quot;:-743.2446329801384},&quot;rotate&quot;:0,&quot;skewX&quot;:0,&quot;scale&quot;:{&quot;x&quot;:72.29731131552477,&quot;y&quot;:164.79874650578694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9d9c2a76-025a-43b0-a169-141973da405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8095c7c3-ec4d-4e22-91bf-422c79b95065&quot;:{&quot;type&quot;:&quot;FIGURE_OBJECT&quot;,&quot;id&quot;:&quot;8095c7c3-ec4d-4e22-91bf-422c79b95065&quot;,&quot;relativeTransform&quot;:{&quot;translate&quot;:{&quot;x&quot;:-215.4604654372631,&quot;y&quot;:-184.8476987361821},&quot;rotate&quot;:7.2164496600635185e-16,&quot;skewX&quot;:0,&quot;scale&quot;:{&quot;x&quot;:1,&quot;y&quot;:1}}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892c54e1-5de8-4cd2-83f9-0fd7c5fcbce3&quot;,&quot;order&quot;:&quot;2&quot;}},&quot;88babd93-f180-4f84-877b-62f2810eee33&quot;:{&quot;type&quot;:&quot;FIGURE_OBJECT&quot;,&quot;id&quot;:&quot;88babd93-f180-4f84-877b-62f2810eee33&quot;,&quot;name&quot;:&quot;Blood vial&quot;,&quot;relativeTransform&quot;:{&quot;translate&quot;:{&quot;x&quot;:-7.368844603374475e-15,&quot;y&quot;:13.646871311544547},&quot;rotate&quot;:0,&quot;skewX&quot;:-6.975945255140755e-16,&quot;scale&quot;:{&quot;x&quot;:0.46576273117433364,&quot;y&quot;:0.4657627311743335}},&quot;opacity&quot;:1,&quot;image&quot;:{&quot;url&quot;:&quot;https://icons.biorender.com/biorender/5dbafb87c9e7d80004b85b4e/20191031152119/image/blood-vial.png&quot;,&quot;fallbackUrl&quot;:&quot;https://res.cloudinary.com/dlcjuc3ej/image/upload/v1572535279/avppu598ftqswgf927db.svg#/keystone/api/icons/5dbafb87c9e7d80004b85b4e/20191031152119/image/blood-vial.svg&quot;,&quot;size&quot;:{&quot;x&quot;:65,&quot;y&quot;:239},&quot;isPremium&quot;:false,&quot;isPacked&quot;:tru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2&quot;}},&quot;8c197a15-8972-49d1-8fb2-13a9034fbf15&quot;:{&quot;type&quot;:&quot;FIGURE_OBJECT&quot;,&quot;id&quot;:&quot;8c197a15-8972-49d1-8fb2-13a9034fbf15&quot;,&quot;name&quot;:&quot;Blood vial cap&quot;,&quot;relativeTransform&quot;:{&quot;translate&quot;:{&quot;x&quot;:-0.00016662437091414788,&quot;y&quot;:-43.95950926040859},&quot;rotate&quot;:0,&quot;skewX&quot;:-6.975945255140761e-16,&quot;scale&quot;:{&quot;x&quot;:0.46576273117433326,&quot;y&quot;:0.4657627311743335}},&quot;opacity&quot;:1,&quot;image&quot;:{&quot;url&quot;:&quot;https://icons.biorender.com/biorender/5dbafee7c9e7d80004b85b60/blood-vial-cap.png&quot;,&quot;fallbackUrl&quot;:&quot;https://res.cloudinary.com/dlcjuc3ej/image/upload/v1572536037/tlv3njszabmvrha42fta.svg#/keystone/api/icons/5dbafee7c9e7d80004b85b60/blood-vial-cap.svg#/keystone/api/icons/5dbafee7c9e7d80004b85b60/blood-vial-cap.svg#/keystone/api/icons/5dbafee7c9e7d80004b85b60/blood-vial-cap.svg#/keystone/api/icons/5dbafee7c9e7d80004b85b60/blood-vial-cap.svg#/keystone/api/icons/5dbafee7c9e7d80004b85b60/blood-vial-cap.svg&quot;,&quot;size&quot;:{&quot;x&quot;:65,&quot;y&quot;:79},&quot;isPremium&quot;:false,&quot;isPacked&quot;:tru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5&quot;},&quot;styles&quot;:{&quot;vector-hidden&quot;:[{&quot;styleName&quot;:&quot;MONOCHROME_COLOR&quot;,&quot;index&quot;:0,&quot;color&quot;:&quot;#DFDDDD&quot;}]}},&quot;ba6be45b-73a0-4cc5-ad3b-044fb6181c6f&quot;:{&quot;type&quot;:&quot;FIGURE_OBJECT&quot;,&quot;id&quot;:&quot;ba6be45b-73a0-4cc5-ad3b-044fb6181c6f&quot;,&quot;relativeTransform&quot;:{&quot;translate&quot;:{&quot;x&quot;:434.34237981465697,&quot;y&quot;:-1029.9625431089041},&quot;rotate&quot;:0,&quot;skewX&quot;:0,&quot;scale&quot;:{&quot;x&quot;:1,&quot;y&quot;:1}},&quot;opacity&quot;:1,&quot;path&quot;:{&quot;type&quot;:&quot;POLY_LINE&quot;,&quot;points&quot;:[{&quot;x&quot;:-814.9282083183734,&quot;y&quot;:929.5777801751547},{&quot;x&quot;:-752.2532192751057,&quot;y&quot;:890.7341999895515},{&quot;x&quot;:-680.9403006394568,&quot;y&quot;:880.5890346452634}],&quot;closed&quot;:false},&quot;pathStyles&quot;:[{&quot;type&quot;:&quot;FILL&quot;,&quot;fillStyle&quot;:&quot;rgba(0,0,0,0)&quot;},{&quot;type&quot;:&quot;STROKE&quot;,&quot;strokeStyle&quot;:&quot;rgb(129, 134, 137)&quot;,&quot;lineWidth&quot;:4.684949750238434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892c54e1-5de8-4cd2-83f9-0fd7c5fcbce3&quot;,&quot;order&quot;:&quot;5&quot;},&quot;connectorInfo&quot;:{&quot;connectedObjects&quot;:[],&quot;type&quot;:&quot;QUADRATIC&quot;,&quot;offset&quot;:{&quot;x&quot;:0,&quot;y&quot;:0},&quot;bending&quot;:-0.1,&quot;firstElementIsHead&quot;:false,&quot;customized&quot;:true}},&quot;bbf6a7a8-a71e-4190-8aec-145389e8f7b1&quot;:{&quot;relativeTransform&quot;:{&quot;translate&quot;:{&quot;x&quot;:1344.2434562185745,&quot;y&quot;:-82.00253907991366},&quot;rotate&quot;:0,&quot;skewX&quot;:0,&quot;scale&quot;:{&quot;x&quot;:1,&quot;y&quot;:1}},&quot;type&quot;:&quot;FIGURE_OBJECT&quot;,&quot;id&quot;:&quot;bbf6a7a8-a71e-4190-8aec-145389e8f7b1&quot;,&quot;parent&quot;:{&quot;type&quot;:&quot;CHILD&quot;,&quot;parentId&quot;:&quot;9d9c2a76-025a-43b0-a169-141973da405f&quot;,&quot;order&quot;:&quot;5&quot;},&quot;name&quot;:&quot;Proteome of cell lysate in test tube (with protein components callout)&quot;,&quot;displayName&quot;:&quot;Proteome of cell lysate in test tube (with protein components callout)&quot;,&quot;source&quot;:{&quot;id&quot;:&quot;643577dc4e6826d93e4fb72a&quot;,&quot;type&quot;:&quot;ASSETS&quot;},&quot;isPremium&quot;:true},&quot;ffbd5d56-836d-4563-ae5a-e31aef9c05ef&quot;:{&quot;type&quot;:&quot;FIGURE_OBJECT&quot;,&quot;id&quot;:&quot;ffbd5d56-836d-4563-ae5a-e31aef9c05ef&quot;,&quot;relativeTransform&quot;:{&quot;translate&quot;:{&quot;x&quot;:-1431.8373587584729,&quot;y&quot;:-147.5808966695474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1&quot;}},&quot;1032ef6e-676d-4501-802c-dc3aae0b037e&quot;:{&quot;type&quot;:&quot;FIGURE_OBJECT&quot;,&quot;id&quot;:&quot;1032ef6e-676d-4501-802c-dc3aae0b037e&quot;,&quot;relativeTransform&quot;:{&quot;translate&quot;:{&quot;x&quot;:-77.19242003029792,&quot;y&quot;:-0.07065366678880541},&quot;rotate&quot;:0},&quot;opacity&quot;:1,&quot;path&quot;:{&quot;type&quot;:&quot;POLY_LINE&quot;,&quot;points&quot;:[{&quot;x&quot;:-40.704817736061145,&quot;y&quot;:67.4652829615672},{&quot;x&quot;:32.70481773606115,&quot;y&quot;:-40.4652829615671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2&quot;}},&quot;7b6c973c-a11f-4a8e-84f9-b31cda801395&quot;:{&quot;type&quot;:&quot;FIGURE_OBJECT&quot;,&quot;id&quot;:&quot;7b6c973c-a11f-4a8e-84f9-b31cda801395&quot;,&quot;relativeTransform&quot;:{&quot;translate&quot;:{&quot;x&quot;:-54.46534329845883,&quot;y&quot;:56.46987869046946},&quot;rotate&quot;:0},&quot;opacity&quot;:1,&quot;path&quot;:{&quot;type&quot;:&quot;POLY_LINE&quot;,&quot;points&quot;:[{&quot;x&quot;:-64.43189446790026,&quot;y&quot;:16.075249395691074},{&quot;x&quot;:55.43189446790026,&quot;y&quot;:16.07524939569107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5&quot;}},&quot;a7725469-57a1-48b8-816b-b5b8e04c1f05&quot;:{&quot;type&quot;:&quot;FIGURE_OBJECT&quot;,&quot;id&quot;:&quot;a7725469-57a1-48b8-816b-b5b8e04c1f05&quot;,&quot;relativeTransform&quot;:{&quot;translate&quot;:{&quot;x&quot;:18.086798755195588,&quot;y&quot;:-6.301876790973922e-14},&quot;rotate&quot;:0.2700161367257839,&quot;skewX&quot;:-3.54876551147056e-17},&quot;opacity&quot;:1,&quot;path&quot;:{&quot;type&quot;:&quot;ELLIPSE&quot;,&quot;size&quot;:{&quot;x&quot;:148.91143563347035,&quot;y&quot;:148.91143563347043}},&quot;pathStyles&quot;:[{&quot;type&quot;:&quot;FILL&quot;,&quot;fillStyle&quot;:&quot;rgb(243, 241, 248)&quot;},{&quot;type&quot;:&quot;STROKE&quot;,&quot;strokeStyle&quot;:&quot;rgba(23,23,23,1)&quot;,&quot;lineWidth&quot;:1.6629568340370073,&quot;lineJoin&quot;:&quot;round&quot;}],&quot;isLocked&quot;:false,&quot;parent&quot;:{&quot;type&quot;:&quot;CHILD&quot;,&quot;parentId&quot;:&quot;ffbd5d56-836d-4563-ae5a-e31aef9c05ef&quot;,&quot;order&quot;:&quot;7&quot;}},&quot;0095673b-7530-4120-be36-b9b7410e3aff&quot;:{&quot;type&quot;:&quot;FIGURE_OBJECT&quot;,&quot;id&quot;:&quot;0095673b-7530-4120-be36-b9b7410e3aff&quot;,&quot;name&quot;:&quot;Pacman&quot;,&quot;relativeTransform&quot;:{&quot;translate&quot;:{&quot;x&quot;:-1449.6031868351533,&quot;y&quot;:-181.85161795362447},&quot;rotate&quot;:-2.443460952792062e-16,&quot;skewX&quot;:0,&quot;scale&quot;:{&quot;x&quot;:0.16075249395691069,&quot;y&quot;:0.16075249395691069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2&quot;}},&quot;37b07621-0e34-4e43-8595-c2bb583259d5&quot;:{&quot;type&quot;:&quot;FIGURE_OBJECT&quot;,&quot;id&quot;:&quot;37b07621-0e34-4e43-8595-c2bb583259d5&quot;,&quot;name&quot;:&quot;Pacman&quot;,&quot;relativeTransform&quot;:{&quot;translate&quot;:{&quot;x&quot;:-1384.1436932593756,&quot;y&quot;:-160.9162564517369},&quot;rotate&quot;:1.8412412958234115,&quot;skewX&quot;:0,&quot;scale&quot;:{&quot;x&quot;:0.16075249395691066,&quot;y&quot;:0.16075249395691074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3&quot;}},&quot;8a4b96e4-b64f-4b7a-bccd-679d9543f114&quot;:{&quot;type&quot;:&quot;FIGURE_OBJECT&quot;,&quot;id&quot;:&quot;8a4b96e4-b64f-4b7a-bccd-679d9543f114&quot;,&quot;name&quot;:&quot;Pacman&quot;,&quot;relativeTransform&quot;:{&quot;translate&quot;:{&quot;x&quot;:-1403.7304056033215,&quot;y&quot;:-99.43063126965266},&quot;rotate&quot;:0.46969401943335204,&quot;skewX&quot;:-3.356485855275665e-16,&quot;scale&quot;:{&quot;x&quot;:0.16075249395691066,&quot;y&quot;:0.16075249395691063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&quot;}},&quot;efc265d3-f0c3-4ef6-b3c7-4df4bddce3d0&quot;:{&quot;type&quot;:&quot;FIGURE_OBJECT&quot;,&quot;id&quot;:&quot;efc265d3-f0c3-4ef6-b3c7-4df4bddce3d0&quot;,&quot;name&quot;:&quot;Pacman&quot;,&quot;relativeTransform&quot;:{&quot;translate&quot;:{&quot;x&quot;:-1448.9714992183603,&quot;y&quot;:-110.02726730614933},&quot;rotate&quot;:-1.0337425351013334,&quot;skewX&quot;:1.1832875778473496e-15,&quot;scale&quot;:{&quot;x&quot;:0.13805166579614755,&quot;y&quot;:0.1380516657961475}},&quot;opacity&quot;:0.5,&quot;image&quot;:{&quot;url&quot;:&quot;https://icons.biorender.com/biorender/5ee3de774e18d300285a5551/pacman.png&quot;,&quot;fallbackUrl&quot;:&quot;https://res.cloudinary.com/dlcjuc3ej/image/upload/v1591991919/ugeyzt2gzkjfdzzjio1r.svg#/keystone/api/icons/5ee3de774e18d300285a5551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5&quot;}},&quot;c34482cd-e9e9-4e81-b5ac-5a9d8fe88448&quot;:{&quot;type&quot;:&quot;FIGURE_OBJECT&quot;,&quot;id&quot;:&quot;c34482cd-e9e9-4e81-b5ac-5a9d8fe88448&quot;,&quot;relativeTransform&quot;:{&quot;translate&quot;:{&quot;x&quot;:-1397.7687241837564,&quot;y&quot;:-197.0676023117558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6&quot;}},&quot;6e91de12-b701-4c52-afb6-40f32c26cc22&quot;:{&quot;type&quot;:&quot;FIGURE_OBJECT&quot;,&quot;id&quot;:&quot;6e91de12-b701-4c52-afb6-40f32c26cc22&quot;,&quot;relativeTransform&quot;:{&quot;translate&quot;:{&quot;x&quot;:-1356.9154179609138,&quot;y&quot;:-130.09589605352812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7&quot;}},&quot;01e41aa6-8f12-4ccc-9e03-4f263b873424&quot;:{&quot;type&quot;:&quot;FIGURE_OBJECT&quot;,&quot;id&quot;:&quot;01e41aa6-8f12-4ccc-9e03-4f263b873424&quot;,&quot;relativeTransform&quot;:{&quot;translate&quot;:{&quot;x&quot;:-1427.456202889809,&quot;y&quot;:-145.37474259660902},&quot;rotate&quot;:0},&quot;opacity&quot;:0.5,&quot;path&quot;:{&quot;type&quot;:&quot;ELLIPSE&quot;,&quot;size&quot;:{&quot;x&quot;:22.12449748741055,&quot;y&quot;:22.12449748741055}},&quot;pathStyles&quot;:[{&quot;type&quot;:&quot;FILL&quot;,&quot;fillStyle&quot;:&quot;rgba(216,134,81,1)&quot;},{&quot;type&quot;:&quot;STROKE&quot;,&quot;strokeStyle&quot;:&quot;rgba(114, 54, 29, 1)&quot;,&quot;lineWidth&quot;:1.1568981891075552,&quot;lineJoin&quot;:&quot;round&quot;}],&quot;isLocked&quot;:false,&quot;parent&quot;:{&quot;type&quot;:&quot;CHILD&quot;,&quot;parentId&quot;:&quot;bbf6a7a8-a71e-4190-8aec-145389e8f7b1&quot;,&quot;order&quot;:&quot;8&quot;}},&quot;892c54e1-5de8-4cd2-83f9-0fd7c5fcbce3&quot;:{&quot;type&quot;:&quot;FIGURE_OBJECT&quot;,&quot;id&quot;:&quot;892c54e1-5de8-4cd2-83f9-0fd7c5fcbce3&quot;,&quot;parent&quot;:{&quot;type&quot;:&quot;CHILD&quot;,&quot;parentId&quot;:&quot;9d9c2a76-025a-43b0-a169-141973da405f&quot;,&quot;order&quot;:&quot;2&quot;},&quot;relativeTransform&quot;:{}},&quot;9d9c2a76-025a-43b0-a169-141973da405f&quot;:{&quot;type&quot;:&quot;FIGURE_OBJECT&quot;,&quot;id&quot;:&quot;9d9c2a76-025a-43b0-a169-141973da405f&quot;,&quot;parent&quot;:{&quot;type&quot;:&quot;CHILD&quot;,&quot;parentId&quot;:&quot;69ed8831-b396-4d9a-ba73-58696945131d&quot;,&quot;order&quot;:&quot;7&quot;},&quot;relativeTransform&quot;:{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1c277abc-8998-4ba4-ac54-2b710e3b7d19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1c277abc-8998-4ba4-ac54-2b710e3b7d19&quot;:{&quot;type&quot;:&quot;FIGURE_OBJECT&quot;,&quot;id&quot;:&quot;1c277abc-8998-4ba4-ac54-2b710e3b7d19&quot;,&quot;relativeTransform&quot;:{&quot;translate&quot;:{&quot;x&quot;:186.56261298686607,&quot;y&quot;:-229.58343574946116},&quot;rotate&quot;:0,&quot;skewX&quot;:0,&quot;scale&quot;:{&quot;x&quot;:1,&quot;y&quot;:1}},&quot;opacity&quot;:1,&quot;path&quot;:{&quot;type&quot;:&quot;RECT&quot;,&quot;size&quot;:{&quot;x&quot;:186.81604073231458,&quot;y&quot;:91.42061567751564},&quot;cornerRounding&quot;:{&quot;type&quot;:&quot;ARC_LENGTH&quot;,&quot;global&quot;:17.838902770132858}},&quot;pathStyles&quot;:[{&quot;type&quot;:&quot;FILL&quot;,&quot;fillStyle&quot;:&quot;rgba(107, 106, 207, 1)&quot;},{&quot;type&quot;:&quot;STROKE&quot;,&quot;strokeStyle&quot;:&quot;rgba(44, 38, 93, 1)&quot;,&quot;lineWidth&quot;:2.2713196441618795,&quot;lineJoin&quot;:&quot;round&quot;}],&quot;isLocked&quot;:false,&quot;parent&quot;:{&quot;type&quot;:&quot;CHILD&quot;,&quot;parentId&quot;:&quot;69ed8831-b396-4d9a-ba73-58696945131d&quot;,&quot;order&quot;:&quot;8&quot;},&quot;layout&quot;:{&quot;sizeRatio&quot;:{&quot;x&quot;:0.88,&quot;y&quot;:0.88},&quot;keepAspectRatio&quot;:false}},&quot;0393e702-3359-4856-b6a6-2038e8d8fa7f&quot;:{&quot;id&quot;:&quot;0393e702-3359-4856-b6a6-2038e8d8fa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},&quot;range&quot;:[0,12]}],&quot;text&quot;:&quot;SomaScan - 7k&quot;},{&quot;runs&quot;:[],&quot;text&quot;:&quot;&quot;,&quot;baseStyle&quot;:{&quot;fontFamily&quot;:&quot;Roboto&quot;,&quot;fontSize&quot;:21.19898334551086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,&quot;script&quot;:&quot;none&quot;},&quot;range&quot;:[0,13]}],&quot;text&quot;:&quot;~7000 proteins&quot;}],&quot;_lastCaretLocation&quot;:{&quot;lineIndex&quot;:2,&quot;runIndex&quot;:-1,&quot;charIndex&quot;:-1,&quot;endOfLine&quot;:true}},&quot;format&quot;:&quot;BETTER_TEXT&quot;,&quot;size&quot;:{&quot;x&quot;:164.39811584443686,&quot;y&quot;:74.953548257342},&quot;targetSize&quot;:{&quot;x&quot;:164.39811584443686,&quot;y&quot;:2}},&quot;parent&quot;:{&quot;type&quot;:&quot;CHILD&quot;,&quot;parentId&quot;:&quot;1c277abc-8998-4ba4-ac54-2b710e3b7d19&quot;,&quot;order&quot;:&quot;5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095f095-8972-4b18-9ba1-490385f2157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a14a4050-b190-4bc4-81a6-5ffbe4b780e8&quot;:{&quot;id&quot;:&quot;a14a4050-b190-4bc4-81a6-5ffbe4b780e8&quot;,&quot;name&quot;:&quot;image.png&quot;,&quot;type&quot;:&quot;FIGURE_OBJECT&quot;,&quot;relativeTransform&quot;:{&quot;translate&quot;:{&quot;x&quot;:10.567136811747133,&quot;y&quot;:29.262842911323794},&quot;rotate&quot;:0,&quot;skewX&quot;:0,&quot;scale&quot;:{&quot;x&quot;:1.688402433393265,&quot;y&quot;:1.6884024333932652}},&quot;image&quot;:{&quot;url&quot;:&quot;https://core.services.biorender.com/api/uploads/noredirect/68cb8a74130deaa8695fdcfa/1758169716993_c6cf7d3c-8961-4eb7-9148-1c935413cb2c_icon.png&quot;,&quot;isPremium&quot;:false,&quot;isSignedURL&quot;:true,&quot;size&quot;:{&quot;x&quot;:300,&quot;y&quot;:200}},&quot;source&quot;:{&quot;id&quot;:&quot;68cb8a74130deaa8695fdcfa&quot;,&quot;type&quot;:&quot;UPLOADS&quot;},&quot;isPremium&quot;:false,&quot;parent&quot;:{&quot;type&quot;:&quot;CHILD&quot;,&quot;parentId&quot;:&quot;b095f095-8972-4b18-9ba1-490385f2157f&quot;,&quot;order&quot;:&quot;5&quot;}},&quot;b095f095-8972-4b18-9ba1-490385f2157f&quot;:{&quot;type&quot;:&quot;FIGURE_OBJECT&quot;,&quot;id&quot;:&quot;b095f095-8972-4b18-9ba1-490385f2157f&quot;,&quot;parent&quot;:{&quot;type&quot;:&quot;CHILD&quot;,&quot;parentId&quot;:&quot;69ed8831-b396-4d9a-ba73-58696945131d&quot;,&quot;order&quot;:&quot;9&quot;},&quot;relativeTransform&quot;:{&quot;translate&quot;:{&quot;x&quot;:175.99547617511894,&quot;y&quot;:-68.25320334071418},&quot;rotate&quot;:0,&quot;skewX&quot;:0,&quot;scale&quot;:{&quot;x&quot;:1,&quot;y&quot;:1}}},&quot;3e0136fc-fc76-4e29-83f8-a570fbcf6b6d&quot;:{&quot;type&quot;:&quot;FIGURE_OBJECT&quot;,&quot;id&quot;:&quot;3e0136fc-fc76-4e29-83f8-a570fbcf6b6d&quot;,&quot;parent&quot;:{&quot;type&quot;:&quot;CROP&quot;,&quot;parentId&quot;:&quot;b095f095-8972-4b18-9ba1-490385f2157f&quot;,&quot;order&quot;:&quot;5&quot;},&quot;relativeTransform&quot;:{&quot;translate&quot;:{&quot;x&quot;:10.567136811747133,&quot;y&quot;:11.075172428804255},&quot;rotate&quot;:0,&quot;skewX&quot;:0,&quot;scale&quot;:{&quot;x&quot;:253.26036500898974,&quot;y&quot;:71.60225087133108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40acf081-74ee-4d65-90a2-d2a3a3bba79c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40acf081-74ee-4d65-90a2-d2a3a3bba79c&quot;:{&quot;type&quot;:&quot;FIGURE_OBJECT&quot;,&quot;id&quot;:&quot;40acf081-74ee-4d65-90a2-d2a3a3bba79c&quot;,&quot;relativeTransform&quot;:{&quot;translate&quot;:{&quot;x&quot;:50.3796976475274,&quot;y&quot;:-229.71544851613874},&quot;rotate&quot;:0,&quot;skewX&quot;:0,&quot;scale&quot;:{&quot;x&quot;:1,&quot;y&quot;:1}},&quot;opacity&quot;:1,&quot;path&quot;:{&quot;type&quot;:&quot;POLY_LINE&quot;,&quot;points&quot;:[{&quot;x&quot;:-26.109387139551835,&quot;y&quot;:0},{&quot;x&quot;:26.10938713955183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3.4069794662428183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69ed8831-b396-4d9a-ba73-58696945131d&quot;,&quot;order&quot;:&quot;95&quot;},&quot;connectorInfo&quot;:{&quot;type&quot;:&quot;LINE&quot;,&quot;offset&quot;:{&quot;x&quot;:0,&quot;y&quot;:0},&quot;bending&quot;:0.1,&quot;customized&quot;:false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fc8562c4-e250-46d9-9779-46d90eb78891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c8562c4-e250-46d9-9779-46d90eb78891&quot;:{&quot;type&quot;:&quot;FIGURE_OBJECT&quot;,&quot;id&quot;:&quot;fc8562c4-e250-46d9-9779-46d90eb78891&quot;,&quot;relativeTransform&quot;:{&quot;translate&quot;:{&quot;x&quot;:186.5629130422743,&quot;y&quot;:-154.5094049073502},&quot;rotate&quot;:1.5707963267948966,&quot;skewX&quot;:0,&quot;scale&quot;:{&quot;x&quot;:1,&quot;y&quot;:1}},&quot;opacity&quot;:1,&quot;path&quot;:{&quot;type&quot;:&quot;BRACKET&quot;,&quot;size&quot;:{&quot;x&quot;:15.899237509133155,&quot;y&quot;:304.35683231769184},&quot;handleBase&quot;:{&quot;x&quot;:-1,&quot;y&quot;:0},&quot;handleWidth&quot;:14,&quot;cornerRounding&quot;:{&quot;type&quot;:&quot;ARC_LENGTH&quot;,&quot;global&quot;:19.622793047146143,&quot;perNode&quot;:{&quot;3&quot;:0}}},&quot;pathStyles&quot;:[{&quot;type&quot;:&quot;FILL&quot;,&quot;fillStyle&quot;:&quot;rgba(0,0,0,0)&quot;},{&quot;type&quot;:&quot;STROKE&quot;,&quot;strokeStyle&quot;:&quot;#232323&quot;,&quot;lineWidth&quot;:3.4069794662428183,&quot;lineJoin&quot;:&quot;round&quot;}],&quot;isLocked&quot;:false,&quot;parent&quot;:{&quot;type&quot;:&quot;CHILD&quot;,&quot;parentId&quot;:&quot;69ed8831-b396-4d9a-ba73-58696945131d&quot;,&quot;order&quot;:&quot;97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079d76d1-fd08-43aa-8934-95b86c733d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3f61dee1-7046-4d26-b356-a2d7c8929294&quot;:{&quot;type&quot;:&quot;FIGURE_OBJECT&quot;,&quot;id&quot;:&quot;3f61dee1-7046-4d26-b356-a2d7c8929294&quot;,&quot;relativeTransform&quot;:{&quot;translate&quot;:{&quot;x&quot;:-655.917394540493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1&quot;},&quot;connectorInfo&quot;:{&quot;type&quot;:&quot;LINE&quot;,&quot;offset&quot;:{&quot;x&quot;:0,&quot;y&quot;:0},&quot;bending&quot;:0.1,&quot;customized&quot;:false}},&quot;bc9a2ab1-1dc4-4481-b6ab-77e0a5a54824&quot;:{&quot;id&quot;:&quot;bc9a2ab1-1dc4-4481-b6ab-77e0a5a54824&quot;,&quot;type&quot;:&quot;FIGURE_OBJECT&quot;,&quot;relativeTransform&quot;:{&quot;translate&quot;:{&quot;x&quot;:-518.492176341427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8]}],&quot;text&quot;:&quot;Blood pressure / Hypertension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2&quot;}},&quot;71324aed-1664-4e39-afa7-ab03f2dc53f2&quot;:{&quot;type&quot;:&quot;FIGURE_OBJECT&quot;,&quot;id&quot;:&quot;71324aed-1664-4e39-afa7-ab03f2dc53f2&quot;,&quot;relativeTransform&quot;:{&quot;translate&quot;:{&quot;x&quot;:-655.917394540493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3&quot;},&quot;connectorInfo&quot;:{&quot;type&quot;:&quot;LINE&quot;,&quot;offset&quot;:{&quot;x&quot;:0,&quot;y&quot;:0},&quot;bending&quot;:0.1,&quot;customized&quot;:false}},&quot;f14d22b1-221a-493a-8e22-6ef9076bc493&quot;:{&quot;id&quot;:&quot;f14d22b1-221a-493a-8e22-6ef9076bc493&quot;,&quot;type&quot;:&quot;FIGURE_OBJECT&quot;,&quot;relativeTransform&quot;:{&quot;translate&quot;:{&quot;x&quot;:-518.492176341427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17]}],&quot;text&quot;:&quot;Renal disease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5&quot;}},&quot;beec37bd-c6c4-4ad9-9d84-a45571090ea5&quot;:{&quot;type&quot;:&quot;FIGURE_OBJECT&quot;,&quot;id&quot;:&quot;beec37bd-c6c4-4ad9-9d84-a45571090ea5&quot;,&quot;relativeTransform&quot;:{&quot;translate&quot;:{&quot;x&quot;:-655.9173945404933,&quot;y&quot;:211.72799999999998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6&quot;},&quot;connectorInfo&quot;:{&quot;type&quot;:&quot;LINE&quot;,&quot;offset&quot;:{&quot;x&quot;:0,&quot;y&quot;:0},&quot;bending&quot;:0.1,&quot;customized&quot;:false}},&quot;f773f199-b2a8-4764-be9a-513c93b32491&quot;:{&quot;id&quot;:&quot;f773f199-b2a8-4764-be9a-513c93b32491&quot;,&quot;type&quot;:&quot;FIGURE_OBJECT&quot;,&quot;relativeTransform&quot;:{&quot;translate&quot;:{&quot;x&quot;:-518.492176341427,&quot;y&quot;:216.97799999999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0]}],&quot;text&quot;:&quot;Future complications.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7&quot;}},&quot;079d76d1-fd08-43aa-8934-95b86c733d88&quot;:{&quot;type&quot;:&quot;FIGURE_OBJECT&quot;,&quot;id&quot;:&quot;079d76d1-fd08-43aa-8934-95b86c733d88&quot;,&quot;parent&quot;:{&quot;type&quot;:&quot;CHILD&quot;,&quot;parentId&quot;:&quot;69ed8831-b396-4d9a-ba73-58696945131d&quot;,&quot;order&quot;:&quot;99&quot;},&quot;relativeTransform&quot;:{&quot;translate&quot;:{&quot;x&quot;:244.14499999999998,&quot;y&quot;:-54.076},&quot;rotate&quot;:0,&quot;skewX&quot;:0,&quot;scale&quot;:{&quot;x&quot;:1,&quot;y&quot;:1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5fb7abb8-223c-44ba-80ec-c11f01149e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2db6011-8035-40bb-b59b-41328709c127&quot;:{&quot;type&quot;:&quot;FIGURE_OBJECT&quot;,&quot;id&quot;:&quot;f2db6011-8035-40bb-b59b-41328709c127&quot;,&quot;relativeTransform&quot;:{&quot;translate&quot;:{&quot;x&quot;:54.16660545950663,&quot;y&quot;:49.5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1&quot;},&quot;connectorInfo&quot;:{&quot;type&quot;:&quot;LINE&quot;,&quot;offset&quot;:{&quot;x&quot;:0,&quot;y&quot;:0},&quot;bending&quot;:0.1,&quot;customized&quot;:false}},&quot;c1b79b79-350d-4629-8ae7-99e67e457a12&quot;:{&quot;id&quot;:&quot;c1b79b79-350d-4629-8ae7-99e67e457a12&quot;,&quot;type&quot;:&quot;FIGURE_OBJECT&quot;,&quot;relativeTransform&quot;:{&quot;translate&quot;:{&quot;x&quot;:191.59182365857293,&quot;y&quot;:54.7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12]}],&quot;text&quot;:&quot;Risk of death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2&quot;}},&quot;7e88a99d-1b11-4754-9d9f-a345d40dfb63&quot;:{&quot;type&quot;:&quot;FIGURE_OBJECT&quot;,&quot;id&quot;:&quot;7e88a99d-1b11-4754-9d9f-a345d40dfb63&quot;,&quot;relativeTransform&quot;:{&quot;translate&quot;:{&quot;x&quot;:54.1666054595066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3&quot;},&quot;connectorInfo&quot;:{&quot;type&quot;:&quot;LINE&quot;,&quot;offset&quot;:{&quot;x&quot;:0,&quot;y&quot;:0},&quot;bending&quot;:0.1,&quot;customized&quot;:false}},&quot;e06ccfa8-b159-43c3-9785-ca61a621a8a1&quot;:{&quot;id&quot;:&quot;e06ccfa8-b159-43c3-9785-ca61a621a8a1&quot;,&quot;type&quot;:&quot;FIGURE_OBJECT&quot;,&quot;relativeTransform&quot;:{&quot;translate&quot;:{&quot;x&quot;:191.59182365857293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30]}],&quot;text&quot;:&quot;Hypoxic injury (brain / lungs) &quot;}],&quot;_lastCaretLocation&quot;:{&quot;lineIndex&quot;:0,&quot;runIndex&quot;:0,&quot;charIndex&quot;:30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5&quot;}},&quot;f3a8830b-f666-47d9-a89f-1a363a25b6fb&quot;:{&quot;type&quot;:&quot;FIGURE_OBJECT&quot;,&quot;id&quot;:&quot;f3a8830b-f666-47d9-a89f-1a363a25b6fb&quot;,&quot;relativeTransform&quot;:{&quot;translate&quot;:{&quot;x&quot;:54.1666054595066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6&quot;},&quot;connectorInfo&quot;:{&quot;type&quot;:&quot;LINE&quot;,&quot;offset&quot;:{&quot;x&quot;:0,&quot;y&quot;:0},&quot;bending&quot;:0.1,&quot;customized&quot;:false}},&quot;be5a5753-b42c-4792-b732-6e25351406db&quot;:{&quot;id&quot;:&quot;be5a5753-b42c-4792-b732-6e25351406db&quot;,&quot;type&quot;:&quot;FIGURE_OBJECT&quot;,&quot;relativeTransform&quot;:{&quot;translate&quot;:{&quot;x&quot;:191.59182365857293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20]}],&quot;text&quot;:&quot;Neurodevelopment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7&quot;}},&quot;5fb7abb8-223c-44ba-80ec-c11f01149e88&quot;:{&quot;type&quot;:&quot;FIGURE_OBJECT&quot;,&quot;id&quot;:&quot;5fb7abb8-223c-44ba-80ec-c11f01149e88&quot;,&quot;parent&quot;:{&quot;type&quot;:&quot;CHILD&quot;,&quot;parentId&quot;:&quot;69ed8831-b396-4d9a-ba73-58696945131d&quot;,&quot;order&quot;:&quot;997&quot;},&quot;relativeTransform&quot;:{&quot;translate&quot;:{&quot;x&quot;:-0.2501897428872155,&quot;y&quot;:0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pter break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Updates_No accent bar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Sydney 2022_2">
    <a:dk1>
      <a:srgbClr val="000000"/>
    </a:dk1>
    <a:lt1>
      <a:srgbClr val="FFFFFF"/>
    </a:lt1>
    <a:dk2>
      <a:srgbClr val="414141"/>
    </a:dk2>
    <a:lt2>
      <a:srgbClr val="FCEDE2"/>
    </a:lt2>
    <a:accent1>
      <a:srgbClr val="E64626"/>
    </a:accent1>
    <a:accent2>
      <a:srgbClr val="414141"/>
    </a:accent2>
    <a:accent3>
      <a:srgbClr val="71A399"/>
    </a:accent3>
    <a:accent4>
      <a:srgbClr val="DAA8A2"/>
    </a:accent4>
    <a:accent5>
      <a:srgbClr val="8F9EC9"/>
    </a:accent5>
    <a:accent6>
      <a:srgbClr val="1A345E"/>
    </a:accent6>
    <a:hlink>
      <a:srgbClr val="E64626"/>
    </a:hlink>
    <a:folHlink>
      <a:srgbClr val="F0513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2e17a-d69a-4a7c-aca9-8c457aad35e5">
      <Terms xmlns="http://schemas.microsoft.com/office/infopath/2007/PartnerControls"/>
    </lcf76f155ced4ddcb4097134ff3c332f>
    <TaxCatchAll xmlns="b4ec80fd-8431-40c0-a290-862af3148ca3" xsi:nil="true"/>
    <Reportpage xmlns="7342e17a-d69a-4a7c-aca9-8c457aad35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92580B121D5040ACF1C3BB881AB73F" ma:contentTypeVersion="14" ma:contentTypeDescription="Create a new document." ma:contentTypeScope="" ma:versionID="1091cb38004b44c441a10ca9df3dc410">
  <xsd:schema xmlns:xsd="http://www.w3.org/2001/XMLSchema" xmlns:xs="http://www.w3.org/2001/XMLSchema" xmlns:p="http://schemas.microsoft.com/office/2006/metadata/properties" xmlns:ns2="7342e17a-d69a-4a7c-aca9-8c457aad35e5" xmlns:ns3="b4ec80fd-8431-40c0-a290-862af3148ca3" targetNamespace="http://schemas.microsoft.com/office/2006/metadata/properties" ma:root="true" ma:fieldsID="fcf02c74aee6b19046370ebc49fc1b2d" ns2:_="" ns3:_="">
    <xsd:import namespace="7342e17a-d69a-4a7c-aca9-8c457aad35e5"/>
    <xsd:import namespace="b4ec80fd-8431-40c0-a290-862af3148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Reportp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2e17a-d69a-4a7c-aca9-8c457aad35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portpage" ma:index="21" nillable="true" ma:displayName="Report page" ma:format="Dropdown" ma:internalName="Reportp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c80fd-8431-40c0-a290-862af3148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73a6383-9aee-48ca-96a5-76a7fec42c51}" ma:internalName="TaxCatchAll" ma:showField="CatchAllData" ma:web="b4ec80fd-8431-40c0-a290-862af3148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9B7B7D-D26A-4C33-826F-DADE54E4FD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04B00-E890-4682-9295-DDD3DDE8268D}">
  <ds:schemaRefs>
    <ds:schemaRef ds:uri="http://purl.org/dc/elements/1.1/"/>
    <ds:schemaRef ds:uri="b4ec80fd-8431-40c0-a290-862af3148ca3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342e17a-d69a-4a7c-aca9-8c457aad35e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EC600DA-0CD9-417B-AFD4-46018338836A}">
  <ds:schemaRefs>
    <ds:schemaRef ds:uri="7342e17a-d69a-4a7c-aca9-8c457aad35e5"/>
    <ds:schemaRef ds:uri="b4ec80fd-8431-40c0-a290-862af3148c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899</Words>
  <Application>Microsoft Office PowerPoint</Application>
  <PresentationFormat>On-screen Show (16:9)</PresentationFormat>
  <Paragraphs>148</Paragraphs>
  <Slides>23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Title slides</vt:lpstr>
      <vt:lpstr>Acknowledgement of Country</vt:lpstr>
      <vt:lpstr>Chapter break</vt:lpstr>
      <vt:lpstr>Graphic slides</vt:lpstr>
      <vt:lpstr>Updates_No accent bar</vt:lpstr>
      <vt:lpstr>OptiMark – Optimised Multi-Objective Biomarker Selection</vt:lpstr>
      <vt:lpstr>Talk Overview</vt:lpstr>
      <vt:lpstr>Problem motivation </vt:lpstr>
      <vt:lpstr>Brief backgrounds of FGR</vt:lpstr>
      <vt:lpstr>PowerPoint Presentation</vt:lpstr>
      <vt:lpstr>PowerPoint Presentation</vt:lpstr>
      <vt:lpstr>A sense of Metadata </vt:lpstr>
      <vt:lpstr>What is special in this biomarker discovery project ? </vt:lpstr>
      <vt:lpstr>What has been being addressed and what has not?</vt:lpstr>
      <vt:lpstr>Assay migration small panel</vt:lpstr>
      <vt:lpstr>PowerPoint Presentation</vt:lpstr>
      <vt:lpstr>PowerPoint Presentation</vt:lpstr>
      <vt:lpstr>Misaligned evaluation Different language – better translation between disciplines</vt:lpstr>
      <vt:lpstr>PowerPoint Presentation</vt:lpstr>
      <vt:lpstr>Brief summary: From Omics to Clinic</vt:lpstr>
      <vt:lpstr>Gap &amp; Problem Statement</vt:lpstr>
      <vt:lpstr>PowerPoint Presentation</vt:lpstr>
      <vt:lpstr>OptiMark</vt:lpstr>
      <vt:lpstr>PowerPoint Presentation</vt:lpstr>
      <vt:lpstr>PowerPoint Presentation</vt:lpstr>
      <vt:lpstr>PowerPoint Presentation</vt:lpstr>
      <vt:lpstr>Acknowledgments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Jay D</cp:lastModifiedBy>
  <cp:revision>6</cp:revision>
  <dcterms:created xsi:type="dcterms:W3CDTF">2022-10-08T02:11:21Z</dcterms:created>
  <dcterms:modified xsi:type="dcterms:W3CDTF">2025-10-31T20:24:13Z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2022-10-08T00:00:00Z</vt:filetime>
  </property>
  <property fmtid="{D5CDD505-2E9C-101B-9397-08002B2CF9AE}" pid="5" name="Producer">
    <vt:lpwstr>Adobe PDF Library 16.0.3</vt:lpwstr>
  </property>
  <property fmtid="{D5CDD505-2E9C-101B-9397-08002B2CF9AE}" pid="6" name="ContentTypeId">
    <vt:lpwstr>0x0101002592580B121D5040ACF1C3BB881AB73F</vt:lpwstr>
  </property>
  <property fmtid="{D5CDD505-2E9C-101B-9397-08002B2CF9AE}" pid="7" name="MediaServiceImageTags">
    <vt:lpwstr/>
  </property>
</Properties>
</file>