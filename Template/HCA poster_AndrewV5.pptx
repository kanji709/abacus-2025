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30276800" cy="42799000"/>
  <p:notesSz cx="6858000" cy="9144000"/>
  <p:embeddedFontLst>
    <p:embeddedFont>
      <p:font typeface="Times New Roman Bold" panose="02030802070405020303" pitchFamily="18" charset="77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441B"/>
    <a:srgbClr val="71A399"/>
    <a:srgbClr val="FC441B"/>
    <a:srgbClr val="8F9FC9"/>
    <a:srgbClr val="FB441B"/>
    <a:srgbClr val="E64626"/>
    <a:srgbClr val="424142"/>
    <a:srgbClr val="1A3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15" autoAdjust="0"/>
    <p:restoredTop sz="96327" autoAdjust="0"/>
  </p:normalViewPr>
  <p:slideViewPr>
    <p:cSldViewPr>
      <p:cViewPr>
        <p:scale>
          <a:sx n="62" d="100"/>
          <a:sy n="62" d="100"/>
        </p:scale>
        <p:origin x="18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50A57-7EC6-7C49-94D3-E4D93714FE27}" type="datetimeFigureOut">
              <a:rPr lang="en-US" smtClean="0"/>
              <a:t>6/5/25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EB5940-D787-5348-8E2A-8CE91C0A3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92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B5940-D787-5348-8E2A-8CE91C0A3D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42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44677B3-B5CE-F6E0-EFA5-947E4A33C34E}"/>
              </a:ext>
            </a:extLst>
          </p:cNvPr>
          <p:cNvSpPr/>
          <p:nvPr/>
        </p:nvSpPr>
        <p:spPr>
          <a:xfrm flipV="1">
            <a:off x="-108475" y="-106096"/>
            <a:ext cx="30410675" cy="5757764"/>
          </a:xfrm>
          <a:prstGeom prst="rect">
            <a:avLst/>
          </a:prstGeom>
          <a:solidFill>
            <a:srgbClr val="FA4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215" dirty="0">
              <a:solidFill>
                <a:srgbClr val="D220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22280804" y="24601208"/>
            <a:ext cx="7496777" cy="4085329"/>
          </a:xfrm>
          <a:custGeom>
            <a:avLst/>
            <a:gdLst/>
            <a:ahLst/>
            <a:cxnLst/>
            <a:rect l="l" t="t" r="r" b="b"/>
            <a:pathLst>
              <a:path w="6325770" h="3542431">
                <a:moveTo>
                  <a:pt x="0" y="0"/>
                </a:moveTo>
                <a:lnTo>
                  <a:pt x="6325770" y="0"/>
                </a:lnTo>
                <a:lnTo>
                  <a:pt x="6325770" y="3542431"/>
                </a:lnTo>
                <a:lnTo>
                  <a:pt x="0" y="35424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266"/>
            </a:stretch>
          </a:blipFill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2776200" y="35191700"/>
            <a:ext cx="8698380" cy="7607300"/>
          </a:xfrm>
          <a:custGeom>
            <a:avLst/>
            <a:gdLst/>
            <a:ahLst/>
            <a:cxnLst/>
            <a:rect l="l" t="t" r="r" b="b"/>
            <a:pathLst>
              <a:path w="11803963" h="8203754">
                <a:moveTo>
                  <a:pt x="0" y="0"/>
                </a:moveTo>
                <a:lnTo>
                  <a:pt x="11803963" y="0"/>
                </a:lnTo>
                <a:lnTo>
                  <a:pt x="11803963" y="8203755"/>
                </a:lnTo>
                <a:lnTo>
                  <a:pt x="0" y="82037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227256" y="2387097"/>
            <a:ext cx="19375098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indent="-742950" algn="ctr">
              <a:buAutoNum type="alphaUcPeriod"/>
            </a:pPr>
            <a:r>
              <a:rPr lang="en-US" sz="3600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Zhang</a:t>
            </a:r>
            <a:r>
              <a:rPr lang="en-US" sz="3600" baseline="30000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1,2</a:t>
            </a:r>
            <a:r>
              <a:rPr lang="en-US" sz="3600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, </a:t>
            </a:r>
            <a:r>
              <a:rPr lang="en-A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X. Fu</a:t>
            </a:r>
            <a:r>
              <a:rPr lang="en-AU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1,2,3,4,5^</a:t>
            </a:r>
            <a:r>
              <a:rPr lang="en-A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 Cao</a:t>
            </a:r>
            <a:r>
              <a:rPr lang="en-AU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1,3,4,5^</a:t>
            </a:r>
            <a:r>
              <a:rPr lang="en-A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 Bian</a:t>
            </a:r>
            <a:r>
              <a:rPr lang="en-AU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1,3,4</a:t>
            </a:r>
            <a:r>
              <a:rPr lang="en-A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Wang</a:t>
            </a:r>
            <a:r>
              <a:rPr lang="en-AU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2,3,5</a:t>
            </a:r>
            <a:r>
              <a:rPr lang="en-A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Graham</a:t>
            </a:r>
            <a:r>
              <a:rPr lang="en-AU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6,7,8</a:t>
            </a:r>
            <a:r>
              <a:rPr lang="en-A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Pathmanathan</a:t>
            </a:r>
            <a:r>
              <a:rPr lang="en-AU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7,8,9</a:t>
            </a:r>
            <a:r>
              <a:rPr lang="en-A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algn="ctr"/>
            <a:r>
              <a:rPr lang="en-A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Patrick</a:t>
            </a:r>
            <a:r>
              <a:rPr lang="en-AU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1,3,4,5,6</a:t>
            </a:r>
            <a:r>
              <a:rPr lang="en-A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Kim</a:t>
            </a:r>
            <a:r>
              <a:rPr lang="en-AU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1,2,5</a:t>
            </a:r>
            <a:r>
              <a:rPr lang="en-AU" sz="3600">
                <a:latin typeface="Times New Roman" panose="02020603050405020304" pitchFamily="18" charset="0"/>
                <a:cs typeface="Times New Roman" panose="02020603050405020304" pitchFamily="18" charset="0"/>
              </a:rPr>
              <a:t>, J.Yang</a:t>
            </a:r>
            <a:r>
              <a:rPr lang="en-AU" sz="36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1,3,4,5</a:t>
            </a:r>
            <a:endParaRPr lang="en-US" sz="3600" dirty="0"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107702" y="234054"/>
            <a:ext cx="22300032" cy="1949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82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Spatial gene expression at single-cell resolution from histology using deep learning with GHIST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735622" y="40458424"/>
            <a:ext cx="8541178" cy="2051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9"/>
              </a:lnSpc>
            </a:pPr>
            <a:r>
              <a:rPr lang="en-US" sz="2800" b="1" dirty="0">
                <a:solidFill>
                  <a:srgbClr val="FC441B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NEXT STEP: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GHIST’s cross-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tumour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benchmarking along with pan-cancer single-cell atlases reveal shared microenvironments across many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tumours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demonstrates the feasibility of creating a pan-cancer model across cancers without retraining.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380462" y="21374138"/>
            <a:ext cx="4286376" cy="31803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79"/>
              </a:lnSpc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Both compositional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barplots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and scatter plots shows that spatial mapping of cell types and predicted proportion shows alignment with ground truth for 4 different cancers.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837201" y="24984397"/>
            <a:ext cx="3942449" cy="35779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07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High correlation with HVG or SVG genes and zero or low correlation with non-SVGs (as expected) </a:t>
            </a:r>
          </a:p>
          <a:p>
            <a:pPr marL="457200" indent="-457200">
              <a:lnSpc>
                <a:spcPts val="307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Aim to see large differences between the two sets of boxplots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5248C3-3F50-F62A-5873-368D88DF78F0}"/>
              </a:ext>
            </a:extLst>
          </p:cNvPr>
          <p:cNvSpPr txBox="1">
            <a:spLocks/>
          </p:cNvSpPr>
          <p:nvPr/>
        </p:nvSpPr>
        <p:spPr>
          <a:xfrm>
            <a:off x="9107435" y="3644900"/>
            <a:ext cx="1055261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Sydney Precision Data Science Centre, University of Sydney</a:t>
            </a:r>
            <a:br>
              <a:rPr lang="en-AU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Science, The University of Sydney. </a:t>
            </a:r>
            <a:br>
              <a:rPr lang="en-AU" sz="2400" b="0" i="0" u="none" strike="noStrike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2400" b="0" i="0" u="none" strike="noStrike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AU" sz="24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School of Mathematics and Statistics, The University of Sydney</a:t>
            </a:r>
            <a:br>
              <a:rPr lang="en-AU" sz="24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2400" b="0" i="0" u="none" strike="noStrike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AU" sz="24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Charles Perkins Centre, The University of Sydney</a:t>
            </a:r>
          </a:p>
        </p:txBody>
      </p:sp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29BB7F1-39B3-9BBB-1A24-441526FD58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62" y="422218"/>
            <a:ext cx="7175539" cy="3812255"/>
          </a:xfrm>
          <a:prstGeom prst="rect">
            <a:avLst/>
          </a:prstGeom>
        </p:spPr>
      </p:pic>
      <p:sp>
        <p:nvSpPr>
          <p:cNvPr id="31" name="Freeform 6">
            <a:extLst>
              <a:ext uri="{FF2B5EF4-FFF2-40B4-BE49-F238E27FC236}">
                <a16:creationId xmlns:a16="http://schemas.microsoft.com/office/drawing/2014/main" id="{A55A94FE-B3E9-31B2-2E3F-58335C3C57E9}"/>
              </a:ext>
            </a:extLst>
          </p:cNvPr>
          <p:cNvSpPr/>
          <p:nvPr/>
        </p:nvSpPr>
        <p:spPr>
          <a:xfrm>
            <a:off x="26272651" y="7358452"/>
            <a:ext cx="3849084" cy="4668693"/>
          </a:xfrm>
          <a:custGeom>
            <a:avLst/>
            <a:gdLst/>
            <a:ahLst/>
            <a:cxnLst/>
            <a:rect l="l" t="t" r="r" b="b"/>
            <a:pathLst>
              <a:path w="2995904" h="3720032">
                <a:moveTo>
                  <a:pt x="0" y="0"/>
                </a:moveTo>
                <a:lnTo>
                  <a:pt x="2995904" y="0"/>
                </a:lnTo>
                <a:lnTo>
                  <a:pt x="2995904" y="3720032"/>
                </a:lnTo>
                <a:lnTo>
                  <a:pt x="0" y="37200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duotone>
                <a:prstClr val="black"/>
                <a:srgbClr val="FC441B">
                  <a:tint val="45000"/>
                  <a:satMod val="400000"/>
                </a:srgbClr>
              </a:duotone>
            </a:blip>
            <a:stretch>
              <a:fillRect/>
            </a:stretch>
          </a:blipFill>
          <a:ln>
            <a:solidFill>
              <a:schemeClr val="accent1"/>
            </a:solidFill>
          </a:ln>
        </p:spPr>
        <p:txBody>
          <a:bodyPr/>
          <a:lstStyle/>
          <a:p>
            <a:endParaRPr lang="en-US" dirty="0">
              <a:ln>
                <a:solidFill>
                  <a:sysClr val="windowText" lastClr="000000"/>
                </a:solidFill>
              </a:ln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DDE4A1-1BFF-38C2-1843-FBC7D83C429E}"/>
              </a:ext>
            </a:extLst>
          </p:cNvPr>
          <p:cNvSpPr txBox="1"/>
          <p:nvPr/>
        </p:nvSpPr>
        <p:spPr>
          <a:xfrm>
            <a:off x="17808079" y="3662831"/>
            <a:ext cx="1185875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of Data Discovery for Health Limited (D</a:t>
            </a:r>
            <a:r>
              <a:rPr lang="en-AU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4H), Science Park, Hong Kong</a:t>
            </a:r>
            <a:endParaRPr lang="en-AU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AU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Centre for Cancer Research, The Westmead Institute for Medical Research</a:t>
            </a:r>
            <a:b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Westmead Breast Cancer Institute, Westmead Hospital, Western Sydney Local Health District</a:t>
            </a:r>
          </a:p>
          <a:p>
            <a:r>
              <a:rPr lang="en-AU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Medicine and Health, University of Sydny</a:t>
            </a:r>
          </a:p>
          <a:p>
            <a:r>
              <a:rPr lang="en-AU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Douglass Hanly Moir Pathology, Macquarie Park, Australia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8B1A94-6FBB-27B6-549F-BD2CD8A83A36}"/>
              </a:ext>
            </a:extLst>
          </p:cNvPr>
          <p:cNvSpPr/>
          <p:nvPr/>
        </p:nvSpPr>
        <p:spPr>
          <a:xfrm>
            <a:off x="155065" y="5890100"/>
            <a:ext cx="17280960" cy="1260000"/>
          </a:xfrm>
          <a:prstGeom prst="rect">
            <a:avLst/>
          </a:prstGeom>
          <a:solidFill>
            <a:srgbClr val="FA441B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4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H&amp;E images to spatially resolved transcriptomics (SRT) </a:t>
            </a:r>
            <a:endParaRPr lang="en-AU" sz="4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822FF1-7278-50AD-3AF2-89C5FB09DBE4}"/>
              </a:ext>
            </a:extLst>
          </p:cNvPr>
          <p:cNvSpPr txBox="1">
            <a:spLocks/>
          </p:cNvSpPr>
          <p:nvPr/>
        </p:nvSpPr>
        <p:spPr>
          <a:xfrm>
            <a:off x="11591298" y="12131200"/>
            <a:ext cx="4902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2800" b="1" i="0" u="none" strike="noStrike" kern="1200" cap="none" spc="0" normalizeH="0" baseline="0" noProof="0" dirty="0">
                <a:ln>
                  <a:noFill/>
                </a:ln>
                <a:solidFill>
                  <a:srgbClr val="57759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H&amp;E to </a:t>
            </a:r>
            <a:r>
              <a:rPr kumimoji="0" lang="en-NZ" sz="2800" b="1" i="0" u="sng" strike="noStrike" kern="1200" cap="none" spc="0" normalizeH="0" baseline="0" noProof="0" dirty="0">
                <a:ln>
                  <a:noFill/>
                </a:ln>
                <a:solidFill>
                  <a:srgbClr val="57759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single-cell</a:t>
            </a:r>
            <a:r>
              <a:rPr kumimoji="0" lang="en-NZ" sz="2800" b="1" i="0" u="none" strike="noStrike" kern="1200" cap="none" spc="0" normalizeH="0" baseline="0" noProof="0" dirty="0">
                <a:ln>
                  <a:noFill/>
                </a:ln>
                <a:solidFill>
                  <a:srgbClr val="57759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SRT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srgbClr val="57759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47AA12-6ACF-BB5B-0B79-4FF65AB5C0A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50000"/>
          </a:blip>
          <a:srcRect l="-1" t="-1" r="4374" b="1774"/>
          <a:stretch/>
        </p:blipFill>
        <p:spPr>
          <a:xfrm>
            <a:off x="11137741" y="8567958"/>
            <a:ext cx="3163983" cy="2470848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9426C710-D3B8-A141-14D1-751D528597E8}"/>
              </a:ext>
            </a:extLst>
          </p:cNvPr>
          <p:cNvGrpSpPr/>
          <p:nvPr/>
        </p:nvGrpSpPr>
        <p:grpSpPr>
          <a:xfrm>
            <a:off x="11130846" y="8531088"/>
            <a:ext cx="3162680" cy="2532302"/>
            <a:chOff x="3221136" y="1820014"/>
            <a:chExt cx="1972539" cy="1579377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9B3A012-EC3F-3CD6-AD03-2A2D714C893A}"/>
                </a:ext>
              </a:extLst>
            </p:cNvPr>
            <p:cNvSpPr/>
            <p:nvPr/>
          </p:nvSpPr>
          <p:spPr>
            <a:xfrm>
              <a:off x="3916225" y="2168387"/>
              <a:ext cx="275382" cy="275382"/>
            </a:xfrm>
            <a:prstGeom prst="ellipse">
              <a:avLst/>
            </a:prstGeom>
            <a:solidFill>
              <a:srgbClr val="B0CBD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5F17F62-B5AD-58B9-5C9F-B88D7DBBED4C}"/>
                </a:ext>
              </a:extLst>
            </p:cNvPr>
            <p:cNvGrpSpPr/>
            <p:nvPr/>
          </p:nvGrpSpPr>
          <p:grpSpPr>
            <a:xfrm>
              <a:off x="3221136" y="1820014"/>
              <a:ext cx="1972539" cy="1579377"/>
              <a:chOff x="3109656" y="1662282"/>
              <a:chExt cx="2191857" cy="1754981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6BA5815-4601-40E7-9884-990831C5D396}"/>
                  </a:ext>
                </a:extLst>
              </p:cNvPr>
              <p:cNvCxnSpPr/>
              <p:nvPr/>
            </p:nvCxnSpPr>
            <p:spPr>
              <a:xfrm>
                <a:off x="3519488" y="1664663"/>
                <a:ext cx="0" cy="1752600"/>
              </a:xfrm>
              <a:prstGeom prst="line">
                <a:avLst/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BEE72644-2EF5-EB3F-0F57-7B6632885CC4}"/>
                  </a:ext>
                </a:extLst>
              </p:cNvPr>
              <p:cNvCxnSpPr/>
              <p:nvPr/>
            </p:nvCxnSpPr>
            <p:spPr>
              <a:xfrm>
                <a:off x="3857625" y="1664663"/>
                <a:ext cx="0" cy="1752600"/>
              </a:xfrm>
              <a:prstGeom prst="line">
                <a:avLst/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FFB6B380-7378-2E02-DCA2-BDBB5F9A9D9F}"/>
                  </a:ext>
                </a:extLst>
              </p:cNvPr>
              <p:cNvCxnSpPr/>
              <p:nvPr/>
            </p:nvCxnSpPr>
            <p:spPr>
              <a:xfrm>
                <a:off x="4211785" y="1664663"/>
                <a:ext cx="0" cy="1752600"/>
              </a:xfrm>
              <a:prstGeom prst="line">
                <a:avLst/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D68629D2-AD89-3EBB-7CFE-3F04B8952BF6}"/>
                  </a:ext>
                </a:extLst>
              </p:cNvPr>
              <p:cNvCxnSpPr/>
              <p:nvPr/>
            </p:nvCxnSpPr>
            <p:spPr>
              <a:xfrm>
                <a:off x="4555332" y="1664663"/>
                <a:ext cx="0" cy="1752600"/>
              </a:xfrm>
              <a:prstGeom prst="line">
                <a:avLst/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E135040F-BC84-9BB4-25DC-64B2AA1427E5}"/>
                  </a:ext>
                </a:extLst>
              </p:cNvPr>
              <p:cNvCxnSpPr/>
              <p:nvPr/>
            </p:nvCxnSpPr>
            <p:spPr>
              <a:xfrm>
                <a:off x="4888706" y="1662282"/>
                <a:ext cx="0" cy="1752600"/>
              </a:xfrm>
              <a:prstGeom prst="line">
                <a:avLst/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B44CBF61-9391-F3D2-EF78-6B3BCE319A32}"/>
                  </a:ext>
                </a:extLst>
              </p:cNvPr>
              <p:cNvGrpSpPr/>
              <p:nvPr/>
            </p:nvGrpSpPr>
            <p:grpSpPr>
              <a:xfrm>
                <a:off x="3109656" y="2028992"/>
                <a:ext cx="2191857" cy="1028704"/>
                <a:chOff x="3109656" y="2028992"/>
                <a:chExt cx="2191857" cy="1028704"/>
              </a:xfrm>
            </p:grpSpPr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EC2013EB-0C45-9F38-F209-42606C14C7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22056" y="2028992"/>
                  <a:ext cx="2179457" cy="0"/>
                </a:xfrm>
                <a:prstGeom prst="line">
                  <a:avLst/>
                </a:prstGeom>
                <a:ln w="28575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255D0342-A7FC-BC77-13CC-43F0500EC9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22056" y="2371893"/>
                  <a:ext cx="2179457" cy="0"/>
                </a:xfrm>
                <a:prstGeom prst="line">
                  <a:avLst/>
                </a:prstGeom>
                <a:ln w="28575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19EBF59B-B7B2-4742-B186-6E9400D62A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09656" y="2714796"/>
                  <a:ext cx="2179457" cy="0"/>
                </a:xfrm>
                <a:prstGeom prst="line">
                  <a:avLst/>
                </a:prstGeom>
                <a:ln w="28575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3D2EAE30-57BA-D643-30CE-2DDBD212F9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10148" y="3057696"/>
                  <a:ext cx="2179457" cy="0"/>
                </a:xfrm>
                <a:prstGeom prst="line">
                  <a:avLst/>
                </a:prstGeom>
                <a:ln w="28575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B124BCD-AE7B-8BE6-9968-90DECE440E7E}"/>
                </a:ext>
              </a:extLst>
            </p:cNvPr>
            <p:cNvSpPr/>
            <p:nvPr/>
          </p:nvSpPr>
          <p:spPr>
            <a:xfrm>
              <a:off x="4224373" y="2168387"/>
              <a:ext cx="275382" cy="275382"/>
            </a:xfrm>
            <a:prstGeom prst="ellipse">
              <a:avLst/>
            </a:prstGeom>
            <a:solidFill>
              <a:schemeClr val="accent4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CDE4353-1F60-DBB6-B748-9A7B0F7FDB41}"/>
                </a:ext>
              </a:extLst>
            </p:cNvPr>
            <p:cNvSpPr/>
            <p:nvPr/>
          </p:nvSpPr>
          <p:spPr>
            <a:xfrm>
              <a:off x="4530006" y="2165707"/>
              <a:ext cx="275382" cy="27538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DC83282-AE3E-1CF1-6FE6-DDB95B01C2BE}"/>
                </a:ext>
              </a:extLst>
            </p:cNvPr>
            <p:cNvSpPr/>
            <p:nvPr/>
          </p:nvSpPr>
          <p:spPr>
            <a:xfrm>
              <a:off x="3606273" y="2164884"/>
              <a:ext cx="275382" cy="275382"/>
            </a:xfrm>
            <a:prstGeom prst="ellipse">
              <a:avLst/>
            </a:prstGeom>
            <a:solidFill>
              <a:srgbClr val="92D05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3497F1D-5D90-7398-99DF-A17E8C9E9EDE}"/>
                </a:ext>
              </a:extLst>
            </p:cNvPr>
            <p:cNvSpPr/>
            <p:nvPr/>
          </p:nvSpPr>
          <p:spPr>
            <a:xfrm>
              <a:off x="3300160" y="2164884"/>
              <a:ext cx="275382" cy="27538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C390F1B-91D9-07FE-1ACC-BBCF02D5F485}"/>
                </a:ext>
              </a:extLst>
            </p:cNvPr>
            <p:cNvSpPr/>
            <p:nvPr/>
          </p:nvSpPr>
          <p:spPr>
            <a:xfrm>
              <a:off x="4833560" y="2164884"/>
              <a:ext cx="275382" cy="275382"/>
            </a:xfrm>
            <a:prstGeom prst="ellipse">
              <a:avLst/>
            </a:prstGeom>
            <a:solidFill>
              <a:srgbClr val="D8C2EE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30F7F4B-C6A5-1012-DFE0-AAA6BD9BB16B}"/>
                </a:ext>
              </a:extLst>
            </p:cNvPr>
            <p:cNvSpPr/>
            <p:nvPr/>
          </p:nvSpPr>
          <p:spPr>
            <a:xfrm>
              <a:off x="3297684" y="2470940"/>
              <a:ext cx="275382" cy="275382"/>
            </a:xfrm>
            <a:prstGeom prst="ellipse">
              <a:avLst/>
            </a:prstGeom>
            <a:solidFill>
              <a:srgbClr val="F8877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090E4C0-15E1-9B41-939F-3675DA226CB0}"/>
                </a:ext>
              </a:extLst>
            </p:cNvPr>
            <p:cNvSpPr/>
            <p:nvPr/>
          </p:nvSpPr>
          <p:spPr>
            <a:xfrm>
              <a:off x="3608192" y="2475227"/>
              <a:ext cx="275382" cy="275382"/>
            </a:xfrm>
            <a:prstGeom prst="ellipse">
              <a:avLst/>
            </a:prstGeom>
            <a:solidFill>
              <a:srgbClr val="EFF3BD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B577067-D554-125F-0432-F535898481CA}"/>
                </a:ext>
              </a:extLst>
            </p:cNvPr>
            <p:cNvSpPr/>
            <p:nvPr/>
          </p:nvSpPr>
          <p:spPr>
            <a:xfrm>
              <a:off x="3921184" y="2476161"/>
              <a:ext cx="275382" cy="275382"/>
            </a:xfrm>
            <a:prstGeom prst="ellipse">
              <a:avLst/>
            </a:prstGeom>
            <a:solidFill>
              <a:srgbClr val="80C4E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405EE8C-A923-E7D0-9F4A-1D01F86525B5}"/>
                </a:ext>
              </a:extLst>
            </p:cNvPr>
            <p:cNvSpPr/>
            <p:nvPr/>
          </p:nvSpPr>
          <p:spPr>
            <a:xfrm>
              <a:off x="4229536" y="2476833"/>
              <a:ext cx="275382" cy="275382"/>
            </a:xfrm>
            <a:prstGeom prst="ellipse">
              <a:avLst/>
            </a:prstGeom>
            <a:solidFill>
              <a:srgbClr val="EED0C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99F0F64-E672-AA5B-1F11-E96DF4708AD5}"/>
                </a:ext>
              </a:extLst>
            </p:cNvPr>
            <p:cNvSpPr/>
            <p:nvPr/>
          </p:nvSpPr>
          <p:spPr>
            <a:xfrm>
              <a:off x="4535461" y="2474295"/>
              <a:ext cx="275382" cy="275382"/>
            </a:xfrm>
            <a:prstGeom prst="ellipse">
              <a:avLst/>
            </a:prstGeom>
            <a:solidFill>
              <a:srgbClr val="E09788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91EE432-50F1-B3D9-8903-79AC57ED21AE}"/>
                </a:ext>
              </a:extLst>
            </p:cNvPr>
            <p:cNvSpPr/>
            <p:nvPr/>
          </p:nvSpPr>
          <p:spPr>
            <a:xfrm>
              <a:off x="4838961" y="2472954"/>
              <a:ext cx="275382" cy="275382"/>
            </a:xfrm>
            <a:prstGeom prst="ellipse">
              <a:avLst/>
            </a:prstGeom>
            <a:solidFill>
              <a:srgbClr val="5AC6B4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3E68849-98D5-F849-BEEC-86D4F20D7901}"/>
                </a:ext>
              </a:extLst>
            </p:cNvPr>
            <p:cNvSpPr/>
            <p:nvPr/>
          </p:nvSpPr>
          <p:spPr>
            <a:xfrm>
              <a:off x="3297417" y="2783427"/>
              <a:ext cx="275382" cy="275382"/>
            </a:xfrm>
            <a:prstGeom prst="ellipse">
              <a:avLst/>
            </a:prstGeom>
            <a:solidFill>
              <a:srgbClr val="B7E1E9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5A2543A-7A81-3D83-B6FA-B657D0B3A1A2}"/>
                </a:ext>
              </a:extLst>
            </p:cNvPr>
            <p:cNvSpPr/>
            <p:nvPr/>
          </p:nvSpPr>
          <p:spPr>
            <a:xfrm>
              <a:off x="3611340" y="2783427"/>
              <a:ext cx="275382" cy="275382"/>
            </a:xfrm>
            <a:prstGeom prst="ellipse">
              <a:avLst/>
            </a:prstGeom>
            <a:solidFill>
              <a:srgbClr val="C790D8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7B4CC4B-3AA9-AC88-6C16-0115B005197F}"/>
                </a:ext>
              </a:extLst>
            </p:cNvPr>
            <p:cNvSpPr/>
            <p:nvPr/>
          </p:nvSpPr>
          <p:spPr>
            <a:xfrm>
              <a:off x="3918987" y="2787045"/>
              <a:ext cx="275382" cy="275382"/>
            </a:xfrm>
            <a:prstGeom prst="ellipse">
              <a:avLst/>
            </a:prstGeom>
            <a:solidFill>
              <a:srgbClr val="5FD05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60365CD-D8EA-DFEC-7633-FB45C8743057}"/>
                </a:ext>
              </a:extLst>
            </p:cNvPr>
            <p:cNvSpPr/>
            <p:nvPr/>
          </p:nvSpPr>
          <p:spPr>
            <a:xfrm>
              <a:off x="4231604" y="2782366"/>
              <a:ext cx="275382" cy="27538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D9021DD-27D0-FA1F-78B2-9D227AA429BF}"/>
                </a:ext>
              </a:extLst>
            </p:cNvPr>
            <p:cNvSpPr/>
            <p:nvPr/>
          </p:nvSpPr>
          <p:spPr>
            <a:xfrm>
              <a:off x="4534113" y="2782366"/>
              <a:ext cx="275382" cy="27538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C79B9EF-E429-E02B-7C48-F0208E4FDB89}"/>
                </a:ext>
              </a:extLst>
            </p:cNvPr>
            <p:cNvSpPr/>
            <p:nvPr/>
          </p:nvSpPr>
          <p:spPr>
            <a:xfrm>
              <a:off x="4842795" y="2782366"/>
              <a:ext cx="275382" cy="275382"/>
            </a:xfrm>
            <a:prstGeom prst="ellipse">
              <a:avLst/>
            </a:prstGeom>
            <a:solidFill>
              <a:srgbClr val="B7E1E9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53C341C-B928-9E35-0816-37CFC064D192}"/>
                </a:ext>
              </a:extLst>
            </p:cNvPr>
            <p:cNvSpPr/>
            <p:nvPr/>
          </p:nvSpPr>
          <p:spPr>
            <a:xfrm>
              <a:off x="3295961" y="3093490"/>
              <a:ext cx="275382" cy="275382"/>
            </a:xfrm>
            <a:prstGeom prst="ellipse">
              <a:avLst/>
            </a:prstGeom>
            <a:solidFill>
              <a:srgbClr val="2FC9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90BBD63-9A76-3B98-039D-61422491323C}"/>
                </a:ext>
              </a:extLst>
            </p:cNvPr>
            <p:cNvSpPr/>
            <p:nvPr/>
          </p:nvSpPr>
          <p:spPr>
            <a:xfrm>
              <a:off x="3600263" y="3093490"/>
              <a:ext cx="275382" cy="275382"/>
            </a:xfrm>
            <a:prstGeom prst="ellipse">
              <a:avLst/>
            </a:prstGeom>
            <a:solidFill>
              <a:srgbClr val="54D64A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8B78238-0ACA-8BC3-626D-BF429219A07B}"/>
                </a:ext>
              </a:extLst>
            </p:cNvPr>
            <p:cNvSpPr/>
            <p:nvPr/>
          </p:nvSpPr>
          <p:spPr>
            <a:xfrm>
              <a:off x="3916314" y="3091737"/>
              <a:ext cx="275382" cy="275382"/>
            </a:xfrm>
            <a:prstGeom prst="ellipse">
              <a:avLst/>
            </a:prstGeom>
            <a:solidFill>
              <a:srgbClr val="8690D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BC1512D9-6D24-60AB-359B-9C77663BE672}"/>
                </a:ext>
              </a:extLst>
            </p:cNvPr>
            <p:cNvSpPr/>
            <p:nvPr/>
          </p:nvSpPr>
          <p:spPr>
            <a:xfrm>
              <a:off x="4230313" y="3091737"/>
              <a:ext cx="275382" cy="275382"/>
            </a:xfrm>
            <a:prstGeom prst="ellipse">
              <a:avLst/>
            </a:prstGeom>
            <a:solidFill>
              <a:srgbClr val="C0D8E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2CFAC02-EEA1-20FE-3FBD-27CC4425F886}"/>
                </a:ext>
              </a:extLst>
            </p:cNvPr>
            <p:cNvSpPr/>
            <p:nvPr/>
          </p:nvSpPr>
          <p:spPr>
            <a:xfrm>
              <a:off x="4534113" y="3091737"/>
              <a:ext cx="275382" cy="275382"/>
            </a:xfrm>
            <a:prstGeom prst="ellipse">
              <a:avLst/>
            </a:prstGeom>
            <a:solidFill>
              <a:srgbClr val="A1AE7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7DCB6E0-B3FE-22B4-ECC4-C66D3DF4D6F2}"/>
                </a:ext>
              </a:extLst>
            </p:cNvPr>
            <p:cNvSpPr/>
            <p:nvPr/>
          </p:nvSpPr>
          <p:spPr>
            <a:xfrm>
              <a:off x="4838759" y="3092949"/>
              <a:ext cx="275382" cy="275382"/>
            </a:xfrm>
            <a:prstGeom prst="ellipse">
              <a:avLst/>
            </a:prstGeom>
            <a:solidFill>
              <a:schemeClr val="bg2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7EEAAB6-A56C-C59D-2C6C-90BE408D0144}"/>
                </a:ext>
              </a:extLst>
            </p:cNvPr>
            <p:cNvSpPr/>
            <p:nvPr/>
          </p:nvSpPr>
          <p:spPr>
            <a:xfrm>
              <a:off x="4838759" y="1852380"/>
              <a:ext cx="275382" cy="275382"/>
            </a:xfrm>
            <a:prstGeom prst="ellipse">
              <a:avLst/>
            </a:prstGeom>
            <a:solidFill>
              <a:schemeClr val="bg2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A5B0607-8601-DEA4-8BF6-687B9FB79443}"/>
                </a:ext>
              </a:extLst>
            </p:cNvPr>
            <p:cNvSpPr/>
            <p:nvPr/>
          </p:nvSpPr>
          <p:spPr>
            <a:xfrm>
              <a:off x="4538487" y="1852380"/>
              <a:ext cx="275382" cy="275382"/>
            </a:xfrm>
            <a:prstGeom prst="ellipse">
              <a:avLst/>
            </a:prstGeom>
            <a:solidFill>
              <a:schemeClr val="accent3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156FF2F5-2901-8F64-9E98-C4E34401F36B}"/>
                </a:ext>
              </a:extLst>
            </p:cNvPr>
            <p:cNvSpPr/>
            <p:nvPr/>
          </p:nvSpPr>
          <p:spPr>
            <a:xfrm>
              <a:off x="3920098" y="1851168"/>
              <a:ext cx="275382" cy="275382"/>
            </a:xfrm>
            <a:prstGeom prst="ellipse">
              <a:avLst/>
            </a:prstGeom>
            <a:solidFill>
              <a:schemeClr val="accent3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DE7C9C4-4588-86EF-26F0-DDABAEB6AE6F}"/>
                </a:ext>
              </a:extLst>
            </p:cNvPr>
            <p:cNvSpPr/>
            <p:nvPr/>
          </p:nvSpPr>
          <p:spPr>
            <a:xfrm>
              <a:off x="4228245" y="1851168"/>
              <a:ext cx="275382" cy="275382"/>
            </a:xfrm>
            <a:prstGeom prst="ellipse">
              <a:avLst/>
            </a:prstGeom>
            <a:solidFill>
              <a:schemeClr val="tx2">
                <a:lumMod val="40000"/>
                <a:lumOff val="6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860D6A4-D165-1A91-7AFF-F60F8ECBA52E}"/>
                </a:ext>
              </a:extLst>
            </p:cNvPr>
            <p:cNvSpPr/>
            <p:nvPr/>
          </p:nvSpPr>
          <p:spPr>
            <a:xfrm>
              <a:off x="3605859" y="1847666"/>
              <a:ext cx="275382" cy="275382"/>
            </a:xfrm>
            <a:prstGeom prst="ellipse">
              <a:avLst/>
            </a:prstGeom>
            <a:solidFill>
              <a:srgbClr val="ABE187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AE068DB-A9A5-6DAF-46C7-4A5C58A37C25}"/>
                </a:ext>
              </a:extLst>
            </p:cNvPr>
            <p:cNvSpPr/>
            <p:nvPr/>
          </p:nvSpPr>
          <p:spPr>
            <a:xfrm>
              <a:off x="3304032" y="1847666"/>
              <a:ext cx="275382" cy="275382"/>
            </a:xfrm>
            <a:prstGeom prst="ellipse">
              <a:avLst/>
            </a:prstGeom>
            <a:solidFill>
              <a:srgbClr val="DE68DE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4" name="Google Shape;1657;p81">
            <a:extLst>
              <a:ext uri="{FF2B5EF4-FFF2-40B4-BE49-F238E27FC236}">
                <a16:creationId xmlns:a16="http://schemas.microsoft.com/office/drawing/2014/main" id="{962D8DD9-3F51-BA38-C170-1B5764C5460F}"/>
              </a:ext>
            </a:extLst>
          </p:cNvPr>
          <p:cNvSpPr txBox="1">
            <a:spLocks/>
          </p:cNvSpPr>
          <p:nvPr/>
        </p:nvSpPr>
        <p:spPr>
          <a:xfrm>
            <a:off x="7518108" y="10051876"/>
            <a:ext cx="3238443" cy="581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990"/>
              </a:buClr>
              <a:buSzPts val="3500"/>
              <a:buFont typeface="Instrument Sans"/>
              <a:buNone/>
              <a:tabLst/>
              <a:defRPr/>
            </a:pPr>
            <a:r>
              <a:rPr kumimoji="0" lang="en-AU" sz="2800" b="0" i="0" u="none" strike="noStrike" kern="0" cap="none" spc="0" normalizeH="0" baseline="0" noProof="0" dirty="0">
                <a:ln>
                  <a:noFill/>
                </a:ln>
                <a:solidFill>
                  <a:srgbClr val="37499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Instrument Sans"/>
              </a:rPr>
              <a:t>H&amp;E-stained image</a:t>
            </a:r>
          </a:p>
        </p:txBody>
      </p:sp>
      <p:sp>
        <p:nvSpPr>
          <p:cNvPr id="76" name="Google Shape;1657;p81">
            <a:extLst>
              <a:ext uri="{FF2B5EF4-FFF2-40B4-BE49-F238E27FC236}">
                <a16:creationId xmlns:a16="http://schemas.microsoft.com/office/drawing/2014/main" id="{8B630C52-5518-A3E1-40EC-3553C7A47261}"/>
              </a:ext>
            </a:extLst>
          </p:cNvPr>
          <p:cNvSpPr txBox="1">
            <a:spLocks/>
          </p:cNvSpPr>
          <p:nvPr/>
        </p:nvSpPr>
        <p:spPr>
          <a:xfrm>
            <a:off x="11237132" y="10984843"/>
            <a:ext cx="3035764" cy="581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990"/>
              </a:buClr>
              <a:buSzPts val="3500"/>
              <a:buFont typeface="Instrument Sans"/>
              <a:buNone/>
              <a:tabLst/>
              <a:defRPr/>
            </a:pPr>
            <a:r>
              <a:rPr kumimoji="0" lang="en-AU" sz="2000" b="0" i="0" u="none" strike="noStrike" kern="0" cap="none" spc="0" normalizeH="0" baseline="0" noProof="0" dirty="0">
                <a:ln>
                  <a:noFill/>
                </a:ln>
                <a:solidFill>
                  <a:srgbClr val="37499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Instrument Sans"/>
              </a:rPr>
              <a:t>Prediction per patch</a:t>
            </a:r>
          </a:p>
        </p:txBody>
      </p:sp>
      <p:sp>
        <p:nvSpPr>
          <p:cNvPr id="77" name="Google Shape;1657;p81">
            <a:extLst>
              <a:ext uri="{FF2B5EF4-FFF2-40B4-BE49-F238E27FC236}">
                <a16:creationId xmlns:a16="http://schemas.microsoft.com/office/drawing/2014/main" id="{3D682AA1-19C6-8F2E-5F9F-C5121FE30B6D}"/>
              </a:ext>
            </a:extLst>
          </p:cNvPr>
          <p:cNvSpPr txBox="1">
            <a:spLocks/>
          </p:cNvSpPr>
          <p:nvPr/>
        </p:nvSpPr>
        <p:spPr>
          <a:xfrm>
            <a:off x="13917984" y="10930437"/>
            <a:ext cx="4044381" cy="581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990"/>
              </a:buClr>
              <a:buSzPts val="3500"/>
              <a:buFont typeface="Instrument Sans"/>
              <a:buNone/>
              <a:tabLst/>
              <a:defRPr/>
            </a:pPr>
            <a:r>
              <a:rPr kumimoji="0" lang="en-AU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37499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Instrument Sans"/>
              </a:rPr>
              <a:t>n_spots</a:t>
            </a:r>
            <a:r>
              <a:rPr kumimoji="0" lang="en-AU" sz="2000" b="0" i="1" u="none" strike="noStrike" kern="1200" cap="none" spc="0" normalizeH="0" baseline="0" noProof="0" dirty="0">
                <a:ln>
                  <a:noFill/>
                </a:ln>
                <a:solidFill>
                  <a:srgbClr val="37499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Instrument Sans"/>
              </a:rPr>
              <a:t> </a:t>
            </a:r>
            <a:r>
              <a:rPr kumimoji="0" lang="en-AU" sz="2000" b="0" i="0" u="none" strike="noStrike" kern="0" cap="none" spc="0" normalizeH="0" baseline="0" noProof="0" dirty="0">
                <a:ln>
                  <a:noFill/>
                </a:ln>
                <a:solidFill>
                  <a:srgbClr val="37499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Instrument Sans"/>
              </a:rPr>
              <a:t>×</a:t>
            </a:r>
            <a:r>
              <a:rPr kumimoji="0" lang="en-AU" sz="2000" b="0" i="1" u="none" strike="noStrike" kern="0" cap="none" spc="0" normalizeH="0" baseline="0" noProof="0" dirty="0">
                <a:ln>
                  <a:noFill/>
                </a:ln>
                <a:solidFill>
                  <a:srgbClr val="37499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Instrument Sans"/>
              </a:rPr>
              <a:t> </a:t>
            </a:r>
            <a:r>
              <a:rPr kumimoji="0" lang="en-AU" sz="2000" b="0" i="1" u="none" strike="noStrike" kern="0" cap="none" spc="0" normalizeH="0" baseline="0" noProof="0" dirty="0" err="1">
                <a:ln>
                  <a:noFill/>
                </a:ln>
                <a:solidFill>
                  <a:srgbClr val="37499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Instrument Sans"/>
              </a:rPr>
              <a:t>n_genes</a:t>
            </a:r>
            <a:endParaRPr kumimoji="0" lang="en-AU" sz="2000" b="0" i="1" u="none" strike="noStrike" kern="0" cap="none" spc="0" normalizeH="0" baseline="0" noProof="0" dirty="0">
              <a:ln>
                <a:noFill/>
              </a:ln>
              <a:solidFill>
                <a:srgbClr val="37499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Instrument Sans"/>
            </a:endParaRPr>
          </a:p>
        </p:txBody>
      </p:sp>
      <p:graphicFrame>
        <p:nvGraphicFramePr>
          <p:cNvPr id="78" name="Table 77">
            <a:extLst>
              <a:ext uri="{FF2B5EF4-FFF2-40B4-BE49-F238E27FC236}">
                <a16:creationId xmlns:a16="http://schemas.microsoft.com/office/drawing/2014/main" id="{0DD29A45-1F88-5C24-2071-486A9DBB94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776259"/>
              </p:ext>
            </p:extLst>
          </p:nvPr>
        </p:nvGraphicFramePr>
        <p:xfrm>
          <a:off x="14908514" y="8766857"/>
          <a:ext cx="2230354" cy="212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622">
                  <a:extLst>
                    <a:ext uri="{9D8B030D-6E8A-4147-A177-3AD203B41FA5}">
                      <a16:colId xmlns:a16="http://schemas.microsoft.com/office/drawing/2014/main" val="2400808678"/>
                    </a:ext>
                  </a:extLst>
                </a:gridCol>
                <a:gridCol w="318622">
                  <a:extLst>
                    <a:ext uri="{9D8B030D-6E8A-4147-A177-3AD203B41FA5}">
                      <a16:colId xmlns:a16="http://schemas.microsoft.com/office/drawing/2014/main" val="2398452876"/>
                    </a:ext>
                  </a:extLst>
                </a:gridCol>
                <a:gridCol w="318622">
                  <a:extLst>
                    <a:ext uri="{9D8B030D-6E8A-4147-A177-3AD203B41FA5}">
                      <a16:colId xmlns:a16="http://schemas.microsoft.com/office/drawing/2014/main" val="2996051020"/>
                    </a:ext>
                  </a:extLst>
                </a:gridCol>
                <a:gridCol w="318622">
                  <a:extLst>
                    <a:ext uri="{9D8B030D-6E8A-4147-A177-3AD203B41FA5}">
                      <a16:colId xmlns:a16="http://schemas.microsoft.com/office/drawing/2014/main" val="3442901501"/>
                    </a:ext>
                  </a:extLst>
                </a:gridCol>
                <a:gridCol w="318622">
                  <a:extLst>
                    <a:ext uri="{9D8B030D-6E8A-4147-A177-3AD203B41FA5}">
                      <a16:colId xmlns:a16="http://schemas.microsoft.com/office/drawing/2014/main" val="3998866819"/>
                    </a:ext>
                  </a:extLst>
                </a:gridCol>
                <a:gridCol w="318622">
                  <a:extLst>
                    <a:ext uri="{9D8B030D-6E8A-4147-A177-3AD203B41FA5}">
                      <a16:colId xmlns:a16="http://schemas.microsoft.com/office/drawing/2014/main" val="2690576332"/>
                    </a:ext>
                  </a:extLst>
                </a:gridCol>
                <a:gridCol w="318622">
                  <a:extLst>
                    <a:ext uri="{9D8B030D-6E8A-4147-A177-3AD203B41FA5}">
                      <a16:colId xmlns:a16="http://schemas.microsoft.com/office/drawing/2014/main" val="1047628942"/>
                    </a:ext>
                  </a:extLst>
                </a:gridCol>
              </a:tblGrid>
              <a:tr h="177155"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118446"/>
                  </a:ext>
                </a:extLst>
              </a:tr>
              <a:tr h="177155"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C3C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748814"/>
                  </a:ext>
                </a:extLst>
              </a:tr>
              <a:tr h="177155"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D64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890188"/>
                  </a:ext>
                </a:extLst>
              </a:tr>
              <a:tr h="177155"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9A7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791767"/>
                  </a:ext>
                </a:extLst>
              </a:tr>
              <a:tr h="177155"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E1E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690207"/>
                  </a:ext>
                </a:extLst>
              </a:tr>
              <a:tr h="177155"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90D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573755"/>
                  </a:ext>
                </a:extLst>
              </a:tr>
              <a:tr h="177155"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3B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261134"/>
                  </a:ext>
                </a:extLst>
              </a:tr>
              <a:tr h="177155"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8BEB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204201"/>
                  </a:ext>
                </a:extLst>
              </a:tr>
              <a:tr h="177155"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CE2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 dirty="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729195"/>
                  </a:ext>
                </a:extLst>
              </a:tr>
              <a:tr h="177155"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98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636301"/>
                  </a:ext>
                </a:extLst>
              </a:tr>
              <a:tr h="177155"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190069"/>
                  </a:ext>
                </a:extLst>
              </a:tr>
              <a:tr h="177155"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 dirty="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 dirty="0"/>
                    </a:p>
                  </a:txBody>
                  <a:tcPr marL="146611" marR="146611" marT="73305" marB="7330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401344"/>
                  </a:ext>
                </a:extLst>
              </a:tr>
            </a:tbl>
          </a:graphicData>
        </a:graphic>
      </p:graphicFrame>
      <p:sp>
        <p:nvSpPr>
          <p:cNvPr id="79" name="Google Shape;1657;p81">
            <a:extLst>
              <a:ext uri="{FF2B5EF4-FFF2-40B4-BE49-F238E27FC236}">
                <a16:creationId xmlns:a16="http://schemas.microsoft.com/office/drawing/2014/main" id="{F733931C-F3E9-57F3-4C7A-EE520518B451}"/>
              </a:ext>
            </a:extLst>
          </p:cNvPr>
          <p:cNvSpPr txBox="1">
            <a:spLocks/>
          </p:cNvSpPr>
          <p:nvPr/>
        </p:nvSpPr>
        <p:spPr>
          <a:xfrm>
            <a:off x="15224245" y="8247155"/>
            <a:ext cx="1598892" cy="592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990"/>
              </a:buClr>
              <a:buSzPts val="3500"/>
              <a:buFont typeface="Instrument Sans"/>
              <a:buNone/>
              <a:tabLst/>
              <a:defRPr/>
            </a:pPr>
            <a:r>
              <a:rPr kumimoji="0" lang="en-NZ" sz="1800" b="0" i="0" u="none" strike="noStrike" kern="0" cap="none" spc="0" normalizeH="0" baseline="0" noProof="0" dirty="0">
                <a:ln>
                  <a:noFill/>
                </a:ln>
                <a:solidFill>
                  <a:srgbClr val="37499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Instrument Sans"/>
              </a:rPr>
              <a:t>Genes</a:t>
            </a:r>
            <a:endParaRPr kumimoji="0" lang="en-AU" sz="2000" b="0" i="0" u="none" strike="noStrike" kern="0" cap="none" spc="0" normalizeH="0" baseline="0" noProof="0" dirty="0">
              <a:ln>
                <a:noFill/>
              </a:ln>
              <a:solidFill>
                <a:srgbClr val="37499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Instrument Sans"/>
            </a:endParaRPr>
          </a:p>
        </p:txBody>
      </p:sp>
      <p:sp>
        <p:nvSpPr>
          <p:cNvPr id="80" name="Google Shape;1657;p81">
            <a:extLst>
              <a:ext uri="{FF2B5EF4-FFF2-40B4-BE49-F238E27FC236}">
                <a16:creationId xmlns:a16="http://schemas.microsoft.com/office/drawing/2014/main" id="{616EA3B4-E12F-B161-7120-005CE063CB80}"/>
              </a:ext>
            </a:extLst>
          </p:cNvPr>
          <p:cNvSpPr txBox="1">
            <a:spLocks/>
          </p:cNvSpPr>
          <p:nvPr/>
        </p:nvSpPr>
        <p:spPr>
          <a:xfrm rot="16200000">
            <a:off x="13945547" y="9549360"/>
            <a:ext cx="1598891" cy="592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990"/>
              </a:buClr>
              <a:buSzPts val="3500"/>
              <a:buFont typeface="Instrument Sans"/>
              <a:buNone/>
              <a:tabLst/>
              <a:defRPr/>
            </a:pPr>
            <a:r>
              <a:rPr kumimoji="0" lang="en-NZ" sz="1800" b="0" i="0" u="none" strike="noStrike" kern="0" cap="none" spc="0" normalizeH="0" baseline="0" noProof="0">
                <a:ln>
                  <a:noFill/>
                </a:ln>
                <a:solidFill>
                  <a:srgbClr val="37499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Instrument Sans"/>
              </a:rPr>
              <a:t>Spots</a:t>
            </a:r>
            <a:endParaRPr kumimoji="0" lang="en-AU" sz="2000" b="0" i="0" u="none" strike="noStrike" kern="0" cap="none" spc="0" normalizeH="0" baseline="0" noProof="0">
              <a:ln>
                <a:noFill/>
              </a:ln>
              <a:solidFill>
                <a:srgbClr val="37499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Instrument Sans"/>
            </a:endParaRP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C98D2984-AD1C-4290-D2ED-DA4C6EFA089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rcRect l="-1" t="-1" r="4374" b="1774"/>
          <a:stretch/>
        </p:blipFill>
        <p:spPr>
          <a:xfrm>
            <a:off x="7578602" y="10655300"/>
            <a:ext cx="3163983" cy="2470848"/>
          </a:xfrm>
          <a:prstGeom prst="rect">
            <a:avLst/>
          </a:prstGeom>
          <a:noFill/>
        </p:spPr>
      </p:pic>
      <p:pic>
        <p:nvPicPr>
          <p:cNvPr id="82" name="Picture 81" descr="A colorful confetti on a black background&#10;&#10;Description automatically generated">
            <a:extLst>
              <a:ext uri="{FF2B5EF4-FFF2-40B4-BE49-F238E27FC236}">
                <a16:creationId xmlns:a16="http://schemas.microsoft.com/office/drawing/2014/main" id="{6D0B20A4-C246-5263-5EC1-E29F4D18712A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24"/>
          <a:stretch/>
        </p:blipFill>
        <p:spPr>
          <a:xfrm>
            <a:off x="11259008" y="12805642"/>
            <a:ext cx="3042716" cy="2497717"/>
          </a:xfrm>
          <a:prstGeom prst="rect">
            <a:avLst/>
          </a:prstGeom>
        </p:spPr>
      </p:pic>
      <p:sp>
        <p:nvSpPr>
          <p:cNvPr id="83" name="Google Shape;1657;p81">
            <a:extLst>
              <a:ext uri="{FF2B5EF4-FFF2-40B4-BE49-F238E27FC236}">
                <a16:creationId xmlns:a16="http://schemas.microsoft.com/office/drawing/2014/main" id="{52026FAE-3A67-5E00-3783-3E46F353A570}"/>
              </a:ext>
            </a:extLst>
          </p:cNvPr>
          <p:cNvSpPr txBox="1">
            <a:spLocks/>
          </p:cNvSpPr>
          <p:nvPr/>
        </p:nvSpPr>
        <p:spPr>
          <a:xfrm>
            <a:off x="11483810" y="15250680"/>
            <a:ext cx="2750383" cy="586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990"/>
              </a:buClr>
              <a:buSzPts val="3500"/>
              <a:buFont typeface="Instrument Sans"/>
              <a:buNone/>
              <a:tabLst/>
              <a:defRPr/>
            </a:pPr>
            <a:r>
              <a:rPr kumimoji="0" lang="en-AU" sz="2000" b="0" i="0" u="none" strike="noStrike" kern="0" cap="none" spc="0" normalizeH="0" baseline="0" noProof="0" dirty="0">
                <a:ln>
                  <a:noFill/>
                </a:ln>
                <a:solidFill>
                  <a:srgbClr val="37499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Instrument Sans"/>
              </a:rPr>
              <a:t>Prediction per cell</a:t>
            </a:r>
          </a:p>
        </p:txBody>
      </p:sp>
      <p:sp>
        <p:nvSpPr>
          <p:cNvPr id="84" name="Google Shape;1657;p81">
            <a:extLst>
              <a:ext uri="{FF2B5EF4-FFF2-40B4-BE49-F238E27FC236}">
                <a16:creationId xmlns:a16="http://schemas.microsoft.com/office/drawing/2014/main" id="{11734E8F-5E22-B896-117C-5F5D5B9CECF2}"/>
              </a:ext>
            </a:extLst>
          </p:cNvPr>
          <p:cNvSpPr txBox="1">
            <a:spLocks/>
          </p:cNvSpPr>
          <p:nvPr/>
        </p:nvSpPr>
        <p:spPr>
          <a:xfrm>
            <a:off x="14896851" y="15179142"/>
            <a:ext cx="2539173" cy="586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marR="0" lvl="0" indent="0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990"/>
              </a:buClr>
              <a:buSzPts val="3500"/>
              <a:buFont typeface="Instrument Sans"/>
              <a:buNone/>
              <a:tabLst/>
              <a:defRPr/>
            </a:pPr>
            <a:r>
              <a:rPr kumimoji="0" lang="en-AU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37499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Instrument Sans"/>
              </a:rPr>
              <a:t>n_cells</a:t>
            </a:r>
            <a:r>
              <a:rPr kumimoji="0" lang="en-AU" sz="2000" b="0" i="1" u="none" strike="noStrike" kern="1200" cap="none" spc="0" normalizeH="0" baseline="0" noProof="0" dirty="0">
                <a:ln>
                  <a:noFill/>
                </a:ln>
                <a:solidFill>
                  <a:srgbClr val="37499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Instrument Sans"/>
              </a:rPr>
              <a:t> </a:t>
            </a:r>
            <a:r>
              <a:rPr kumimoji="0" lang="en-AU" sz="2000" b="0" i="0" u="none" strike="noStrike" kern="0" cap="none" spc="0" normalizeH="0" baseline="0" noProof="0" dirty="0">
                <a:ln>
                  <a:noFill/>
                </a:ln>
                <a:solidFill>
                  <a:srgbClr val="37499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Instrument Sans"/>
              </a:rPr>
              <a:t>×</a:t>
            </a:r>
            <a:r>
              <a:rPr kumimoji="0" lang="en-AU" sz="2000" b="0" i="1" u="none" strike="noStrike" kern="0" cap="none" spc="0" normalizeH="0" baseline="0" noProof="0" dirty="0">
                <a:ln>
                  <a:noFill/>
                </a:ln>
                <a:solidFill>
                  <a:srgbClr val="37499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Instrument Sans"/>
              </a:rPr>
              <a:t> </a:t>
            </a:r>
            <a:r>
              <a:rPr kumimoji="0" lang="en-AU" sz="2000" b="0" i="1" u="none" strike="noStrike" kern="0" cap="none" spc="0" normalizeH="0" baseline="0" noProof="0" dirty="0" err="1">
                <a:ln>
                  <a:noFill/>
                </a:ln>
                <a:solidFill>
                  <a:srgbClr val="37499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Instrument Sans"/>
              </a:rPr>
              <a:t>n_genes</a:t>
            </a:r>
            <a:endParaRPr kumimoji="0" lang="en-AU" sz="2000" b="0" i="1" u="none" strike="noStrike" kern="0" cap="none" spc="0" normalizeH="0" baseline="0" noProof="0" dirty="0">
              <a:ln>
                <a:noFill/>
              </a:ln>
              <a:solidFill>
                <a:srgbClr val="37499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Instrument Sans"/>
            </a:endParaRPr>
          </a:p>
        </p:txBody>
      </p:sp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494B0093-8EE1-8809-B236-EE3DA315A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507728"/>
              </p:ext>
            </p:extLst>
          </p:nvPr>
        </p:nvGraphicFramePr>
        <p:xfrm>
          <a:off x="14949306" y="12927714"/>
          <a:ext cx="2248302" cy="2267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186">
                  <a:extLst>
                    <a:ext uri="{9D8B030D-6E8A-4147-A177-3AD203B41FA5}">
                      <a16:colId xmlns:a16="http://schemas.microsoft.com/office/drawing/2014/main" val="2400808678"/>
                    </a:ext>
                  </a:extLst>
                </a:gridCol>
                <a:gridCol w="321186">
                  <a:extLst>
                    <a:ext uri="{9D8B030D-6E8A-4147-A177-3AD203B41FA5}">
                      <a16:colId xmlns:a16="http://schemas.microsoft.com/office/drawing/2014/main" val="2398452876"/>
                    </a:ext>
                  </a:extLst>
                </a:gridCol>
                <a:gridCol w="321186">
                  <a:extLst>
                    <a:ext uri="{9D8B030D-6E8A-4147-A177-3AD203B41FA5}">
                      <a16:colId xmlns:a16="http://schemas.microsoft.com/office/drawing/2014/main" val="2996051020"/>
                    </a:ext>
                  </a:extLst>
                </a:gridCol>
                <a:gridCol w="321186">
                  <a:extLst>
                    <a:ext uri="{9D8B030D-6E8A-4147-A177-3AD203B41FA5}">
                      <a16:colId xmlns:a16="http://schemas.microsoft.com/office/drawing/2014/main" val="3442901501"/>
                    </a:ext>
                  </a:extLst>
                </a:gridCol>
                <a:gridCol w="321186">
                  <a:extLst>
                    <a:ext uri="{9D8B030D-6E8A-4147-A177-3AD203B41FA5}">
                      <a16:colId xmlns:a16="http://schemas.microsoft.com/office/drawing/2014/main" val="3998866819"/>
                    </a:ext>
                  </a:extLst>
                </a:gridCol>
                <a:gridCol w="321186">
                  <a:extLst>
                    <a:ext uri="{9D8B030D-6E8A-4147-A177-3AD203B41FA5}">
                      <a16:colId xmlns:a16="http://schemas.microsoft.com/office/drawing/2014/main" val="2690576332"/>
                    </a:ext>
                  </a:extLst>
                </a:gridCol>
                <a:gridCol w="321186">
                  <a:extLst>
                    <a:ext uri="{9D8B030D-6E8A-4147-A177-3AD203B41FA5}">
                      <a16:colId xmlns:a16="http://schemas.microsoft.com/office/drawing/2014/main" val="1047628942"/>
                    </a:ext>
                  </a:extLst>
                </a:gridCol>
              </a:tblGrid>
              <a:tr h="188974"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118446"/>
                  </a:ext>
                </a:extLst>
              </a:tr>
              <a:tr h="188974"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95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748814"/>
                  </a:ext>
                </a:extLst>
              </a:tr>
              <a:tr h="188974"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890188"/>
                  </a:ext>
                </a:extLst>
              </a:tr>
              <a:tr h="188974"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791767"/>
                  </a:ext>
                </a:extLst>
              </a:tr>
              <a:tr h="188974"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B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690207"/>
                  </a:ext>
                </a:extLst>
              </a:tr>
              <a:tr h="188974"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 dirty="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573755"/>
                  </a:ext>
                </a:extLst>
              </a:tr>
              <a:tr h="188974"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261134"/>
                  </a:ext>
                </a:extLst>
              </a:tr>
              <a:tr h="188974"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204201"/>
                  </a:ext>
                </a:extLst>
              </a:tr>
              <a:tr h="188974"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EA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 dirty="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729195"/>
                  </a:ext>
                </a:extLst>
              </a:tr>
              <a:tr h="188974"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1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636301"/>
                  </a:ext>
                </a:extLst>
              </a:tr>
              <a:tr h="188974"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20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190069"/>
                  </a:ext>
                </a:extLst>
              </a:tr>
              <a:tr h="188974"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BE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 dirty="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00" dirty="0"/>
                    </a:p>
                  </a:txBody>
                  <a:tcPr marL="147893" marR="147893" marT="73946" marB="739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401344"/>
                  </a:ext>
                </a:extLst>
              </a:tr>
            </a:tbl>
          </a:graphicData>
        </a:graphic>
      </p:graphicFrame>
      <p:sp>
        <p:nvSpPr>
          <p:cNvPr id="86" name="Google Shape;1657;p81">
            <a:extLst>
              <a:ext uri="{FF2B5EF4-FFF2-40B4-BE49-F238E27FC236}">
                <a16:creationId xmlns:a16="http://schemas.microsoft.com/office/drawing/2014/main" id="{03B95041-9935-1FBC-04A7-C9C3ED4C9F47}"/>
              </a:ext>
            </a:extLst>
          </p:cNvPr>
          <p:cNvSpPr txBox="1">
            <a:spLocks/>
          </p:cNvSpPr>
          <p:nvPr/>
        </p:nvSpPr>
        <p:spPr>
          <a:xfrm>
            <a:off x="15468820" y="12454043"/>
            <a:ext cx="1324426" cy="490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990"/>
              </a:buClr>
              <a:buSzPts val="3500"/>
              <a:buFont typeface="Instrument Sans"/>
              <a:buNone/>
              <a:tabLst/>
              <a:defRPr/>
            </a:pP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rgbClr val="37499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Instrument Sans"/>
              </a:rPr>
              <a:t>Genes</a:t>
            </a:r>
            <a:endParaRPr kumimoji="0" lang="en-AU" sz="2000" b="0" i="0" u="none" strike="noStrike" kern="0" cap="none" spc="0" normalizeH="0" baseline="0" noProof="0" dirty="0">
              <a:ln>
                <a:noFill/>
              </a:ln>
              <a:solidFill>
                <a:srgbClr val="37499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Instrument Sans"/>
            </a:endParaRPr>
          </a:p>
        </p:txBody>
      </p:sp>
      <p:sp>
        <p:nvSpPr>
          <p:cNvPr id="87" name="Google Shape;1657;p81">
            <a:extLst>
              <a:ext uri="{FF2B5EF4-FFF2-40B4-BE49-F238E27FC236}">
                <a16:creationId xmlns:a16="http://schemas.microsoft.com/office/drawing/2014/main" id="{71839610-79B9-6B97-0E2F-6B0674C81072}"/>
              </a:ext>
            </a:extLst>
          </p:cNvPr>
          <p:cNvSpPr txBox="1">
            <a:spLocks/>
          </p:cNvSpPr>
          <p:nvPr/>
        </p:nvSpPr>
        <p:spPr>
          <a:xfrm rot="16200000">
            <a:off x="13998215" y="13778119"/>
            <a:ext cx="1612869" cy="59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strument Sans"/>
              <a:buNone/>
              <a:defRPr sz="3500" b="1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990"/>
              </a:buClr>
              <a:buSzPts val="3500"/>
              <a:buFont typeface="Instrument Sans"/>
              <a:buNone/>
              <a:tabLst/>
              <a:defRPr/>
            </a:pP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rgbClr val="37499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Instrument Sans"/>
              </a:rPr>
              <a:t>Cells</a:t>
            </a:r>
            <a:endParaRPr kumimoji="0" lang="en-AU" sz="2000" b="0" i="0" u="none" strike="noStrike" kern="0" cap="none" spc="0" normalizeH="0" baseline="0" noProof="0" dirty="0">
              <a:ln>
                <a:noFill/>
              </a:ln>
              <a:solidFill>
                <a:srgbClr val="37499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Instrument Sans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1D3D665-6234-CE82-2A6D-904C729C8D3D}"/>
              </a:ext>
            </a:extLst>
          </p:cNvPr>
          <p:cNvSpPr txBox="1">
            <a:spLocks/>
          </p:cNvSpPr>
          <p:nvPr/>
        </p:nvSpPr>
        <p:spPr>
          <a:xfrm>
            <a:off x="11759371" y="7831640"/>
            <a:ext cx="45659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2800" b="1" i="0" u="none" strike="noStrike" kern="1200" cap="none" spc="0" normalizeH="0" baseline="0" noProof="0" dirty="0">
                <a:ln>
                  <a:noFill/>
                </a:ln>
                <a:solidFill>
                  <a:srgbClr val="57759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H&amp;E to </a:t>
            </a:r>
            <a:r>
              <a:rPr kumimoji="0" lang="en-NZ" sz="2800" b="1" i="0" u="sng" strike="noStrike" kern="1200" cap="none" spc="0" normalizeH="0" baseline="0" noProof="0" dirty="0">
                <a:ln>
                  <a:noFill/>
                </a:ln>
                <a:solidFill>
                  <a:srgbClr val="57759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spot-based</a:t>
            </a:r>
            <a:r>
              <a:rPr kumimoji="0" lang="en-NZ" sz="2800" b="1" i="0" u="none" strike="noStrike" kern="1200" cap="none" spc="0" normalizeH="0" baseline="0" noProof="0" dirty="0">
                <a:ln>
                  <a:noFill/>
                </a:ln>
                <a:solidFill>
                  <a:srgbClr val="57759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SRT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srgbClr val="57759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9564E3B-4950-6626-6616-5374A62417B4}"/>
              </a:ext>
            </a:extLst>
          </p:cNvPr>
          <p:cNvSpPr/>
          <p:nvPr/>
        </p:nvSpPr>
        <p:spPr>
          <a:xfrm>
            <a:off x="11045980" y="7751046"/>
            <a:ext cx="6390044" cy="3856107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B6888F1B-8AB5-72A7-17EE-0650F93547AF}"/>
              </a:ext>
            </a:extLst>
          </p:cNvPr>
          <p:cNvCxnSpPr>
            <a:cxnSpLocks/>
          </p:cNvCxnSpPr>
          <p:nvPr/>
        </p:nvCxnSpPr>
        <p:spPr>
          <a:xfrm>
            <a:off x="14314100" y="9833620"/>
            <a:ext cx="34173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22D2E297-C3B9-6FC0-FEBF-25012D62FDDC}"/>
              </a:ext>
            </a:extLst>
          </p:cNvPr>
          <p:cNvSpPr/>
          <p:nvPr/>
        </p:nvSpPr>
        <p:spPr>
          <a:xfrm>
            <a:off x="11045981" y="11916191"/>
            <a:ext cx="6390044" cy="385610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E57DD613-71D2-6D10-A149-84868A92195C}"/>
              </a:ext>
            </a:extLst>
          </p:cNvPr>
          <p:cNvCxnSpPr>
            <a:cxnSpLocks/>
          </p:cNvCxnSpPr>
          <p:nvPr/>
        </p:nvCxnSpPr>
        <p:spPr>
          <a:xfrm>
            <a:off x="14292269" y="14088356"/>
            <a:ext cx="34173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3C97644E-FF05-D8EB-F824-5D9D37DD2B7F}"/>
              </a:ext>
            </a:extLst>
          </p:cNvPr>
          <p:cNvSpPr txBox="1">
            <a:spLocks/>
          </p:cNvSpPr>
          <p:nvPr/>
        </p:nvSpPr>
        <p:spPr>
          <a:xfrm>
            <a:off x="196264" y="7496751"/>
            <a:ext cx="7550736" cy="8586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en-NZ" sz="2800" b="1" dirty="0">
                <a:solidFill>
                  <a:srgbClr val="E64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Motivations</a:t>
            </a:r>
          </a:p>
          <a:p>
            <a:pPr defTabSz="914400">
              <a:defRPr/>
            </a:pPr>
            <a:endParaRPr lang="en-NZ" sz="1000" b="1" dirty="0">
              <a:solidFill>
                <a:srgbClr val="E64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defTabSz="914400">
              <a:buFont typeface="Arial" panose="020B0604020202020204" pitchFamily="34" charset="0"/>
              <a:buChar char="•"/>
              <a:defRPr/>
            </a:pPr>
            <a:r>
              <a:rPr lang="en-NZ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SRT holds the potential to improve understanding and predictions of clinical outcomes for complex diseases like cancer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NZ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cost of SRT technologies may limit their broad adoption</a:t>
            </a:r>
          </a:p>
          <a:p>
            <a:pPr marL="457200" indent="-457200" defTabSz="914400">
              <a:buFont typeface="Arial" panose="020B0604020202020204" pitchFamily="34" charset="0"/>
              <a:buChar char="•"/>
              <a:defRPr/>
            </a:pPr>
            <a:r>
              <a:rPr lang="en-NZ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H&amp;E-stained images are commonly available and could be leveraged to predict SRT to overcome this barrier</a:t>
            </a:r>
          </a:p>
          <a:p>
            <a:pPr marL="457200" indent="-457200" defTabSz="914400">
              <a:buFont typeface="Arial" panose="020B0604020202020204" pitchFamily="34" charset="0"/>
              <a:buChar char="•"/>
              <a:defRPr/>
            </a:pPr>
            <a:r>
              <a:rPr lang="en-NZ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Previous methods focused on predicting lower resolution spot-based SRT</a:t>
            </a:r>
          </a:p>
          <a:p>
            <a:pPr marL="457200" indent="-457200" defTabSz="914400">
              <a:buFont typeface="Arial" panose="020B0604020202020204" pitchFamily="34" charset="0"/>
              <a:buChar char="•"/>
              <a:defRPr/>
            </a:pPr>
            <a:endParaRPr lang="en-NZ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NZ" sz="2800" b="1" dirty="0">
                <a:solidFill>
                  <a:srgbClr val="FB44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Spatially resolved single-cell Gene expression from </a:t>
            </a:r>
            <a:r>
              <a:rPr lang="en-NZ" sz="2800" b="1" dirty="0" err="1">
                <a:solidFill>
                  <a:srgbClr val="FB44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HISTology</a:t>
            </a:r>
            <a:r>
              <a:rPr lang="en-NZ" sz="2800" b="1" dirty="0">
                <a:solidFill>
                  <a:srgbClr val="FB44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(GHIST)</a:t>
            </a:r>
          </a:p>
          <a:p>
            <a:endParaRPr lang="en-NZ" sz="1000" b="1" dirty="0">
              <a:solidFill>
                <a:srgbClr val="FB44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GHIST maps H&amp;E images to the expression of hundreds of genes </a:t>
            </a:r>
            <a:r>
              <a:rPr lang="en-AU" sz="2800" b="1" dirty="0">
                <a:solidFill>
                  <a:srgbClr val="8F9F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within individual cells</a:t>
            </a:r>
            <a:r>
              <a:rPr lang="en-A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the image and provides spatial localisation of cells.</a:t>
            </a:r>
          </a:p>
          <a:p>
            <a:pPr defTabSz="914400">
              <a:defRPr/>
            </a:pPr>
            <a:endParaRPr lang="en-NZ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F0BEED3-DCAC-76FA-18A0-83EE78B7863A}"/>
              </a:ext>
            </a:extLst>
          </p:cNvPr>
          <p:cNvSpPr/>
          <p:nvPr/>
        </p:nvSpPr>
        <p:spPr>
          <a:xfrm>
            <a:off x="17710229" y="12563188"/>
            <a:ext cx="12411506" cy="1260000"/>
          </a:xfrm>
          <a:prstGeom prst="rect">
            <a:avLst/>
          </a:prstGeom>
          <a:solidFill>
            <a:srgbClr val="FA441B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4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Multi-level Evaluation 1 - Single-cell level</a:t>
            </a:r>
            <a:endParaRPr lang="en-AU" sz="4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6297056-D17C-6EF9-8D8D-3D24FD61C128}"/>
              </a:ext>
            </a:extLst>
          </p:cNvPr>
          <p:cNvSpPr txBox="1">
            <a:spLocks/>
          </p:cNvSpPr>
          <p:nvPr/>
        </p:nvSpPr>
        <p:spPr>
          <a:xfrm>
            <a:off x="127000" y="17636377"/>
            <a:ext cx="487048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en-NZ" sz="2800" b="1" dirty="0">
                <a:solidFill>
                  <a:srgbClr val="E64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Model:</a:t>
            </a: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GHIST synergistically captures interdependencies between information on cell type,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neighbourhood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composition, nuclei morphology, and single-cell expressions to improve prediction performance </a:t>
            </a: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GHIST consists of a multitask architecture and multiple loss functions</a:t>
            </a:r>
          </a:p>
        </p:txBody>
      </p:sp>
      <p:pic>
        <p:nvPicPr>
          <p:cNvPr id="103" name="Picture 102" descr="A screenshot of a computer&#10;&#10;Description automatically generated">
            <a:extLst>
              <a:ext uri="{FF2B5EF4-FFF2-40B4-BE49-F238E27FC236}">
                <a16:creationId xmlns:a16="http://schemas.microsoft.com/office/drawing/2014/main" id="{5FC6B442-B322-3971-C4B3-53C6B83A82E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" r="33354" b="37075"/>
          <a:stretch>
            <a:fillRect/>
          </a:stretch>
        </p:blipFill>
        <p:spPr>
          <a:xfrm>
            <a:off x="0" y="17360900"/>
            <a:ext cx="12106362" cy="10668000"/>
          </a:xfrm>
          <a:prstGeom prst="rect">
            <a:avLst/>
          </a:prstGeom>
        </p:spPr>
      </p:pic>
      <p:sp>
        <p:nvSpPr>
          <p:cNvPr id="105" name="Rectangle 104">
            <a:extLst>
              <a:ext uri="{FF2B5EF4-FFF2-40B4-BE49-F238E27FC236}">
                <a16:creationId xmlns:a16="http://schemas.microsoft.com/office/drawing/2014/main" id="{AB775D5E-3194-2838-7865-348B2C10656B}"/>
              </a:ext>
            </a:extLst>
          </p:cNvPr>
          <p:cNvSpPr/>
          <p:nvPr/>
        </p:nvSpPr>
        <p:spPr>
          <a:xfrm>
            <a:off x="11293301" y="23609300"/>
            <a:ext cx="1059080" cy="34033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4" name="Picture 103" descr="A screenshot of a computer&#10;&#10;Description automatically generated">
            <a:extLst>
              <a:ext uri="{FF2B5EF4-FFF2-40B4-BE49-F238E27FC236}">
                <a16:creationId xmlns:a16="http://schemas.microsoft.com/office/drawing/2014/main" id="{613F4B84-78C8-8A19-60CE-C0D891F052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18" t="65156" r="33053"/>
          <a:stretch>
            <a:fillRect/>
          </a:stretch>
        </p:blipFill>
        <p:spPr>
          <a:xfrm>
            <a:off x="11191963" y="22390100"/>
            <a:ext cx="6689637" cy="5859432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0985E7A3-20D4-0F19-C549-7E64EC79B3BE}"/>
              </a:ext>
            </a:extLst>
          </p:cNvPr>
          <p:cNvSpPr txBox="1">
            <a:spLocks/>
          </p:cNvSpPr>
          <p:nvPr/>
        </p:nvSpPr>
        <p:spPr>
          <a:xfrm>
            <a:off x="17718356" y="13667581"/>
            <a:ext cx="1258384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NZ" sz="1000" b="1" i="0" u="none" strike="noStrike" kern="1200" cap="none" spc="0" normalizeH="0" baseline="0" noProof="0" dirty="0">
              <a:ln>
                <a:noFill/>
              </a:ln>
              <a:solidFill>
                <a:srgbClr val="71A399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defRPr/>
            </a:pPr>
            <a:r>
              <a:rPr lang="en-NZ" sz="2800" b="1" dirty="0">
                <a:solidFill>
                  <a:srgbClr val="5775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GHIST effectively captures gene expression at single-cell resolution</a:t>
            </a:r>
            <a:endParaRPr kumimoji="0" lang="en-NZ" sz="2800" b="1" i="0" u="none" strike="noStrike" kern="1200" cap="none" spc="0" normalizeH="0" baseline="0" noProof="0" dirty="0">
              <a:ln>
                <a:noFill/>
              </a:ln>
              <a:solidFill>
                <a:srgbClr val="57759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defRPr/>
            </a:pPr>
            <a:r>
              <a:rPr kumimoji="0" lang="en-NZ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Data: using 4 different cancer data from Xenium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Ground truth cell-types define by segmenting cells from SST data follow by cell-type annotation tool (</a:t>
            </a:r>
            <a:r>
              <a:rPr lang="en-AU" sz="2800" dirty="0" err="1">
                <a:latin typeface="Arial" panose="020B0604020202020204" pitchFamily="34" charset="0"/>
                <a:cs typeface="Arial" panose="020B0604020202020204" pitchFamily="34" charset="0"/>
              </a:rPr>
              <a:t>scClassify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Evaluation metrics:</a:t>
            </a:r>
            <a:b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a. Compared cell type distribution between predicted and ground truth cell types.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b. Correlation of predicted and ground truth gene expression among SGG. </a:t>
            </a:r>
          </a:p>
        </p:txBody>
      </p:sp>
      <p:pic>
        <p:nvPicPr>
          <p:cNvPr id="109" name="Picture 6">
            <a:extLst>
              <a:ext uri="{FF2B5EF4-FFF2-40B4-BE49-F238E27FC236}">
                <a16:creationId xmlns:a16="http://schemas.microsoft.com/office/drawing/2014/main" id="{FC55C4FB-1189-688A-4127-6429574206BA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29" t="26565" r="1634" b="48266"/>
          <a:stretch/>
        </p:blipFill>
        <p:spPr bwMode="auto">
          <a:xfrm>
            <a:off x="17784026" y="17521285"/>
            <a:ext cx="8817913" cy="3649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reeform 11"/>
          <p:cNvSpPr/>
          <p:nvPr/>
        </p:nvSpPr>
        <p:spPr>
          <a:xfrm>
            <a:off x="26553580" y="18119193"/>
            <a:ext cx="2731420" cy="2775598"/>
          </a:xfrm>
          <a:custGeom>
            <a:avLst/>
            <a:gdLst/>
            <a:ahLst/>
            <a:cxnLst/>
            <a:rect l="l" t="t" r="r" b="b"/>
            <a:pathLst>
              <a:path w="3547314" h="3977538">
                <a:moveTo>
                  <a:pt x="0" y="0"/>
                </a:moveTo>
                <a:lnTo>
                  <a:pt x="3547314" y="0"/>
                </a:lnTo>
                <a:lnTo>
                  <a:pt x="3547314" y="3977538"/>
                </a:lnTo>
                <a:lnTo>
                  <a:pt x="0" y="397753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3536"/>
            </a:stretch>
          </a:blipFill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2D717B3D-FF64-4BC0-CD99-0BB9CCEFFF8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29234"/>
          <a:stretch>
            <a:fillRect/>
          </a:stretch>
        </p:blipFill>
        <p:spPr>
          <a:xfrm>
            <a:off x="17904055" y="21270790"/>
            <a:ext cx="3481263" cy="3178120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C178A977-E014-2992-5767-CF548613E6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572269" y="21150923"/>
            <a:ext cx="3426216" cy="3343228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C5D56D62-691F-BEA3-08F3-F0BEAA01CBAC}"/>
              </a:ext>
            </a:extLst>
          </p:cNvPr>
          <p:cNvSpPr txBox="1"/>
          <p:nvPr/>
        </p:nvSpPr>
        <p:spPr>
          <a:xfrm>
            <a:off x="17995927" y="28563812"/>
            <a:ext cx="60946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3B94FAF-7254-3667-90ED-98DD70A6BEBA}"/>
              </a:ext>
            </a:extLst>
          </p:cNvPr>
          <p:cNvSpPr txBox="1"/>
          <p:nvPr/>
        </p:nvSpPr>
        <p:spPr>
          <a:xfrm>
            <a:off x="12892272" y="28611742"/>
            <a:ext cx="87606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04622C3-F023-999C-636A-4782DF22B53A}"/>
              </a:ext>
            </a:extLst>
          </p:cNvPr>
          <p:cNvSpPr txBox="1"/>
          <p:nvPr/>
        </p:nvSpPr>
        <p:spPr>
          <a:xfrm>
            <a:off x="18433073" y="21384680"/>
            <a:ext cx="33981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1A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Lung </a:t>
            </a:r>
          </a:p>
          <a:p>
            <a:r>
              <a:rPr lang="en-US" sz="2400" dirty="0">
                <a:solidFill>
                  <a:srgbClr val="71A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Adenocarcinoma </a:t>
            </a:r>
          </a:p>
        </p:txBody>
      </p:sp>
      <p:cxnSp>
        <p:nvCxnSpPr>
          <p:cNvPr id="122" name="Elbow Connector 121">
            <a:extLst>
              <a:ext uri="{FF2B5EF4-FFF2-40B4-BE49-F238E27FC236}">
                <a16:creationId xmlns:a16="http://schemas.microsoft.com/office/drawing/2014/main" id="{7A039039-1A3D-7DCC-1542-9F842F87B19A}"/>
              </a:ext>
            </a:extLst>
          </p:cNvPr>
          <p:cNvCxnSpPr>
            <a:cxnSpLocks/>
          </p:cNvCxnSpPr>
          <p:nvPr/>
        </p:nvCxnSpPr>
        <p:spPr>
          <a:xfrm flipV="1">
            <a:off x="9119699" y="9040564"/>
            <a:ext cx="1833152" cy="965791"/>
          </a:xfrm>
          <a:prstGeom prst="bentConnector3">
            <a:avLst>
              <a:gd name="adj1" fmla="val 11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4CBC5AF4-CC29-3A8E-24D7-761058C3E592}"/>
              </a:ext>
            </a:extLst>
          </p:cNvPr>
          <p:cNvCxnSpPr>
            <a:stCxn id="81" idx="2"/>
          </p:cNvCxnSpPr>
          <p:nvPr/>
        </p:nvCxnSpPr>
        <p:spPr>
          <a:xfrm rot="16200000" flipH="1">
            <a:off x="9398576" y="12888166"/>
            <a:ext cx="1316293" cy="1792256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CE33AFCF-DA9D-9692-3AAC-18A9D5F95E1A}"/>
              </a:ext>
            </a:extLst>
          </p:cNvPr>
          <p:cNvSpPr txBox="1">
            <a:spLocks/>
          </p:cNvSpPr>
          <p:nvPr/>
        </p:nvSpPr>
        <p:spPr>
          <a:xfrm>
            <a:off x="17647238" y="6890008"/>
            <a:ext cx="870020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NZ" sz="2800" b="1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NZ" sz="2800" b="1" dirty="0">
                <a:solidFill>
                  <a:srgbClr val="E64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of H&amp;E to single-cell prediction:</a:t>
            </a: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en-A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number of unique gene expression profiles within one image</a:t>
            </a: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kumimoji="0" lang="en-NZ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Discerning finer-grained variations in H&amp;E images that correspond to subtle variations in gene expression</a:t>
            </a: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en-NZ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Cell types with similar morphologies/visual appearance have distinct gene expression profiles (e.g., B and T cells)</a:t>
            </a: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kumimoji="0" lang="en-NZ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Influence on gene expression from neighbouring cells</a:t>
            </a: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endParaRPr lang="en-NZ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B864149-C661-B66C-F03E-B7EB99BFF623}"/>
              </a:ext>
            </a:extLst>
          </p:cNvPr>
          <p:cNvSpPr/>
          <p:nvPr/>
        </p:nvSpPr>
        <p:spPr>
          <a:xfrm>
            <a:off x="17701659" y="5890100"/>
            <a:ext cx="12420076" cy="1260000"/>
          </a:xfrm>
          <a:prstGeom prst="rect">
            <a:avLst/>
          </a:prstGeom>
          <a:solidFill>
            <a:srgbClr val="FA441B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4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  <a:endParaRPr lang="en-AU" sz="4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57A26FD-87C7-9ED9-F4B6-753DB3BCE25C}"/>
              </a:ext>
            </a:extLst>
          </p:cNvPr>
          <p:cNvSpPr/>
          <p:nvPr/>
        </p:nvSpPr>
        <p:spPr>
          <a:xfrm>
            <a:off x="221089" y="16035461"/>
            <a:ext cx="17214935" cy="1260000"/>
          </a:xfrm>
          <a:prstGeom prst="rect">
            <a:avLst/>
          </a:prstGeom>
          <a:solidFill>
            <a:srgbClr val="FA441B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4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GHIST using single cell SRT for training</a:t>
            </a:r>
            <a:endParaRPr lang="en-AU" sz="4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2035CFD-954B-9F38-BF8B-C2E1A8514E25}"/>
              </a:ext>
            </a:extLst>
          </p:cNvPr>
          <p:cNvSpPr txBox="1">
            <a:spLocks/>
          </p:cNvSpPr>
          <p:nvPr/>
        </p:nvSpPr>
        <p:spPr>
          <a:xfrm>
            <a:off x="12102925" y="17581007"/>
            <a:ext cx="5343626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en-NZ" sz="2800" b="1" dirty="0">
                <a:solidFill>
                  <a:srgbClr val="E64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Training:</a:t>
            </a: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GHIST learns from paired H&amp;E and subcellular SRT data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Xenium) that has been segmented to provide single-cell data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defRPr/>
            </a:pPr>
            <a:r>
              <a:rPr lang="en-NZ" sz="2800" b="1" dirty="0">
                <a:solidFill>
                  <a:srgbClr val="E64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Inference:</a:t>
            </a: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Once trained, GHIST predicts SRT from H&amp;E images alone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7A7C6931-F3CE-4895-B950-CD6A3912FF88}"/>
              </a:ext>
            </a:extLst>
          </p:cNvPr>
          <p:cNvSpPr txBox="1"/>
          <p:nvPr/>
        </p:nvSpPr>
        <p:spPr>
          <a:xfrm>
            <a:off x="23658102" y="17510504"/>
            <a:ext cx="270298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Breast cancer 2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47527C3-813E-3CE4-9B8F-F1D568D24AF7}"/>
              </a:ext>
            </a:extLst>
          </p:cNvPr>
          <p:cNvSpPr txBox="1"/>
          <p:nvPr/>
        </p:nvSpPr>
        <p:spPr>
          <a:xfrm>
            <a:off x="22550551" y="17854486"/>
            <a:ext cx="60946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01E1C4A-08A8-67B2-E16C-CA0DED52CC42}"/>
              </a:ext>
            </a:extLst>
          </p:cNvPr>
          <p:cNvSpPr txBox="1"/>
          <p:nvPr/>
        </p:nvSpPr>
        <p:spPr>
          <a:xfrm>
            <a:off x="26601939" y="17510504"/>
            <a:ext cx="268154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Pancreas                          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975CF96-0818-4E80-6348-B754FCE211AE}"/>
              </a:ext>
            </a:extLst>
          </p:cNvPr>
          <p:cNvSpPr/>
          <p:nvPr/>
        </p:nvSpPr>
        <p:spPr>
          <a:xfrm>
            <a:off x="12792815" y="28711661"/>
            <a:ext cx="17150308" cy="1260000"/>
          </a:xfrm>
          <a:prstGeom prst="rect">
            <a:avLst/>
          </a:prstGeom>
          <a:solidFill>
            <a:srgbClr val="FA441B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4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Multi-level Evaluation 3 – External data - TCGA </a:t>
            </a:r>
            <a:endParaRPr lang="en-AU" sz="4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3BAA83F-8E2C-6FD4-4172-BB9814D83EEB}"/>
              </a:ext>
            </a:extLst>
          </p:cNvPr>
          <p:cNvSpPr txBox="1">
            <a:spLocks/>
          </p:cNvSpPr>
          <p:nvPr/>
        </p:nvSpPr>
        <p:spPr>
          <a:xfrm>
            <a:off x="12733832" y="29938423"/>
            <a:ext cx="850992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NZ" sz="1000" b="1" i="0" u="none" strike="noStrike" kern="1200" cap="none" spc="0" normalizeH="0" baseline="0" noProof="0" dirty="0">
              <a:ln>
                <a:noFill/>
              </a:ln>
              <a:solidFill>
                <a:srgbClr val="8F9FC9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defRPr/>
            </a:pPr>
            <a:r>
              <a:rPr kumimoji="0" lang="en-NZ" sz="2800" b="1" i="0" u="none" strike="noStrike" kern="1200" cap="none" spc="0" normalizeH="0" baseline="0" noProof="0" dirty="0">
                <a:ln>
                  <a:noFill/>
                </a:ln>
                <a:solidFill>
                  <a:srgbClr val="8F9FC9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Application of GHIST to TCGA breast cancer H&amp;E images</a:t>
            </a:r>
          </a:p>
          <a:p>
            <a:pPr lvl="0">
              <a:defRPr/>
            </a:pPr>
            <a:endParaRPr kumimoji="0" lang="en-NZ" sz="1000" b="1" i="0" u="none" strike="noStrike" kern="1200" cap="none" spc="0" normalizeH="0" baseline="0" noProof="0" dirty="0">
              <a:ln>
                <a:noFill/>
              </a:ln>
              <a:solidFill>
                <a:srgbClr val="8F9FC9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Data: we examine 92 HER2+ samples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This demonstrate potential of GHIST to create an in silico modality for downstream analysis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Malignant cell type marker EPCAM and a stromal cell type marker SFRP4 are used to visualise the GHIST predicted location of the two cell types (middle)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Enables the predicted cell type proportions for the selected TCGA HER2+ patients (bottom)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AU" sz="2800" b="1" dirty="0">
              <a:solidFill>
                <a:srgbClr val="8F9FC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CC15C02-1CF4-B55F-62A3-A267F80410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625"/>
          <a:stretch>
            <a:fillRect/>
          </a:stretch>
        </p:blipFill>
        <p:spPr bwMode="auto">
          <a:xfrm>
            <a:off x="21705926" y="35725100"/>
            <a:ext cx="8215274" cy="4675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9" name="TextBox 138">
            <a:extLst>
              <a:ext uri="{FF2B5EF4-FFF2-40B4-BE49-F238E27FC236}">
                <a16:creationId xmlns:a16="http://schemas.microsoft.com/office/drawing/2014/main" id="{C0E16BA2-29A5-AA77-B291-F0605142908C}"/>
              </a:ext>
            </a:extLst>
          </p:cNvPr>
          <p:cNvSpPr txBox="1">
            <a:spLocks/>
          </p:cNvSpPr>
          <p:nvPr/>
        </p:nvSpPr>
        <p:spPr>
          <a:xfrm>
            <a:off x="21582072" y="29919285"/>
            <a:ext cx="850992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NZ" sz="1000" b="1" i="0" u="none" strike="noStrike" kern="1200" cap="none" spc="0" normalizeH="0" baseline="0" noProof="0" dirty="0">
              <a:ln>
                <a:noFill/>
              </a:ln>
              <a:solidFill>
                <a:srgbClr val="8F9FC9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defRPr/>
            </a:pPr>
            <a:r>
              <a:rPr kumimoji="0" lang="en-NZ" sz="2800" b="1" i="0" u="none" strike="noStrike" kern="1200" cap="none" spc="0" normalizeH="0" baseline="0" noProof="0" dirty="0">
                <a:ln>
                  <a:noFill/>
                </a:ln>
                <a:solidFill>
                  <a:srgbClr val="8F9FC9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Potential of GHIST to create an in silico modality for multi-view analysis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AU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Differential spatial gene expression affected by copy number alteration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Volcano plots display 3 selected hotspots (1, 8, 17q) that affect a number of spatial expression patterns of genes (top)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The number of differential patterning genes that were affected by each CNA (middle)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Averaged copy number alteration profiles of 2,177 genes tested in the 91 patients are displayed (bottom)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AU" sz="2800" b="1" dirty="0">
              <a:solidFill>
                <a:srgbClr val="8F9FC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BAD5734-C70E-037C-EDB0-7F39FF4F23F4}"/>
              </a:ext>
            </a:extLst>
          </p:cNvPr>
          <p:cNvSpPr/>
          <p:nvPr/>
        </p:nvSpPr>
        <p:spPr>
          <a:xfrm>
            <a:off x="215742" y="28711661"/>
            <a:ext cx="12411506" cy="1260000"/>
          </a:xfrm>
          <a:prstGeom prst="rect">
            <a:avLst/>
          </a:prstGeom>
          <a:solidFill>
            <a:srgbClr val="FA441B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4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Multi-level Evaluation 2 – Spot level</a:t>
            </a:r>
            <a:endParaRPr lang="en-AU" sz="4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C2B3B4B-7522-70C4-5A69-68C7B938888F}"/>
              </a:ext>
            </a:extLst>
          </p:cNvPr>
          <p:cNvSpPr/>
          <p:nvPr/>
        </p:nvSpPr>
        <p:spPr>
          <a:xfrm>
            <a:off x="26492200" y="17998288"/>
            <a:ext cx="2895600" cy="2241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27E60046-7260-ACB6-E2D2-8A8962216C12}"/>
              </a:ext>
            </a:extLst>
          </p:cNvPr>
          <p:cNvSpPr/>
          <p:nvPr/>
        </p:nvSpPr>
        <p:spPr>
          <a:xfrm flipV="1">
            <a:off x="22574255" y="17331264"/>
            <a:ext cx="1179056" cy="5232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ECD8C6D-3D2C-D0DB-50EA-40680FCFF03F}"/>
              </a:ext>
            </a:extLst>
          </p:cNvPr>
          <p:cNvSpPr/>
          <p:nvPr/>
        </p:nvSpPr>
        <p:spPr>
          <a:xfrm flipV="1">
            <a:off x="17679713" y="17422156"/>
            <a:ext cx="811487" cy="458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5" name="Picture 144">
            <a:extLst>
              <a:ext uri="{FF2B5EF4-FFF2-40B4-BE49-F238E27FC236}">
                <a16:creationId xmlns:a16="http://schemas.microsoft.com/office/drawing/2014/main" id="{A3F1D9EC-A535-8DC2-60EE-5170794C5439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b="11600"/>
          <a:stretch>
            <a:fillRect/>
          </a:stretch>
        </p:blipFill>
        <p:spPr>
          <a:xfrm>
            <a:off x="26797000" y="20455217"/>
            <a:ext cx="1981200" cy="595020"/>
          </a:xfrm>
          <a:prstGeom prst="rect">
            <a:avLst/>
          </a:prstGeom>
        </p:spPr>
      </p:pic>
      <p:sp>
        <p:nvSpPr>
          <p:cNvPr id="147" name="Triangle 146">
            <a:extLst>
              <a:ext uri="{FF2B5EF4-FFF2-40B4-BE49-F238E27FC236}">
                <a16:creationId xmlns:a16="http://schemas.microsoft.com/office/drawing/2014/main" id="{31B1AB68-4CAE-4BE6-859E-187305C7E9A1}"/>
              </a:ext>
            </a:extLst>
          </p:cNvPr>
          <p:cNvSpPr/>
          <p:nvPr/>
        </p:nvSpPr>
        <p:spPr>
          <a:xfrm rot="5400000">
            <a:off x="21903640" y="25042456"/>
            <a:ext cx="358245" cy="284474"/>
          </a:xfrm>
          <a:prstGeom prst="triangle">
            <a:avLst/>
          </a:prstGeom>
          <a:solidFill>
            <a:srgbClr val="E64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8" name="Triangle 147">
            <a:extLst>
              <a:ext uri="{FF2B5EF4-FFF2-40B4-BE49-F238E27FC236}">
                <a16:creationId xmlns:a16="http://schemas.microsoft.com/office/drawing/2014/main" id="{0D494172-B5AE-114D-4155-C1CCCB25C779}"/>
              </a:ext>
            </a:extLst>
          </p:cNvPr>
          <p:cNvSpPr/>
          <p:nvPr/>
        </p:nvSpPr>
        <p:spPr>
          <a:xfrm rot="16200000">
            <a:off x="24918614" y="21427905"/>
            <a:ext cx="358245" cy="284474"/>
          </a:xfrm>
          <a:prstGeom prst="triangle">
            <a:avLst/>
          </a:prstGeom>
          <a:solidFill>
            <a:srgbClr val="E64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0D55866F-0098-B5D9-BF96-9C045D60681F}"/>
              </a:ext>
            </a:extLst>
          </p:cNvPr>
          <p:cNvSpPr txBox="1"/>
          <p:nvPr/>
        </p:nvSpPr>
        <p:spPr>
          <a:xfrm>
            <a:off x="22030363" y="24201200"/>
            <a:ext cx="268154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Ground truth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75F9598D-5233-313A-6F30-C6AFC5A1E61D}"/>
              </a:ext>
            </a:extLst>
          </p:cNvPr>
          <p:cNvSpPr txBox="1"/>
          <p:nvPr/>
        </p:nvSpPr>
        <p:spPr>
          <a:xfrm rot="16200000">
            <a:off x="20381059" y="22685802"/>
            <a:ext cx="268154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Predicted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C578C90-DF0E-044D-C281-4E2A818A57BC}"/>
              </a:ext>
            </a:extLst>
          </p:cNvPr>
          <p:cNvSpPr txBox="1"/>
          <p:nvPr/>
        </p:nvSpPr>
        <p:spPr>
          <a:xfrm>
            <a:off x="17664635" y="17534523"/>
            <a:ext cx="268154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Predicted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C680BEB-E19C-CB34-2DE2-E232273D4007}"/>
              </a:ext>
            </a:extLst>
          </p:cNvPr>
          <p:cNvSpPr txBox="1"/>
          <p:nvPr/>
        </p:nvSpPr>
        <p:spPr>
          <a:xfrm rot="16200000">
            <a:off x="16646161" y="22559873"/>
            <a:ext cx="268154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Predicted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A969C38-AEA7-431A-834D-344B61FFDEDF}"/>
              </a:ext>
            </a:extLst>
          </p:cNvPr>
          <p:cNvSpPr txBox="1"/>
          <p:nvPr/>
        </p:nvSpPr>
        <p:spPr>
          <a:xfrm>
            <a:off x="18376917" y="24201098"/>
            <a:ext cx="268154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Ground truth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D821D46B-E2F4-A94A-DCE3-A775DF943F41}"/>
              </a:ext>
            </a:extLst>
          </p:cNvPr>
          <p:cNvSpPr/>
          <p:nvPr/>
        </p:nvSpPr>
        <p:spPr>
          <a:xfrm flipV="1">
            <a:off x="21466761" y="21128329"/>
            <a:ext cx="563602" cy="5232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CE9B2E2-FBF7-29D8-E8DA-70CF72199509}"/>
              </a:ext>
            </a:extLst>
          </p:cNvPr>
          <p:cNvSpPr txBox="1"/>
          <p:nvPr/>
        </p:nvSpPr>
        <p:spPr>
          <a:xfrm>
            <a:off x="21930498" y="21449289"/>
            <a:ext cx="2129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71A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Melanoma</a:t>
            </a:r>
          </a:p>
        </p:txBody>
      </p:sp>
      <p:sp>
        <p:nvSpPr>
          <p:cNvPr id="155" name="Triangle 154">
            <a:extLst>
              <a:ext uri="{FF2B5EF4-FFF2-40B4-BE49-F238E27FC236}">
                <a16:creationId xmlns:a16="http://schemas.microsoft.com/office/drawing/2014/main" id="{7E15D451-5874-5C11-748F-1DB4A6D38CDF}"/>
              </a:ext>
            </a:extLst>
          </p:cNvPr>
          <p:cNvSpPr/>
          <p:nvPr/>
        </p:nvSpPr>
        <p:spPr>
          <a:xfrm>
            <a:off x="25201340" y="20980423"/>
            <a:ext cx="358245" cy="284474"/>
          </a:xfrm>
          <a:prstGeom prst="triangle">
            <a:avLst/>
          </a:prstGeom>
          <a:solidFill>
            <a:srgbClr val="E64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6" name="Rounded Rectangle 155">
            <a:extLst>
              <a:ext uri="{FF2B5EF4-FFF2-40B4-BE49-F238E27FC236}">
                <a16:creationId xmlns:a16="http://schemas.microsoft.com/office/drawing/2014/main" id="{8F4C50FA-8D02-8F34-F708-A846E36BFAA0}"/>
              </a:ext>
            </a:extLst>
          </p:cNvPr>
          <p:cNvSpPr/>
          <p:nvPr/>
        </p:nvSpPr>
        <p:spPr>
          <a:xfrm>
            <a:off x="139043" y="40510077"/>
            <a:ext cx="12341205" cy="2171014"/>
          </a:xfrm>
          <a:prstGeom prst="roundRect">
            <a:avLst>
              <a:gd name="adj" fmla="val 0"/>
            </a:avLst>
          </a:prstGeom>
          <a:solidFill>
            <a:srgbClr val="FCED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1186634-57FD-82B8-D172-B4ADB1A15AD7}"/>
              </a:ext>
            </a:extLst>
          </p:cNvPr>
          <p:cNvSpPr txBox="1"/>
          <p:nvPr/>
        </p:nvSpPr>
        <p:spPr>
          <a:xfrm>
            <a:off x="285470" y="40510077"/>
            <a:ext cx="304168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Scan for more tools SCDNEY</a:t>
            </a:r>
          </a:p>
        </p:txBody>
      </p:sp>
      <p:pic>
        <p:nvPicPr>
          <p:cNvPr id="159" name="Picture 158">
            <a:extLst>
              <a:ext uri="{FF2B5EF4-FFF2-40B4-BE49-F238E27FC236}">
                <a16:creationId xmlns:a16="http://schemas.microsoft.com/office/drawing/2014/main" id="{6F8D1E51-6B43-F301-211F-642285EFC9A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79800" y="40678100"/>
            <a:ext cx="1787612" cy="1787612"/>
          </a:xfrm>
          <a:prstGeom prst="rect">
            <a:avLst/>
          </a:prstGeom>
        </p:spPr>
      </p:pic>
      <p:pic>
        <p:nvPicPr>
          <p:cNvPr id="160" name="Picture 8">
            <a:extLst>
              <a:ext uri="{FF2B5EF4-FFF2-40B4-BE49-F238E27FC236}">
                <a16:creationId xmlns:a16="http://schemas.microsoft.com/office/drawing/2014/main" id="{0C13DEAC-CC3E-AB79-AEAF-96061D70C3A8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7367" r="67022" b="28834"/>
          <a:stretch/>
        </p:blipFill>
        <p:spPr bwMode="auto">
          <a:xfrm>
            <a:off x="5744280" y="31394470"/>
            <a:ext cx="6832625" cy="4483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Picture 8">
            <a:extLst>
              <a:ext uri="{FF2B5EF4-FFF2-40B4-BE49-F238E27FC236}">
                <a16:creationId xmlns:a16="http://schemas.microsoft.com/office/drawing/2014/main" id="{10101910-FE96-029C-856E-A1DFADE6DE02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46" t="39202" b="27822"/>
          <a:stretch/>
        </p:blipFill>
        <p:spPr bwMode="auto">
          <a:xfrm>
            <a:off x="15892" y="36191711"/>
            <a:ext cx="6742700" cy="4257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5" name="TextBox 164">
            <a:extLst>
              <a:ext uri="{FF2B5EF4-FFF2-40B4-BE49-F238E27FC236}">
                <a16:creationId xmlns:a16="http://schemas.microsoft.com/office/drawing/2014/main" id="{63305DA5-8C73-3E3E-FEAC-5BCB7FE4A49C}"/>
              </a:ext>
            </a:extLst>
          </p:cNvPr>
          <p:cNvSpPr txBox="1"/>
          <p:nvPr/>
        </p:nvSpPr>
        <p:spPr>
          <a:xfrm>
            <a:off x="5989078" y="40548630"/>
            <a:ext cx="62367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References: </a:t>
            </a: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Wang, C. </a:t>
            </a:r>
            <a:r>
              <a:rPr lang="en-AU" i="1" dirty="0">
                <a:latin typeface="Arial" panose="020B0604020202020204" pitchFamily="34" charset="0"/>
                <a:cs typeface="Arial" panose="020B0604020202020204" pitchFamily="34" charset="0"/>
              </a:rPr>
              <a:t>et al.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 Benchmarking the translational potential of spatial gene expression prediction from histology. </a:t>
            </a:r>
            <a:r>
              <a:rPr lang="en-AU" i="1" dirty="0">
                <a:latin typeface="Arial" panose="020B0604020202020204" pitchFamily="34" charset="0"/>
                <a:cs typeface="Arial" panose="020B0604020202020204" pitchFamily="34" charset="0"/>
              </a:rPr>
              <a:t>Nat Commun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, 1544 (2025)</a:t>
            </a: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Andersson, A. et al. Spatial deconvolution of HER2-positive breast cancer delineates </a:t>
            </a:r>
            <a:r>
              <a:rPr lang="en-AU" dirty="0" err="1">
                <a:latin typeface="Arial" panose="020B0604020202020204" pitchFamily="34" charset="0"/>
                <a:cs typeface="Arial" panose="020B0604020202020204" pitchFamily="34" charset="0"/>
              </a:rPr>
              <a:t>tumor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-associated cell type interactions. Nat. Commun. 12, 1–14 (2021)</a:t>
            </a:r>
          </a:p>
        </p:txBody>
      </p:sp>
      <p:sp>
        <p:nvSpPr>
          <p:cNvPr id="168" name="Triangle 167">
            <a:extLst>
              <a:ext uri="{FF2B5EF4-FFF2-40B4-BE49-F238E27FC236}">
                <a16:creationId xmlns:a16="http://schemas.microsoft.com/office/drawing/2014/main" id="{68649211-2181-91E7-4EFC-AEE2D0E4E1BE}"/>
              </a:ext>
            </a:extLst>
          </p:cNvPr>
          <p:cNvSpPr/>
          <p:nvPr/>
        </p:nvSpPr>
        <p:spPr>
          <a:xfrm rot="5400000">
            <a:off x="5195515" y="31723386"/>
            <a:ext cx="358245" cy="284474"/>
          </a:xfrm>
          <a:prstGeom prst="triangle">
            <a:avLst/>
          </a:prstGeom>
          <a:solidFill>
            <a:srgbClr val="E64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TextBox 24">
            <a:extLst>
              <a:ext uri="{FF2B5EF4-FFF2-40B4-BE49-F238E27FC236}">
                <a16:creationId xmlns:a16="http://schemas.microsoft.com/office/drawing/2014/main" id="{50488BAC-9609-CF10-FE2C-ADF4622A033E}"/>
              </a:ext>
            </a:extLst>
          </p:cNvPr>
          <p:cNvSpPr txBox="1"/>
          <p:nvPr/>
        </p:nvSpPr>
        <p:spPr>
          <a:xfrm>
            <a:off x="6908800" y="36152708"/>
            <a:ext cx="5685241" cy="4372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79"/>
              </a:lnSpc>
            </a:pPr>
            <a:r>
              <a:rPr lang="en-US" sz="2800" dirty="0">
                <a:solidFill>
                  <a:srgbClr val="FA441B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Evaluate translational potential of predicted SGE</a:t>
            </a:r>
          </a:p>
          <a:p>
            <a:pPr marL="457200" indent="-457200">
              <a:lnSpc>
                <a:spcPts val="307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Data: 92 HER2+ TCGA-BRCA individuals</a:t>
            </a:r>
          </a:p>
          <a:p>
            <a:pPr marL="457200" indent="-457200">
              <a:lnSpc>
                <a:spcPts val="307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Strategy: Convert the predicted SGE to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pseudobulk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GE for each patient and built multivariate Cox regression models from the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pseudobulk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GE to predict survival using a 3-fold CV with 100 repeats</a:t>
            </a:r>
          </a:p>
        </p:txBody>
      </p:sp>
      <p:sp>
        <p:nvSpPr>
          <p:cNvPr id="170" name="Triangle 169">
            <a:extLst>
              <a:ext uri="{FF2B5EF4-FFF2-40B4-BE49-F238E27FC236}">
                <a16:creationId xmlns:a16="http://schemas.microsoft.com/office/drawing/2014/main" id="{CBF57C48-09BF-6753-28AA-40C9025D09A1}"/>
              </a:ext>
            </a:extLst>
          </p:cNvPr>
          <p:cNvSpPr/>
          <p:nvPr/>
        </p:nvSpPr>
        <p:spPr>
          <a:xfrm rot="5400000" flipV="1">
            <a:off x="6535435" y="36160369"/>
            <a:ext cx="319096" cy="334366"/>
          </a:xfrm>
          <a:prstGeom prst="triangle">
            <a:avLst/>
          </a:prstGeom>
          <a:solidFill>
            <a:srgbClr val="E64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59BD1939-986C-880F-D526-54C9909226F2}"/>
              </a:ext>
            </a:extLst>
          </p:cNvPr>
          <p:cNvSpPr/>
          <p:nvPr/>
        </p:nvSpPr>
        <p:spPr>
          <a:xfrm flipV="1">
            <a:off x="268971" y="35811479"/>
            <a:ext cx="563602" cy="5232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7DC7807B-253B-87C8-BFAD-763795CB3088}"/>
              </a:ext>
            </a:extLst>
          </p:cNvPr>
          <p:cNvSpPr/>
          <p:nvPr/>
        </p:nvSpPr>
        <p:spPr>
          <a:xfrm flipV="1">
            <a:off x="5935293" y="31381700"/>
            <a:ext cx="563602" cy="5232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6DE3F57-68E2-8D60-D54F-F49518F6D131}"/>
              </a:ext>
            </a:extLst>
          </p:cNvPr>
          <p:cNvSpPr txBox="1">
            <a:spLocks/>
          </p:cNvSpPr>
          <p:nvPr/>
        </p:nvSpPr>
        <p:spPr>
          <a:xfrm>
            <a:off x="186168" y="29862092"/>
            <a:ext cx="12706104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NZ" sz="1000" b="1" i="0" u="none" strike="noStrike" kern="1200" cap="none" spc="0" normalizeH="0" baseline="0" noProof="0" dirty="0">
              <a:ln>
                <a:noFill/>
              </a:ln>
              <a:solidFill>
                <a:srgbClr val="8F9FC9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defRPr/>
            </a:pPr>
            <a:r>
              <a:rPr kumimoji="0" lang="en-NZ" sz="2800" b="1" i="0" u="none" strike="noStrike" kern="1200" cap="none" spc="0" normalizeH="0" baseline="0" noProof="0" dirty="0">
                <a:ln>
                  <a:noFill/>
                </a:ln>
                <a:solidFill>
                  <a:srgbClr val="8F9FC9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Comparison of spot-based gene prediction and survival analysis performance among state-of-the-art methods using the HER2ST dataset</a:t>
            </a:r>
          </a:p>
          <a:p>
            <a:pPr>
              <a:defRPr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Details on methods could be found in our Benchmarking work (Wang et al  2025) </a:t>
            </a:r>
          </a:p>
          <a:p>
            <a:pPr lvl="0">
              <a:defRPr/>
            </a:pPr>
            <a:endParaRPr kumimoji="0" lang="en-NZ" sz="2800" b="1" i="0" u="none" strike="noStrike" kern="1200" cap="none" spc="0" normalizeH="0" baseline="0" noProof="0" dirty="0">
              <a:ln>
                <a:noFill/>
              </a:ln>
              <a:solidFill>
                <a:srgbClr val="8F9FC9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AU" sz="2800" b="1" dirty="0">
              <a:solidFill>
                <a:srgbClr val="8F9FC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TextBox 24">
            <a:extLst>
              <a:ext uri="{FF2B5EF4-FFF2-40B4-BE49-F238E27FC236}">
                <a16:creationId xmlns:a16="http://schemas.microsoft.com/office/drawing/2014/main" id="{45D3FECA-5F3C-ABB9-3ECB-B910F2FA2538}"/>
              </a:ext>
            </a:extLst>
          </p:cNvPr>
          <p:cNvSpPr txBox="1"/>
          <p:nvPr/>
        </p:nvSpPr>
        <p:spPr>
          <a:xfrm>
            <a:off x="288025" y="31883149"/>
            <a:ext cx="5327684" cy="4372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079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Data: HER2ST data (Anderson et al, 2021)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  <a:p>
            <a:pPr marL="457200" indent="-457200">
              <a:lnSpc>
                <a:spcPts val="307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GHIST is extendable to spot-based technologies and outperforms state-of-the-art methods</a:t>
            </a:r>
          </a:p>
          <a:p>
            <a:pPr marL="457200" indent="-457200">
              <a:lnSpc>
                <a:spcPts val="307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Evaluate the spot-based SGE predictions with Pearson Correlation Coefficient (PCC) focusing on top 20% SVG genes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</TotalTime>
  <Words>977</Words>
  <Application>Microsoft Macintosh PowerPoint</Application>
  <PresentationFormat>Custom</PresentationFormat>
  <Paragraphs>103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Calibri</vt:lpstr>
      <vt:lpstr>Times New Roman Bold</vt:lpstr>
      <vt:lpstr>Aptos</vt:lpstr>
      <vt:lpstr>Arial</vt:lpstr>
      <vt:lpstr>Times New Roman</vt:lpstr>
      <vt:lpstr>Instrument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HCA poster</dc:title>
  <cp:lastModifiedBy>Jean Yang</cp:lastModifiedBy>
  <cp:revision>10</cp:revision>
  <dcterms:created xsi:type="dcterms:W3CDTF">2006-08-16T00:00:00Z</dcterms:created>
  <dcterms:modified xsi:type="dcterms:W3CDTF">2025-06-05T00:33:24Z</dcterms:modified>
  <dc:identifier>DAGoDfbV5mE</dc:identifier>
</cp:coreProperties>
</file>