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6_FA2D899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3"/>
  </p:handoutMasterIdLst>
  <p:sldIdLst>
    <p:sldId id="262" r:id="rId2"/>
  </p:sldIdLst>
  <p:sldSz cx="21383625" cy="30275213"/>
  <p:notesSz cx="6858000" cy="9144000"/>
  <p:defaultTextStyle>
    <a:defPPr>
      <a:defRPr lang="en-US"/>
    </a:defPPr>
    <a:lvl1pPr algn="l" defTabSz="1474705" rtl="0" fontAlgn="base">
      <a:spcBef>
        <a:spcPct val="0"/>
      </a:spcBef>
      <a:spcAft>
        <a:spcPct val="0"/>
      </a:spcAft>
      <a:defRPr sz="5802" kern="1200">
        <a:solidFill>
          <a:schemeClr val="tx1"/>
        </a:solidFill>
        <a:latin typeface="Arial" charset="0"/>
        <a:ea typeface="Arial" charset="0"/>
        <a:cs typeface="Arial" charset="0"/>
      </a:defRPr>
    </a:lvl1pPr>
    <a:lvl2pPr marL="1474705" indent="-1151236" algn="l" defTabSz="1474705" rtl="0" fontAlgn="base">
      <a:spcBef>
        <a:spcPct val="0"/>
      </a:spcBef>
      <a:spcAft>
        <a:spcPct val="0"/>
      </a:spcAft>
      <a:defRPr sz="5802" kern="1200">
        <a:solidFill>
          <a:schemeClr val="tx1"/>
        </a:solidFill>
        <a:latin typeface="Arial" charset="0"/>
        <a:ea typeface="Arial" charset="0"/>
        <a:cs typeface="Arial" charset="0"/>
      </a:defRPr>
    </a:lvl2pPr>
    <a:lvl3pPr marL="2950532" indent="-2303594" algn="l" defTabSz="1474705" rtl="0" fontAlgn="base">
      <a:spcBef>
        <a:spcPct val="0"/>
      </a:spcBef>
      <a:spcAft>
        <a:spcPct val="0"/>
      </a:spcAft>
      <a:defRPr sz="5802" kern="1200">
        <a:solidFill>
          <a:schemeClr val="tx1"/>
        </a:solidFill>
        <a:latin typeface="Arial" charset="0"/>
        <a:ea typeface="Arial" charset="0"/>
        <a:cs typeface="Arial" charset="0"/>
      </a:defRPr>
    </a:lvl3pPr>
    <a:lvl4pPr marL="4426359" indent="-3455952" algn="l" defTabSz="1474705" rtl="0" fontAlgn="base">
      <a:spcBef>
        <a:spcPct val="0"/>
      </a:spcBef>
      <a:spcAft>
        <a:spcPct val="0"/>
      </a:spcAft>
      <a:defRPr sz="5802" kern="1200">
        <a:solidFill>
          <a:schemeClr val="tx1"/>
        </a:solidFill>
        <a:latin typeface="Arial" charset="0"/>
        <a:ea typeface="Arial" charset="0"/>
        <a:cs typeface="Arial" charset="0"/>
      </a:defRPr>
    </a:lvl4pPr>
    <a:lvl5pPr marL="5902186" indent="-4608310" algn="l" defTabSz="1474705" rtl="0" fontAlgn="base">
      <a:spcBef>
        <a:spcPct val="0"/>
      </a:spcBef>
      <a:spcAft>
        <a:spcPct val="0"/>
      </a:spcAft>
      <a:defRPr sz="5802" kern="1200">
        <a:solidFill>
          <a:schemeClr val="tx1"/>
        </a:solidFill>
        <a:latin typeface="Arial" charset="0"/>
        <a:ea typeface="Arial" charset="0"/>
        <a:cs typeface="Arial" charset="0"/>
      </a:defRPr>
    </a:lvl5pPr>
    <a:lvl6pPr marL="1617345" algn="l" defTabSz="323469" rtl="0" eaLnBrk="1" latinLnBrk="0" hangingPunct="1">
      <a:defRPr sz="5802" kern="1200">
        <a:solidFill>
          <a:schemeClr val="tx1"/>
        </a:solidFill>
        <a:latin typeface="Arial" charset="0"/>
        <a:ea typeface="Arial" charset="0"/>
        <a:cs typeface="Arial" charset="0"/>
      </a:defRPr>
    </a:lvl6pPr>
    <a:lvl7pPr marL="1940814" algn="l" defTabSz="323469" rtl="0" eaLnBrk="1" latinLnBrk="0" hangingPunct="1">
      <a:defRPr sz="5802" kern="1200">
        <a:solidFill>
          <a:schemeClr val="tx1"/>
        </a:solidFill>
        <a:latin typeface="Arial" charset="0"/>
        <a:ea typeface="Arial" charset="0"/>
        <a:cs typeface="Arial" charset="0"/>
      </a:defRPr>
    </a:lvl7pPr>
    <a:lvl8pPr marL="2264283" algn="l" defTabSz="323469" rtl="0" eaLnBrk="1" latinLnBrk="0" hangingPunct="1">
      <a:defRPr sz="5802" kern="1200">
        <a:solidFill>
          <a:schemeClr val="tx1"/>
        </a:solidFill>
        <a:latin typeface="Arial" charset="0"/>
        <a:ea typeface="Arial" charset="0"/>
        <a:cs typeface="Arial" charset="0"/>
      </a:defRPr>
    </a:lvl8pPr>
    <a:lvl9pPr marL="2587752" algn="l" defTabSz="323469" rtl="0" eaLnBrk="1" latinLnBrk="0" hangingPunct="1">
      <a:defRPr sz="5802" kern="1200">
        <a:solidFill>
          <a:schemeClr val="tx1"/>
        </a:solidFill>
        <a:latin typeface="Arial" charset="0"/>
        <a:ea typeface="Arial" charset="0"/>
        <a:cs typeface="Arial" charset="0"/>
      </a:defRPr>
    </a:lvl9pPr>
  </p:defaultTextStyle>
  <p:extLst>
    <p:ext uri="{EFAFB233-063F-42B5-8137-9DF3F51BA10A}">
      <p15:sldGuideLst xmlns:p15="http://schemas.microsoft.com/office/powerpoint/2012/main">
        <p15:guide id="1" orient="horz" pos="9558" userDrawn="1">
          <p15:clr>
            <a:srgbClr val="A4A3A4"/>
          </p15:clr>
        </p15:guide>
        <p15:guide id="2" pos="673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04DD75-F20B-59F8-90F5-D346598AA150}" name="Jean Yang" initials="JY" userId="f8b2c5e120d30cd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64626"/>
    <a:srgbClr val="F9B72C"/>
    <a:srgbClr val="272727"/>
    <a:srgbClr val="FBCD6B"/>
    <a:srgbClr val="12416C"/>
    <a:srgbClr val="CE11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4875" autoAdjust="0"/>
    <p:restoredTop sz="96327" autoAdjust="0"/>
  </p:normalViewPr>
  <p:slideViewPr>
    <p:cSldViewPr snapToGrid="0" snapToObjects="1">
      <p:cViewPr>
        <p:scale>
          <a:sx n="69" d="100"/>
          <a:sy n="69" d="100"/>
        </p:scale>
        <p:origin x="144" y="144"/>
      </p:cViewPr>
      <p:guideLst>
        <p:guide orient="horz" pos="9558"/>
        <p:guide pos="6735"/>
      </p:guideLst>
    </p:cSldViewPr>
  </p:slideViewPr>
  <p:notesTextViewPr>
    <p:cViewPr>
      <p:scale>
        <a:sx n="100" d="100"/>
        <a:sy n="100" d="100"/>
      </p:scale>
      <p:origin x="0" y="0"/>
    </p:cViewPr>
  </p:notesTextViewPr>
  <p:sorterViewPr>
    <p:cViewPr>
      <p:scale>
        <a:sx n="1" d="1"/>
        <a:sy n="1" d="1"/>
      </p:scale>
      <p:origin x="0" y="0"/>
    </p:cViewPr>
  </p:sorterViewPr>
  <p:notesViewPr>
    <p:cSldViewPr snapToGrid="0"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6_FA2D8990.xml><?xml version="1.0" encoding="utf-8"?>
<p188:cmLst xmlns:a="http://schemas.openxmlformats.org/drawingml/2006/main" xmlns:r="http://schemas.openxmlformats.org/officeDocument/2006/relationships" xmlns:p188="http://schemas.microsoft.com/office/powerpoint/2018/8/main">
  <p188:cm id="{DA618EB0-402D-0642-B094-C3A5F916ADFB}" authorId="{ED04DD75-F20B-59F8-90F5-D346598AA150}" created="2024-08-14T04:08:04.236">
    <ac:txMkLst xmlns:ac="http://schemas.microsoft.com/office/drawing/2013/main/command">
      <pc:docMk xmlns:pc="http://schemas.microsoft.com/office/powerpoint/2013/main/command"/>
      <pc:sldMk xmlns:pc="http://schemas.microsoft.com/office/powerpoint/2013/main/command" cId="4197288336" sldId="262"/>
      <ac:spMk id="114" creationId="{7D52E80A-E422-686D-2352-DCFF61E106E2}"/>
      <ac:txMk cp="151" len="27">
        <ac:context len="724" hash="2964965253"/>
      </ac:txMk>
    </ac:txMkLst>
    <p188:pos x="10388673" y="1352145"/>
    <p188:txBody>
      <a:bodyPr/>
      <a:lstStyle/>
      <a:p>
        <a:r>
          <a:rPr lang="en-US"/>
          <a:t>I wonder whether you need to write out reference somewhere</a:t>
        </a:r>
      </a:p>
    </p188:txBody>
  </p188:cm>
  <p188:cm id="{D0260EF1-43F3-0A43-90A2-A1C28544332F}" authorId="{ED04DD75-F20B-59F8-90F5-D346598AA150}" created="2024-08-14T04:09:13.086">
    <ac:txMkLst xmlns:ac="http://schemas.microsoft.com/office/drawing/2013/main/command">
      <pc:docMk xmlns:pc="http://schemas.microsoft.com/office/powerpoint/2013/main/command"/>
      <pc:sldMk xmlns:pc="http://schemas.microsoft.com/office/powerpoint/2013/main/command" cId="4197288336" sldId="262"/>
      <ac:spMk id="114" creationId="{7D52E80A-E422-686D-2352-DCFF61E106E2}"/>
      <ac:txMk cp="270" len="34">
        <ac:context len="724" hash="2964965253"/>
      </ac:txMk>
    </ac:txMkLst>
    <p188:pos x="5637769" y="2266545"/>
    <p188:txBody>
      <a:bodyPr/>
      <a:lstStyle/>
      <a:p>
        <a:r>
          <a:rPr lang="en-US"/>
          <a:t>Not sure which one this is referring to</a:t>
        </a:r>
      </a:p>
    </p188:txBody>
  </p188:cm>
  <p188:cm id="{79DFAD8A-7BE8-B143-BF50-CE5F47CB6CFA}" authorId="{ED04DD75-F20B-59F8-90F5-D346598AA150}" created="2024-08-14T04:15:17.739">
    <ac:txMkLst xmlns:ac="http://schemas.microsoft.com/office/drawing/2013/main/command">
      <pc:docMk xmlns:pc="http://schemas.microsoft.com/office/powerpoint/2013/main/command"/>
      <pc:sldMk xmlns:pc="http://schemas.microsoft.com/office/powerpoint/2013/main/command" cId="4197288336" sldId="262"/>
      <ac:spMk id="78" creationId="{47B4D630-9073-EFC1-4134-0A9DC7B30888}"/>
      <ac:txMk cp="103" len="6">
        <ac:context len="645" hash="2736711506"/>
      </ac:txMk>
    </ac:txMkLst>
    <p188:pos x="5289557" y="981084"/>
    <p188:txBody>
      <a:bodyPr/>
      <a:lstStyle/>
      <a:p>
        <a:r>
          <a:rPr lang="en-US"/>
          <a:t>reference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2085884"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430F93BE-767E-7A4A-8789-F543653EEC61}" type="datetimeFigureOut">
              <a:rPr lang="en-US"/>
              <a:pPr/>
              <a:t>8/14/24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2085884"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C1A96051-BD5D-F648-BF5E-9036DC7231A9}" type="slidenum">
              <a:rPr lang="en-US"/>
              <a:pPr/>
              <a:t>‹#›</a:t>
            </a:fld>
            <a:endParaRPr lang="en-US"/>
          </a:p>
        </p:txBody>
      </p:sp>
    </p:spTree>
    <p:extLst>
      <p:ext uri="{BB962C8B-B14F-4D97-AF65-F5344CB8AC3E}">
        <p14:creationId xmlns:p14="http://schemas.microsoft.com/office/powerpoint/2010/main" val="19649508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6" y="9404947"/>
            <a:ext cx="18176081" cy="6489547"/>
          </a:xfrm>
        </p:spPr>
        <p:txBody>
          <a:bodyPr/>
          <a:lstStyle/>
          <a:p>
            <a:r>
              <a:rPr lang="en-GB"/>
              <a:t>Click to edit Master title style</a:t>
            </a:r>
            <a:endParaRPr lang="en-US"/>
          </a:p>
        </p:txBody>
      </p:sp>
      <p:sp>
        <p:nvSpPr>
          <p:cNvPr id="3" name="Subtitle 2"/>
          <p:cNvSpPr>
            <a:spLocks noGrp="1"/>
          </p:cNvSpPr>
          <p:nvPr>
            <p:ph type="subTitle" idx="1"/>
          </p:nvPr>
        </p:nvSpPr>
        <p:spPr>
          <a:xfrm>
            <a:off x="3207546" y="17155953"/>
            <a:ext cx="14968537" cy="7736999"/>
          </a:xfrm>
        </p:spPr>
        <p:txBody>
          <a:bodyPr/>
          <a:lstStyle>
            <a:lvl1pPr marL="0" indent="0" algn="ctr">
              <a:buNone/>
              <a:defRPr>
                <a:solidFill>
                  <a:schemeClr val="tx1">
                    <a:tint val="75000"/>
                  </a:schemeClr>
                </a:solidFill>
              </a:defRPr>
            </a:lvl1pPr>
            <a:lvl2pPr marL="1041825" indent="0" algn="ctr">
              <a:buNone/>
              <a:defRPr>
                <a:solidFill>
                  <a:schemeClr val="tx1">
                    <a:tint val="75000"/>
                  </a:schemeClr>
                </a:solidFill>
              </a:defRPr>
            </a:lvl2pPr>
            <a:lvl3pPr marL="2083651" indent="0" algn="ctr">
              <a:buNone/>
              <a:defRPr>
                <a:solidFill>
                  <a:schemeClr val="tx1">
                    <a:tint val="75000"/>
                  </a:schemeClr>
                </a:solidFill>
              </a:defRPr>
            </a:lvl3pPr>
            <a:lvl4pPr marL="3125476" indent="0" algn="ctr">
              <a:buNone/>
              <a:defRPr>
                <a:solidFill>
                  <a:schemeClr val="tx1">
                    <a:tint val="75000"/>
                  </a:schemeClr>
                </a:solidFill>
              </a:defRPr>
            </a:lvl4pPr>
            <a:lvl5pPr marL="4167300" indent="0" algn="ctr">
              <a:buNone/>
              <a:defRPr>
                <a:solidFill>
                  <a:schemeClr val="tx1">
                    <a:tint val="75000"/>
                  </a:schemeClr>
                </a:solidFill>
              </a:defRPr>
            </a:lvl5pPr>
            <a:lvl6pPr marL="5209126" indent="0" algn="ctr">
              <a:buNone/>
              <a:defRPr>
                <a:solidFill>
                  <a:schemeClr val="tx1">
                    <a:tint val="75000"/>
                  </a:schemeClr>
                </a:solidFill>
              </a:defRPr>
            </a:lvl6pPr>
            <a:lvl7pPr marL="6250951" indent="0" algn="ctr">
              <a:buNone/>
              <a:defRPr>
                <a:solidFill>
                  <a:schemeClr val="tx1">
                    <a:tint val="75000"/>
                  </a:schemeClr>
                </a:solidFill>
              </a:defRPr>
            </a:lvl7pPr>
            <a:lvl8pPr marL="7292777" indent="0" algn="ctr">
              <a:buNone/>
              <a:defRPr>
                <a:solidFill>
                  <a:schemeClr val="tx1">
                    <a:tint val="75000"/>
                  </a:schemeClr>
                </a:solidFill>
              </a:defRPr>
            </a:lvl8pPr>
            <a:lvl9pPr marL="8334601"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5530802C-C97D-384A-98C4-886D0B6A6F0B}" type="datetimeFigureOut">
              <a:rPr lang="en-US"/>
              <a:pPr/>
              <a:t>8/14/24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B3FC4F6-BE19-6B42-9B75-9D41D8A8B020}" type="slidenum">
              <a:rPr lang="en-US"/>
              <a:pPr/>
              <a:t>‹#›</a:t>
            </a:fld>
            <a:endParaRPr lang="en-US"/>
          </a:p>
        </p:txBody>
      </p:sp>
    </p:spTree>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48224DD2-0F61-FA4A-A9D4-0B6BFB346448}" type="datetimeFigureOut">
              <a:rPr lang="en-US"/>
              <a:pPr/>
              <a:t>8/14/24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3BDCCE52-1A62-8D4E-B729-996AEF369413}"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163" y="19454631"/>
            <a:ext cx="18176081" cy="6012994"/>
          </a:xfrm>
        </p:spPr>
        <p:txBody>
          <a:bodyPr anchor="t"/>
          <a:lstStyle>
            <a:lvl1pPr algn="l">
              <a:defRPr sz="9091" b="1" cap="all"/>
            </a:lvl1pPr>
          </a:lstStyle>
          <a:p>
            <a:r>
              <a:rPr lang="en-GB"/>
              <a:t>Click to edit Master title style</a:t>
            </a:r>
            <a:endParaRPr lang="en-US"/>
          </a:p>
        </p:txBody>
      </p:sp>
      <p:sp>
        <p:nvSpPr>
          <p:cNvPr id="3" name="Text Placeholder 2"/>
          <p:cNvSpPr>
            <a:spLocks noGrp="1"/>
          </p:cNvSpPr>
          <p:nvPr>
            <p:ph type="body" idx="1"/>
          </p:nvPr>
        </p:nvSpPr>
        <p:spPr>
          <a:xfrm>
            <a:off x="1689163" y="12831930"/>
            <a:ext cx="18176081" cy="6622700"/>
          </a:xfrm>
        </p:spPr>
        <p:txBody>
          <a:bodyPr anchor="b"/>
          <a:lstStyle>
            <a:lvl1pPr marL="0" indent="0">
              <a:buNone/>
              <a:defRPr sz="4546">
                <a:solidFill>
                  <a:schemeClr val="tx1">
                    <a:tint val="75000"/>
                  </a:schemeClr>
                </a:solidFill>
              </a:defRPr>
            </a:lvl1pPr>
            <a:lvl2pPr marL="1041825" indent="0">
              <a:buNone/>
              <a:defRPr sz="4096">
                <a:solidFill>
                  <a:schemeClr val="tx1">
                    <a:tint val="75000"/>
                  </a:schemeClr>
                </a:solidFill>
              </a:defRPr>
            </a:lvl2pPr>
            <a:lvl3pPr marL="2083651" indent="0">
              <a:buNone/>
              <a:defRPr sz="3647">
                <a:solidFill>
                  <a:schemeClr val="tx1">
                    <a:tint val="75000"/>
                  </a:schemeClr>
                </a:solidFill>
              </a:defRPr>
            </a:lvl3pPr>
            <a:lvl4pPr marL="3125476" indent="0">
              <a:buNone/>
              <a:defRPr sz="3197">
                <a:solidFill>
                  <a:schemeClr val="tx1">
                    <a:tint val="75000"/>
                  </a:schemeClr>
                </a:solidFill>
              </a:defRPr>
            </a:lvl4pPr>
            <a:lvl5pPr marL="4167300" indent="0">
              <a:buNone/>
              <a:defRPr sz="3197">
                <a:solidFill>
                  <a:schemeClr val="tx1">
                    <a:tint val="75000"/>
                  </a:schemeClr>
                </a:solidFill>
              </a:defRPr>
            </a:lvl5pPr>
            <a:lvl6pPr marL="5209126" indent="0">
              <a:buNone/>
              <a:defRPr sz="3197">
                <a:solidFill>
                  <a:schemeClr val="tx1">
                    <a:tint val="75000"/>
                  </a:schemeClr>
                </a:solidFill>
              </a:defRPr>
            </a:lvl6pPr>
            <a:lvl7pPr marL="6250951" indent="0">
              <a:buNone/>
              <a:defRPr sz="3197">
                <a:solidFill>
                  <a:schemeClr val="tx1">
                    <a:tint val="75000"/>
                  </a:schemeClr>
                </a:solidFill>
              </a:defRPr>
            </a:lvl7pPr>
            <a:lvl8pPr marL="7292777" indent="0">
              <a:buNone/>
              <a:defRPr sz="3197">
                <a:solidFill>
                  <a:schemeClr val="tx1">
                    <a:tint val="75000"/>
                  </a:schemeClr>
                </a:solidFill>
              </a:defRPr>
            </a:lvl8pPr>
            <a:lvl9pPr marL="8334601" indent="0">
              <a:buNone/>
              <a:defRPr sz="3197">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B7A801A2-548F-F044-A659-9D8A3641DBE0}" type="datetimeFigureOut">
              <a:rPr lang="en-US"/>
              <a:pPr/>
              <a:t>8/14/24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20123D-CE5C-844D-A88C-4EE398C8A63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000651" y="31151238"/>
            <a:ext cx="44827650" cy="88092460"/>
          </a:xfrm>
        </p:spPr>
        <p:txBody>
          <a:bodyPr/>
          <a:lstStyle>
            <a:lvl1pPr>
              <a:defRPr sz="6393"/>
            </a:lvl1pPr>
            <a:lvl2pPr>
              <a:defRPr sz="5444"/>
            </a:lvl2pPr>
            <a:lvl3pPr>
              <a:defRPr sz="4546"/>
            </a:lvl3pPr>
            <a:lvl4pPr>
              <a:defRPr sz="4096"/>
            </a:lvl4pPr>
            <a:lvl5pPr>
              <a:defRPr sz="4096"/>
            </a:lvl5pPr>
            <a:lvl6pPr>
              <a:defRPr sz="4096"/>
            </a:lvl6pPr>
            <a:lvl7pPr>
              <a:defRPr sz="4096"/>
            </a:lvl7pPr>
            <a:lvl8pPr>
              <a:defRPr sz="4096"/>
            </a:lvl8pPr>
            <a:lvl9pPr>
              <a:defRPr sz="4096"/>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184699" y="31151238"/>
            <a:ext cx="44827653" cy="88092460"/>
          </a:xfrm>
        </p:spPr>
        <p:txBody>
          <a:bodyPr/>
          <a:lstStyle>
            <a:lvl1pPr>
              <a:defRPr sz="6393"/>
            </a:lvl1pPr>
            <a:lvl2pPr>
              <a:defRPr sz="5444"/>
            </a:lvl2pPr>
            <a:lvl3pPr>
              <a:defRPr sz="4546"/>
            </a:lvl3pPr>
            <a:lvl4pPr>
              <a:defRPr sz="4096"/>
            </a:lvl4pPr>
            <a:lvl5pPr>
              <a:defRPr sz="4096"/>
            </a:lvl5pPr>
            <a:lvl6pPr>
              <a:defRPr sz="4096"/>
            </a:lvl6pPr>
            <a:lvl7pPr>
              <a:defRPr sz="4096"/>
            </a:lvl7pPr>
            <a:lvl8pPr>
              <a:defRPr sz="4096"/>
            </a:lvl8pPr>
            <a:lvl9pPr>
              <a:defRPr sz="4096"/>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7502C844-86B6-5C49-928A-486E2019E086}" type="datetimeFigureOut">
              <a:rPr lang="en-US"/>
              <a:pPr/>
              <a:t>8/14/24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AC345E2-C6D7-8F48-BA9E-A56D52DA14CF}"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181" y="1212415"/>
            <a:ext cx="19245263" cy="5045868"/>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1069181" y="6776885"/>
            <a:ext cx="9448148" cy="2824283"/>
          </a:xfrm>
        </p:spPr>
        <p:txBody>
          <a:bodyPr anchor="b"/>
          <a:lstStyle>
            <a:lvl1pPr marL="0" indent="0">
              <a:buNone/>
              <a:defRPr sz="5444" b="1"/>
            </a:lvl1pPr>
            <a:lvl2pPr marL="1041825" indent="0">
              <a:buNone/>
              <a:defRPr sz="4546" b="1"/>
            </a:lvl2pPr>
            <a:lvl3pPr marL="2083651" indent="0">
              <a:buNone/>
              <a:defRPr sz="4096" b="1"/>
            </a:lvl3pPr>
            <a:lvl4pPr marL="3125476" indent="0">
              <a:buNone/>
              <a:defRPr sz="3647" b="1"/>
            </a:lvl4pPr>
            <a:lvl5pPr marL="4167300" indent="0">
              <a:buNone/>
              <a:defRPr sz="3647" b="1"/>
            </a:lvl5pPr>
            <a:lvl6pPr marL="5209126" indent="0">
              <a:buNone/>
              <a:defRPr sz="3647" b="1"/>
            </a:lvl6pPr>
            <a:lvl7pPr marL="6250951" indent="0">
              <a:buNone/>
              <a:defRPr sz="3647" b="1"/>
            </a:lvl7pPr>
            <a:lvl8pPr marL="7292777" indent="0">
              <a:buNone/>
              <a:defRPr sz="3647" b="1"/>
            </a:lvl8pPr>
            <a:lvl9pPr marL="8334601" indent="0">
              <a:buNone/>
              <a:defRPr sz="3647" b="1"/>
            </a:lvl9pPr>
          </a:lstStyle>
          <a:p>
            <a:pPr lvl="0"/>
            <a:r>
              <a:rPr lang="en-GB"/>
              <a:t>Click to edit Master text styles</a:t>
            </a:r>
          </a:p>
        </p:txBody>
      </p:sp>
      <p:sp>
        <p:nvSpPr>
          <p:cNvPr id="4" name="Content Placeholder 3"/>
          <p:cNvSpPr>
            <a:spLocks noGrp="1"/>
          </p:cNvSpPr>
          <p:nvPr>
            <p:ph sz="half" idx="2"/>
          </p:nvPr>
        </p:nvSpPr>
        <p:spPr>
          <a:xfrm>
            <a:off x="1069181" y="9601170"/>
            <a:ext cx="9448148" cy="17443290"/>
          </a:xfrm>
        </p:spPr>
        <p:txBody>
          <a:bodyPr/>
          <a:lstStyle>
            <a:lvl1pPr>
              <a:defRPr sz="5444"/>
            </a:lvl1pPr>
            <a:lvl2pPr>
              <a:defRPr sz="4546"/>
            </a:lvl2pPr>
            <a:lvl3pPr>
              <a:defRPr sz="4096"/>
            </a:lvl3pPr>
            <a:lvl4pPr>
              <a:defRPr sz="3647"/>
            </a:lvl4pPr>
            <a:lvl5pPr>
              <a:defRPr sz="3647"/>
            </a:lvl5pPr>
            <a:lvl6pPr>
              <a:defRPr sz="3647"/>
            </a:lvl6pPr>
            <a:lvl7pPr>
              <a:defRPr sz="3647"/>
            </a:lvl7pPr>
            <a:lvl8pPr>
              <a:defRPr sz="3647"/>
            </a:lvl8pPr>
            <a:lvl9pPr>
              <a:defRPr sz="364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10862587" y="6776885"/>
            <a:ext cx="9451859" cy="2824283"/>
          </a:xfrm>
        </p:spPr>
        <p:txBody>
          <a:bodyPr anchor="b"/>
          <a:lstStyle>
            <a:lvl1pPr marL="0" indent="0">
              <a:buNone/>
              <a:defRPr sz="5444" b="1"/>
            </a:lvl1pPr>
            <a:lvl2pPr marL="1041825" indent="0">
              <a:buNone/>
              <a:defRPr sz="4546" b="1"/>
            </a:lvl2pPr>
            <a:lvl3pPr marL="2083651" indent="0">
              <a:buNone/>
              <a:defRPr sz="4096" b="1"/>
            </a:lvl3pPr>
            <a:lvl4pPr marL="3125476" indent="0">
              <a:buNone/>
              <a:defRPr sz="3647" b="1"/>
            </a:lvl4pPr>
            <a:lvl5pPr marL="4167300" indent="0">
              <a:buNone/>
              <a:defRPr sz="3647" b="1"/>
            </a:lvl5pPr>
            <a:lvl6pPr marL="5209126" indent="0">
              <a:buNone/>
              <a:defRPr sz="3647" b="1"/>
            </a:lvl6pPr>
            <a:lvl7pPr marL="6250951" indent="0">
              <a:buNone/>
              <a:defRPr sz="3647" b="1"/>
            </a:lvl7pPr>
            <a:lvl8pPr marL="7292777" indent="0">
              <a:buNone/>
              <a:defRPr sz="3647" b="1"/>
            </a:lvl8pPr>
            <a:lvl9pPr marL="8334601" indent="0">
              <a:buNone/>
              <a:defRPr sz="3647" b="1"/>
            </a:lvl9pPr>
          </a:lstStyle>
          <a:p>
            <a:pPr lvl="0"/>
            <a:r>
              <a:rPr lang="en-GB"/>
              <a:t>Click to edit Master text styles</a:t>
            </a:r>
          </a:p>
        </p:txBody>
      </p:sp>
      <p:sp>
        <p:nvSpPr>
          <p:cNvPr id="6" name="Content Placeholder 5"/>
          <p:cNvSpPr>
            <a:spLocks noGrp="1"/>
          </p:cNvSpPr>
          <p:nvPr>
            <p:ph sz="quarter" idx="4"/>
          </p:nvPr>
        </p:nvSpPr>
        <p:spPr>
          <a:xfrm>
            <a:off x="10862587" y="9601170"/>
            <a:ext cx="9451859" cy="17443290"/>
          </a:xfrm>
        </p:spPr>
        <p:txBody>
          <a:bodyPr/>
          <a:lstStyle>
            <a:lvl1pPr>
              <a:defRPr sz="5444"/>
            </a:lvl1pPr>
            <a:lvl2pPr>
              <a:defRPr sz="4546"/>
            </a:lvl2pPr>
            <a:lvl3pPr>
              <a:defRPr sz="4096"/>
            </a:lvl3pPr>
            <a:lvl4pPr>
              <a:defRPr sz="3647"/>
            </a:lvl4pPr>
            <a:lvl5pPr>
              <a:defRPr sz="3647"/>
            </a:lvl5pPr>
            <a:lvl6pPr>
              <a:defRPr sz="3647"/>
            </a:lvl6pPr>
            <a:lvl7pPr>
              <a:defRPr sz="3647"/>
            </a:lvl7pPr>
            <a:lvl8pPr>
              <a:defRPr sz="3647"/>
            </a:lvl8pPr>
            <a:lvl9pPr>
              <a:defRPr sz="364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E9070CCE-2A0E-0646-8180-EDB8F0558976}" type="datetimeFigureOut">
              <a:rPr lang="en-US"/>
              <a:pPr/>
              <a:t>8/14/24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7A2713E-0B6B-274C-BDEE-D3CFF67500B0}"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4F5DCDC8-92A3-7D4C-9CB4-8C16FD22AA7E}" type="datetimeFigureOut">
              <a:rPr lang="en-US"/>
              <a:pPr/>
              <a:t>8/14/24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6A7D8F8A-0ED1-6849-9BE4-97CE0DC207D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CFD085D7-AC00-A543-901C-0DD4460FC900}" type="datetimeFigureOut">
              <a:rPr lang="en-US"/>
              <a:pPr/>
              <a:t>8/14/24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2CC79BD8-56E2-5C41-B990-E5665E24C6D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183" y="1205407"/>
            <a:ext cx="7035066" cy="5129967"/>
          </a:xfrm>
        </p:spPr>
        <p:txBody>
          <a:bodyPr anchor="b"/>
          <a:lstStyle>
            <a:lvl1pPr algn="l">
              <a:defRPr sz="4546" b="1"/>
            </a:lvl1pPr>
          </a:lstStyle>
          <a:p>
            <a:r>
              <a:rPr lang="en-GB"/>
              <a:t>Click to edit Master title style</a:t>
            </a:r>
            <a:endParaRPr lang="en-US"/>
          </a:p>
        </p:txBody>
      </p:sp>
      <p:sp>
        <p:nvSpPr>
          <p:cNvPr id="3" name="Content Placeholder 2"/>
          <p:cNvSpPr>
            <a:spLocks noGrp="1"/>
          </p:cNvSpPr>
          <p:nvPr>
            <p:ph idx="1"/>
          </p:nvPr>
        </p:nvSpPr>
        <p:spPr>
          <a:xfrm>
            <a:off x="8360404" y="1205405"/>
            <a:ext cx="11954040" cy="25839056"/>
          </a:xfrm>
        </p:spPr>
        <p:txBody>
          <a:bodyPr/>
          <a:lstStyle>
            <a:lvl1pPr>
              <a:defRPr sz="7293"/>
            </a:lvl1pPr>
            <a:lvl2pPr>
              <a:defRPr sz="6393"/>
            </a:lvl2pPr>
            <a:lvl3pPr>
              <a:defRPr sz="5444"/>
            </a:lvl3pPr>
            <a:lvl4pPr>
              <a:defRPr sz="4546"/>
            </a:lvl4pPr>
            <a:lvl5pPr>
              <a:defRPr sz="4546"/>
            </a:lvl5pPr>
            <a:lvl6pPr>
              <a:defRPr sz="4546"/>
            </a:lvl6pPr>
            <a:lvl7pPr>
              <a:defRPr sz="4546"/>
            </a:lvl7pPr>
            <a:lvl8pPr>
              <a:defRPr sz="4546"/>
            </a:lvl8pPr>
            <a:lvl9pPr>
              <a:defRPr sz="4546"/>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069183" y="6335376"/>
            <a:ext cx="7035066" cy="20709089"/>
          </a:xfrm>
        </p:spPr>
        <p:txBody>
          <a:bodyPr/>
          <a:lstStyle>
            <a:lvl1pPr marL="0" indent="0">
              <a:buNone/>
              <a:defRPr sz="3197"/>
            </a:lvl1pPr>
            <a:lvl2pPr marL="1041825" indent="0">
              <a:buNone/>
              <a:defRPr sz="2748"/>
            </a:lvl2pPr>
            <a:lvl3pPr marL="2083651" indent="0">
              <a:buNone/>
              <a:defRPr sz="2298"/>
            </a:lvl3pPr>
            <a:lvl4pPr marL="3125476" indent="0">
              <a:buNone/>
              <a:defRPr sz="2048"/>
            </a:lvl4pPr>
            <a:lvl5pPr marL="4167300" indent="0">
              <a:buNone/>
              <a:defRPr sz="2048"/>
            </a:lvl5pPr>
            <a:lvl6pPr marL="5209126" indent="0">
              <a:buNone/>
              <a:defRPr sz="2048"/>
            </a:lvl6pPr>
            <a:lvl7pPr marL="6250951" indent="0">
              <a:buNone/>
              <a:defRPr sz="2048"/>
            </a:lvl7pPr>
            <a:lvl8pPr marL="7292777" indent="0">
              <a:buNone/>
              <a:defRPr sz="2048"/>
            </a:lvl8pPr>
            <a:lvl9pPr marL="8334601" indent="0">
              <a:buNone/>
              <a:defRPr sz="2048"/>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37080036-719F-B240-A648-D650FC616985}" type="datetimeFigureOut">
              <a:rPr lang="en-US"/>
              <a:pPr/>
              <a:t>8/14/24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14A3B28-F20D-5B48-B2EE-94C73E7D94F9}"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340" y="21192655"/>
            <a:ext cx="12830175" cy="2501913"/>
          </a:xfrm>
        </p:spPr>
        <p:txBody>
          <a:bodyPr anchor="b"/>
          <a:lstStyle>
            <a:lvl1pPr algn="l">
              <a:defRPr sz="4546" b="1"/>
            </a:lvl1pPr>
          </a:lstStyle>
          <a:p>
            <a:r>
              <a:rPr lang="en-GB"/>
              <a:t>Click to edit Master title style</a:t>
            </a:r>
            <a:endParaRPr lang="en-US"/>
          </a:p>
        </p:txBody>
      </p:sp>
      <p:sp>
        <p:nvSpPr>
          <p:cNvPr id="3" name="Picture Placeholder 2"/>
          <p:cNvSpPr>
            <a:spLocks noGrp="1"/>
          </p:cNvSpPr>
          <p:nvPr>
            <p:ph type="pic" idx="1"/>
          </p:nvPr>
        </p:nvSpPr>
        <p:spPr>
          <a:xfrm>
            <a:off x="4191340" y="2705149"/>
            <a:ext cx="12830175" cy="18165128"/>
          </a:xfrm>
        </p:spPr>
        <p:txBody>
          <a:bodyPr rtlCol="0">
            <a:normAutofit/>
          </a:bodyPr>
          <a:lstStyle>
            <a:lvl1pPr marL="0" indent="0">
              <a:buNone/>
              <a:defRPr sz="7293"/>
            </a:lvl1pPr>
            <a:lvl2pPr marL="1041825" indent="0">
              <a:buNone/>
              <a:defRPr sz="6393"/>
            </a:lvl2pPr>
            <a:lvl3pPr marL="2083651" indent="0">
              <a:buNone/>
              <a:defRPr sz="5444"/>
            </a:lvl3pPr>
            <a:lvl4pPr marL="3125476" indent="0">
              <a:buNone/>
              <a:defRPr sz="4546"/>
            </a:lvl4pPr>
            <a:lvl5pPr marL="4167300" indent="0">
              <a:buNone/>
              <a:defRPr sz="4546"/>
            </a:lvl5pPr>
            <a:lvl6pPr marL="5209126" indent="0">
              <a:buNone/>
              <a:defRPr sz="4546"/>
            </a:lvl6pPr>
            <a:lvl7pPr marL="6250951" indent="0">
              <a:buNone/>
              <a:defRPr sz="4546"/>
            </a:lvl7pPr>
            <a:lvl8pPr marL="7292777" indent="0">
              <a:buNone/>
              <a:defRPr sz="4546"/>
            </a:lvl8pPr>
            <a:lvl9pPr marL="8334601" indent="0">
              <a:buNone/>
              <a:defRPr sz="4546"/>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4191340" y="23694562"/>
            <a:ext cx="12830175" cy="3553130"/>
          </a:xfrm>
        </p:spPr>
        <p:txBody>
          <a:bodyPr/>
          <a:lstStyle>
            <a:lvl1pPr marL="0" indent="0">
              <a:buNone/>
              <a:defRPr sz="3197"/>
            </a:lvl1pPr>
            <a:lvl2pPr marL="1041825" indent="0">
              <a:buNone/>
              <a:defRPr sz="2748"/>
            </a:lvl2pPr>
            <a:lvl3pPr marL="2083651" indent="0">
              <a:buNone/>
              <a:defRPr sz="2298"/>
            </a:lvl3pPr>
            <a:lvl4pPr marL="3125476" indent="0">
              <a:buNone/>
              <a:defRPr sz="2048"/>
            </a:lvl4pPr>
            <a:lvl5pPr marL="4167300" indent="0">
              <a:buNone/>
              <a:defRPr sz="2048"/>
            </a:lvl5pPr>
            <a:lvl6pPr marL="5209126" indent="0">
              <a:buNone/>
              <a:defRPr sz="2048"/>
            </a:lvl6pPr>
            <a:lvl7pPr marL="6250951" indent="0">
              <a:buNone/>
              <a:defRPr sz="2048"/>
            </a:lvl7pPr>
            <a:lvl8pPr marL="7292777" indent="0">
              <a:buNone/>
              <a:defRPr sz="2048"/>
            </a:lvl8pPr>
            <a:lvl9pPr marL="8334601" indent="0">
              <a:buNone/>
              <a:defRPr sz="2048"/>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58F86665-1DE4-7841-89F5-2517F7649619}" type="datetimeFigureOut">
              <a:rPr lang="en-US"/>
              <a:pPr/>
              <a:t>8/14/24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886FC27-CF01-8541-979C-469321BFC4EA}"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2133A2D9-906F-3D46-B153-4839EAAAD95C}" type="datetimeFigureOut">
              <a:rPr lang="en-US"/>
              <a:pPr/>
              <a:t>8/14/24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B083BC-FC56-7148-86ED-BA9F6B99BDDC}"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511282" y="5347223"/>
            <a:ext cx="22501069" cy="113896472"/>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5000652" y="5347223"/>
            <a:ext cx="67154234" cy="11389647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BDE477C3-C0EE-AA48-A44C-1C0F9956B307}" type="datetimeFigureOut">
              <a:rPr lang="en-US"/>
              <a:pPr/>
              <a:t>8/14/24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43A9FB6-DE1D-FE48-B161-6C913001F044}"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69181" y="1212731"/>
            <a:ext cx="19245263" cy="5044809"/>
          </a:xfrm>
          <a:prstGeom prst="rect">
            <a:avLst/>
          </a:prstGeom>
          <a:noFill/>
          <a:ln w="9525">
            <a:noFill/>
            <a:miter lim="800000"/>
            <a:headEnd/>
            <a:tailEnd/>
          </a:ln>
        </p:spPr>
        <p:txBody>
          <a:bodyPr vert="horz" wrap="square" lIns="417177" tIns="208588" rIns="417177" bIns="208588" numCol="1" anchor="ctr" anchorCtr="0" compatLnSpc="1">
            <a:prstTxWarp prst="textNoShape">
              <a:avLst/>
            </a:prstTxWarp>
          </a:bodyPr>
          <a:lstStyle/>
          <a:p>
            <a:pPr lvl="0"/>
            <a:r>
              <a:rPr lang="en-GB"/>
              <a:t>Click to edit Master title style</a:t>
            </a:r>
            <a:endParaRPr lang="en-US"/>
          </a:p>
        </p:txBody>
      </p:sp>
      <p:sp>
        <p:nvSpPr>
          <p:cNvPr id="1027" name="Text Placeholder 2"/>
          <p:cNvSpPr>
            <a:spLocks noGrp="1"/>
          </p:cNvSpPr>
          <p:nvPr>
            <p:ph type="body" idx="1"/>
          </p:nvPr>
        </p:nvSpPr>
        <p:spPr bwMode="auto">
          <a:xfrm>
            <a:off x="1069181" y="7064964"/>
            <a:ext cx="19245263" cy="19978971"/>
          </a:xfrm>
          <a:prstGeom prst="rect">
            <a:avLst/>
          </a:prstGeom>
          <a:noFill/>
          <a:ln w="9525">
            <a:noFill/>
            <a:miter lim="800000"/>
            <a:headEnd/>
            <a:tailEnd/>
          </a:ln>
        </p:spPr>
        <p:txBody>
          <a:bodyPr vert="horz" wrap="square" lIns="417177" tIns="208588" rIns="417177" bIns="208588"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1069182" y="28061161"/>
            <a:ext cx="4989512" cy="1611669"/>
          </a:xfrm>
          <a:prstGeom prst="rect">
            <a:avLst/>
          </a:prstGeom>
        </p:spPr>
        <p:txBody>
          <a:bodyPr vert="horz" wrap="square" lIns="417177" tIns="208588" rIns="417177" bIns="208588" numCol="1" anchor="ctr" anchorCtr="0" compatLnSpc="1">
            <a:prstTxWarp prst="textNoShape">
              <a:avLst/>
            </a:prstTxWarp>
          </a:bodyPr>
          <a:lstStyle>
            <a:lvl1pPr>
              <a:defRPr sz="2748">
                <a:solidFill>
                  <a:srgbClr val="898989"/>
                </a:solidFill>
                <a:latin typeface="Calibri" charset="0"/>
              </a:defRPr>
            </a:lvl1pPr>
          </a:lstStyle>
          <a:p>
            <a:fld id="{6BBD5F2E-641E-C043-A362-3BD177E06605}" type="datetimeFigureOut">
              <a:rPr lang="en-US"/>
              <a:pPr/>
              <a:t>8/14/24</a:t>
            </a:fld>
            <a:endParaRPr lang="en-US"/>
          </a:p>
        </p:txBody>
      </p:sp>
      <p:sp>
        <p:nvSpPr>
          <p:cNvPr id="5" name="Footer Placeholder 4"/>
          <p:cNvSpPr>
            <a:spLocks noGrp="1"/>
          </p:cNvSpPr>
          <p:nvPr>
            <p:ph type="ftr" sz="quarter" idx="3"/>
          </p:nvPr>
        </p:nvSpPr>
        <p:spPr>
          <a:xfrm>
            <a:off x="7306469" y="28061161"/>
            <a:ext cx="6771481" cy="1611669"/>
          </a:xfrm>
          <a:prstGeom prst="rect">
            <a:avLst/>
          </a:prstGeom>
        </p:spPr>
        <p:txBody>
          <a:bodyPr vert="horz" lIns="417177" tIns="208588" rIns="417177" bIns="208588" rtlCol="0" anchor="ctr"/>
          <a:lstStyle>
            <a:lvl1pPr algn="ctr" defTabSz="1041825" fontAlgn="auto">
              <a:spcBef>
                <a:spcPts val="0"/>
              </a:spcBef>
              <a:spcAft>
                <a:spcPts val="0"/>
              </a:spcAft>
              <a:defRPr sz="2748">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15324932" y="28061161"/>
            <a:ext cx="4989512" cy="1611669"/>
          </a:xfrm>
          <a:prstGeom prst="rect">
            <a:avLst/>
          </a:prstGeom>
        </p:spPr>
        <p:txBody>
          <a:bodyPr vert="horz" wrap="square" lIns="417177" tIns="208588" rIns="417177" bIns="208588" numCol="1" anchor="ctr" anchorCtr="0" compatLnSpc="1">
            <a:prstTxWarp prst="textNoShape">
              <a:avLst/>
            </a:prstTxWarp>
          </a:bodyPr>
          <a:lstStyle>
            <a:lvl1pPr algn="r">
              <a:defRPr sz="2748">
                <a:solidFill>
                  <a:srgbClr val="898989"/>
                </a:solidFill>
                <a:latin typeface="Calibri" charset="0"/>
              </a:defRPr>
            </a:lvl1pPr>
          </a:lstStyle>
          <a:p>
            <a:fld id="{E03839B3-8845-3D4E-95EA-6029336C47FC}"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41078" rtl="0" eaLnBrk="1" fontAlgn="base" hangingPunct="1">
        <a:spcBef>
          <a:spcPct val="0"/>
        </a:spcBef>
        <a:spcAft>
          <a:spcPct val="0"/>
        </a:spcAft>
        <a:defRPr sz="10040" kern="1200">
          <a:solidFill>
            <a:schemeClr val="tx1"/>
          </a:solidFill>
          <a:latin typeface="+mj-lt"/>
          <a:ea typeface="+mj-ea"/>
          <a:cs typeface="+mj-cs"/>
        </a:defRPr>
      </a:lvl1pPr>
      <a:lvl2pPr algn="ctr" defTabSz="1041078" rtl="0" eaLnBrk="1" fontAlgn="base" hangingPunct="1">
        <a:spcBef>
          <a:spcPct val="0"/>
        </a:spcBef>
        <a:spcAft>
          <a:spcPct val="0"/>
        </a:spcAft>
        <a:defRPr sz="10040">
          <a:solidFill>
            <a:schemeClr val="tx1"/>
          </a:solidFill>
          <a:latin typeface="Calibri" charset="0"/>
        </a:defRPr>
      </a:lvl2pPr>
      <a:lvl3pPr algn="ctr" defTabSz="1041078" rtl="0" eaLnBrk="1" fontAlgn="base" hangingPunct="1">
        <a:spcBef>
          <a:spcPct val="0"/>
        </a:spcBef>
        <a:spcAft>
          <a:spcPct val="0"/>
        </a:spcAft>
        <a:defRPr sz="10040">
          <a:solidFill>
            <a:schemeClr val="tx1"/>
          </a:solidFill>
          <a:latin typeface="Calibri" charset="0"/>
        </a:defRPr>
      </a:lvl3pPr>
      <a:lvl4pPr algn="ctr" defTabSz="1041078" rtl="0" eaLnBrk="1" fontAlgn="base" hangingPunct="1">
        <a:spcBef>
          <a:spcPct val="0"/>
        </a:spcBef>
        <a:spcAft>
          <a:spcPct val="0"/>
        </a:spcAft>
        <a:defRPr sz="10040">
          <a:solidFill>
            <a:schemeClr val="tx1"/>
          </a:solidFill>
          <a:latin typeface="Calibri" charset="0"/>
        </a:defRPr>
      </a:lvl4pPr>
      <a:lvl5pPr algn="ctr" defTabSz="1041078" rtl="0" eaLnBrk="1" fontAlgn="base" hangingPunct="1">
        <a:spcBef>
          <a:spcPct val="0"/>
        </a:spcBef>
        <a:spcAft>
          <a:spcPct val="0"/>
        </a:spcAft>
        <a:defRPr sz="10040">
          <a:solidFill>
            <a:schemeClr val="tx1"/>
          </a:solidFill>
          <a:latin typeface="Calibri" charset="0"/>
        </a:defRPr>
      </a:lvl5pPr>
      <a:lvl6pPr marL="228355" algn="ctr" defTabSz="1041078" rtl="0" eaLnBrk="1" fontAlgn="base" hangingPunct="1">
        <a:spcBef>
          <a:spcPct val="0"/>
        </a:spcBef>
        <a:spcAft>
          <a:spcPct val="0"/>
        </a:spcAft>
        <a:defRPr sz="10040">
          <a:solidFill>
            <a:schemeClr val="tx1"/>
          </a:solidFill>
          <a:latin typeface="Calibri" charset="0"/>
        </a:defRPr>
      </a:lvl6pPr>
      <a:lvl7pPr marL="456711" algn="ctr" defTabSz="1041078" rtl="0" eaLnBrk="1" fontAlgn="base" hangingPunct="1">
        <a:spcBef>
          <a:spcPct val="0"/>
        </a:spcBef>
        <a:spcAft>
          <a:spcPct val="0"/>
        </a:spcAft>
        <a:defRPr sz="10040">
          <a:solidFill>
            <a:schemeClr val="tx1"/>
          </a:solidFill>
          <a:latin typeface="Calibri" charset="0"/>
        </a:defRPr>
      </a:lvl7pPr>
      <a:lvl8pPr marL="685066" algn="ctr" defTabSz="1041078" rtl="0" eaLnBrk="1" fontAlgn="base" hangingPunct="1">
        <a:spcBef>
          <a:spcPct val="0"/>
        </a:spcBef>
        <a:spcAft>
          <a:spcPct val="0"/>
        </a:spcAft>
        <a:defRPr sz="10040">
          <a:solidFill>
            <a:schemeClr val="tx1"/>
          </a:solidFill>
          <a:latin typeface="Calibri" charset="0"/>
        </a:defRPr>
      </a:lvl8pPr>
      <a:lvl9pPr marL="913422" algn="ctr" defTabSz="1041078" rtl="0" eaLnBrk="1" fontAlgn="base" hangingPunct="1">
        <a:spcBef>
          <a:spcPct val="0"/>
        </a:spcBef>
        <a:spcAft>
          <a:spcPct val="0"/>
        </a:spcAft>
        <a:defRPr sz="10040">
          <a:solidFill>
            <a:schemeClr val="tx1"/>
          </a:solidFill>
          <a:latin typeface="Calibri" charset="0"/>
        </a:defRPr>
      </a:lvl9pPr>
    </p:titleStyle>
    <p:bodyStyle>
      <a:lvl1pPr marL="781007" indent="-781007" algn="l" defTabSz="1041078" rtl="0" eaLnBrk="1" fontAlgn="base" hangingPunct="1">
        <a:spcBef>
          <a:spcPct val="20000"/>
        </a:spcBef>
        <a:spcAft>
          <a:spcPct val="0"/>
        </a:spcAft>
        <a:buFont typeface="Arial" charset="0"/>
        <a:buChar char="•"/>
        <a:defRPr sz="7293" kern="1200">
          <a:solidFill>
            <a:schemeClr val="tx1"/>
          </a:solidFill>
          <a:latin typeface="+mn-lt"/>
          <a:ea typeface="+mn-ea"/>
          <a:cs typeface="+mn-cs"/>
        </a:defRPr>
      </a:lvl1pPr>
      <a:lvl2pPr marL="1692842" indent="-650972" algn="l" defTabSz="1041078" rtl="0" eaLnBrk="1" fontAlgn="base" hangingPunct="1">
        <a:spcBef>
          <a:spcPct val="20000"/>
        </a:spcBef>
        <a:spcAft>
          <a:spcPct val="0"/>
        </a:spcAft>
        <a:buFont typeface="Arial" charset="0"/>
        <a:buChar char="–"/>
        <a:defRPr sz="6393" kern="1200">
          <a:solidFill>
            <a:schemeClr val="tx1"/>
          </a:solidFill>
          <a:latin typeface="+mn-lt"/>
          <a:ea typeface="ＭＳ Ｐゴシック" charset="-128"/>
          <a:cs typeface="+mn-cs"/>
        </a:defRPr>
      </a:lvl2pPr>
      <a:lvl3pPr marL="2603884" indent="-520142" algn="l" defTabSz="1041078" rtl="0" eaLnBrk="1" fontAlgn="base" hangingPunct="1">
        <a:spcBef>
          <a:spcPct val="20000"/>
        </a:spcBef>
        <a:spcAft>
          <a:spcPct val="0"/>
        </a:spcAft>
        <a:buFont typeface="Arial" charset="0"/>
        <a:buChar char="•"/>
        <a:defRPr sz="5444" kern="1200">
          <a:solidFill>
            <a:schemeClr val="tx1"/>
          </a:solidFill>
          <a:latin typeface="+mn-lt"/>
          <a:ea typeface="ＭＳ Ｐゴシック" charset="-128"/>
          <a:cs typeface="+mn-cs"/>
        </a:defRPr>
      </a:lvl3pPr>
      <a:lvl4pPr marL="3645755" indent="-520142" algn="l" defTabSz="1041078" rtl="0" eaLnBrk="1" fontAlgn="base" hangingPunct="1">
        <a:spcBef>
          <a:spcPct val="20000"/>
        </a:spcBef>
        <a:spcAft>
          <a:spcPct val="0"/>
        </a:spcAft>
        <a:buFont typeface="Arial" charset="0"/>
        <a:buChar char="–"/>
        <a:defRPr sz="4546" kern="1200">
          <a:solidFill>
            <a:schemeClr val="tx1"/>
          </a:solidFill>
          <a:latin typeface="+mn-lt"/>
          <a:ea typeface="ＭＳ Ｐゴシック" charset="-128"/>
          <a:cs typeface="+mn-cs"/>
        </a:defRPr>
      </a:lvl4pPr>
      <a:lvl5pPr marL="4687627" indent="-520142" algn="l" defTabSz="1041078" rtl="0" eaLnBrk="1" fontAlgn="base" hangingPunct="1">
        <a:spcBef>
          <a:spcPct val="20000"/>
        </a:spcBef>
        <a:spcAft>
          <a:spcPct val="0"/>
        </a:spcAft>
        <a:buFont typeface="Arial" charset="0"/>
        <a:buChar char="»"/>
        <a:defRPr sz="4546" kern="1200">
          <a:solidFill>
            <a:schemeClr val="tx1"/>
          </a:solidFill>
          <a:latin typeface="+mn-lt"/>
          <a:ea typeface="ＭＳ Ｐゴシック" charset="-128"/>
          <a:cs typeface="+mn-cs"/>
        </a:defRPr>
      </a:lvl5pPr>
      <a:lvl6pPr marL="5730040" indent="-520913" algn="l" defTabSz="1041825" rtl="0" eaLnBrk="1" latinLnBrk="0" hangingPunct="1">
        <a:spcBef>
          <a:spcPct val="20000"/>
        </a:spcBef>
        <a:buFont typeface="Arial"/>
        <a:buChar char="•"/>
        <a:defRPr sz="4546" kern="1200">
          <a:solidFill>
            <a:schemeClr val="tx1"/>
          </a:solidFill>
          <a:latin typeface="+mn-lt"/>
          <a:ea typeface="+mn-ea"/>
          <a:cs typeface="+mn-cs"/>
        </a:defRPr>
      </a:lvl6pPr>
      <a:lvl7pPr marL="6771864" indent="-520913" algn="l" defTabSz="1041825" rtl="0" eaLnBrk="1" latinLnBrk="0" hangingPunct="1">
        <a:spcBef>
          <a:spcPct val="20000"/>
        </a:spcBef>
        <a:buFont typeface="Arial"/>
        <a:buChar char="•"/>
        <a:defRPr sz="4546" kern="1200">
          <a:solidFill>
            <a:schemeClr val="tx1"/>
          </a:solidFill>
          <a:latin typeface="+mn-lt"/>
          <a:ea typeface="+mn-ea"/>
          <a:cs typeface="+mn-cs"/>
        </a:defRPr>
      </a:lvl7pPr>
      <a:lvl8pPr marL="7813690" indent="-520913" algn="l" defTabSz="1041825" rtl="0" eaLnBrk="1" latinLnBrk="0" hangingPunct="1">
        <a:spcBef>
          <a:spcPct val="20000"/>
        </a:spcBef>
        <a:buFont typeface="Arial"/>
        <a:buChar char="•"/>
        <a:defRPr sz="4546" kern="1200">
          <a:solidFill>
            <a:schemeClr val="tx1"/>
          </a:solidFill>
          <a:latin typeface="+mn-lt"/>
          <a:ea typeface="+mn-ea"/>
          <a:cs typeface="+mn-cs"/>
        </a:defRPr>
      </a:lvl8pPr>
      <a:lvl9pPr marL="8855515" indent="-520913" algn="l" defTabSz="1041825" rtl="0" eaLnBrk="1" latinLnBrk="0" hangingPunct="1">
        <a:spcBef>
          <a:spcPct val="20000"/>
        </a:spcBef>
        <a:buFont typeface="Arial"/>
        <a:buChar char="•"/>
        <a:defRPr sz="4546" kern="1200">
          <a:solidFill>
            <a:schemeClr val="tx1"/>
          </a:solidFill>
          <a:latin typeface="+mn-lt"/>
          <a:ea typeface="+mn-ea"/>
          <a:cs typeface="+mn-cs"/>
        </a:defRPr>
      </a:lvl9pPr>
    </p:bodyStyle>
    <p:otherStyle>
      <a:defPPr>
        <a:defRPr lang="en-US"/>
      </a:defPPr>
      <a:lvl1pPr marL="0" algn="l" defTabSz="1041825" rtl="0" eaLnBrk="1" latinLnBrk="0" hangingPunct="1">
        <a:defRPr sz="4096" kern="1200">
          <a:solidFill>
            <a:schemeClr val="tx1"/>
          </a:solidFill>
          <a:latin typeface="+mn-lt"/>
          <a:ea typeface="+mn-ea"/>
          <a:cs typeface="+mn-cs"/>
        </a:defRPr>
      </a:lvl1pPr>
      <a:lvl2pPr marL="1041825" algn="l" defTabSz="1041825" rtl="0" eaLnBrk="1" latinLnBrk="0" hangingPunct="1">
        <a:defRPr sz="4096" kern="1200">
          <a:solidFill>
            <a:schemeClr val="tx1"/>
          </a:solidFill>
          <a:latin typeface="+mn-lt"/>
          <a:ea typeface="+mn-ea"/>
          <a:cs typeface="+mn-cs"/>
        </a:defRPr>
      </a:lvl2pPr>
      <a:lvl3pPr marL="2083651" algn="l" defTabSz="1041825" rtl="0" eaLnBrk="1" latinLnBrk="0" hangingPunct="1">
        <a:defRPr sz="4096" kern="1200">
          <a:solidFill>
            <a:schemeClr val="tx1"/>
          </a:solidFill>
          <a:latin typeface="+mn-lt"/>
          <a:ea typeface="+mn-ea"/>
          <a:cs typeface="+mn-cs"/>
        </a:defRPr>
      </a:lvl3pPr>
      <a:lvl4pPr marL="3125476" algn="l" defTabSz="1041825" rtl="0" eaLnBrk="1" latinLnBrk="0" hangingPunct="1">
        <a:defRPr sz="4096" kern="1200">
          <a:solidFill>
            <a:schemeClr val="tx1"/>
          </a:solidFill>
          <a:latin typeface="+mn-lt"/>
          <a:ea typeface="+mn-ea"/>
          <a:cs typeface="+mn-cs"/>
        </a:defRPr>
      </a:lvl4pPr>
      <a:lvl5pPr marL="4167300" algn="l" defTabSz="1041825" rtl="0" eaLnBrk="1" latinLnBrk="0" hangingPunct="1">
        <a:defRPr sz="4096" kern="1200">
          <a:solidFill>
            <a:schemeClr val="tx1"/>
          </a:solidFill>
          <a:latin typeface="+mn-lt"/>
          <a:ea typeface="+mn-ea"/>
          <a:cs typeface="+mn-cs"/>
        </a:defRPr>
      </a:lvl5pPr>
      <a:lvl6pPr marL="5209126" algn="l" defTabSz="1041825" rtl="0" eaLnBrk="1" latinLnBrk="0" hangingPunct="1">
        <a:defRPr sz="4096" kern="1200">
          <a:solidFill>
            <a:schemeClr val="tx1"/>
          </a:solidFill>
          <a:latin typeface="+mn-lt"/>
          <a:ea typeface="+mn-ea"/>
          <a:cs typeface="+mn-cs"/>
        </a:defRPr>
      </a:lvl6pPr>
      <a:lvl7pPr marL="6250951" algn="l" defTabSz="1041825" rtl="0" eaLnBrk="1" latinLnBrk="0" hangingPunct="1">
        <a:defRPr sz="4096" kern="1200">
          <a:solidFill>
            <a:schemeClr val="tx1"/>
          </a:solidFill>
          <a:latin typeface="+mn-lt"/>
          <a:ea typeface="+mn-ea"/>
          <a:cs typeface="+mn-cs"/>
        </a:defRPr>
      </a:lvl7pPr>
      <a:lvl8pPr marL="7292777" algn="l" defTabSz="1041825" rtl="0" eaLnBrk="1" latinLnBrk="0" hangingPunct="1">
        <a:defRPr sz="4096" kern="1200">
          <a:solidFill>
            <a:schemeClr val="tx1"/>
          </a:solidFill>
          <a:latin typeface="+mn-lt"/>
          <a:ea typeface="+mn-ea"/>
          <a:cs typeface="+mn-cs"/>
        </a:defRPr>
      </a:lvl8pPr>
      <a:lvl9pPr marL="8334601" algn="l" defTabSz="1041825" rtl="0" eaLnBrk="1" latinLnBrk="0" hangingPunct="1">
        <a:defRPr sz="409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18" Type="http://schemas.openxmlformats.org/officeDocument/2006/relationships/image" Target="../media/image16.emf"/><Relationship Id="rId3" Type="http://schemas.openxmlformats.org/officeDocument/2006/relationships/image" Target="../media/image1.emf"/><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emf"/><Relationship Id="rId25" Type="http://schemas.openxmlformats.org/officeDocument/2006/relationships/image" Target="../media/image23.png"/><Relationship Id="rId2" Type="http://schemas.microsoft.com/office/2018/10/relationships/comments" Target="../comments/modernComment_106_FA2D8990.xml"/><Relationship Id="rId16" Type="http://schemas.openxmlformats.org/officeDocument/2006/relationships/image" Target="../media/image14.emf"/><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sv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emf"/><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 Box 7">
            <a:extLst>
              <a:ext uri="{FF2B5EF4-FFF2-40B4-BE49-F238E27FC236}">
                <a16:creationId xmlns:a16="http://schemas.microsoft.com/office/drawing/2014/main" id="{BDB0937A-98E4-6174-FB41-88845530A52E}"/>
              </a:ext>
            </a:extLst>
          </p:cNvPr>
          <p:cNvSpPr txBox="1">
            <a:spLocks noChangeArrowheads="1"/>
          </p:cNvSpPr>
          <p:nvPr/>
        </p:nvSpPr>
        <p:spPr bwMode="auto">
          <a:xfrm>
            <a:off x="210457" y="7403053"/>
            <a:ext cx="20937684" cy="6766504"/>
          </a:xfrm>
          <a:prstGeom prst="rect">
            <a:avLst/>
          </a:prstGeom>
          <a:solidFill>
            <a:schemeClr val="bg1"/>
          </a:solidFill>
          <a:ln w="38100">
            <a:solidFill>
              <a:srgbClr val="000000"/>
            </a:solidFill>
            <a:round/>
            <a:headEnd/>
            <a:tailEnd/>
          </a:ln>
        </p:spPr>
        <p:txBody>
          <a:bodyPr lIns="508542" tIns="254271" rIns="254271" bIns="254271"/>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eaLnBrk="1" hangingPunct="1">
              <a:spcBef>
                <a:spcPct val="10000"/>
              </a:spcBef>
              <a:spcAft>
                <a:spcPts val="1500"/>
              </a:spcAft>
            </a:pPr>
            <a:endParaRPr lang="en-US" altLang="zh-CN" sz="2400" dirty="0">
              <a:latin typeface="Arial" panose="020B0604020202020204" pitchFamily="34" charset="0"/>
              <a:cs typeface="Arial" panose="020B0604020202020204" pitchFamily="34" charset="0"/>
            </a:endParaRPr>
          </a:p>
        </p:txBody>
      </p:sp>
      <p:sp>
        <p:nvSpPr>
          <p:cNvPr id="89" name="Left-right Arrow 88">
            <a:extLst>
              <a:ext uri="{FF2B5EF4-FFF2-40B4-BE49-F238E27FC236}">
                <a16:creationId xmlns:a16="http://schemas.microsoft.com/office/drawing/2014/main" id="{3EA147C9-2627-D962-AC2C-4725F4C3DB85}"/>
              </a:ext>
            </a:extLst>
          </p:cNvPr>
          <p:cNvSpPr/>
          <p:nvPr/>
        </p:nvSpPr>
        <p:spPr>
          <a:xfrm>
            <a:off x="3524164" y="10163025"/>
            <a:ext cx="1124454" cy="627207"/>
          </a:xfrm>
          <a:prstGeom prst="leftRightArrow">
            <a:avLst/>
          </a:prstGeom>
          <a:gradFill>
            <a:gsLst>
              <a:gs pos="0">
                <a:schemeClr val="accent6">
                  <a:tint val="50000"/>
                  <a:satMod val="300000"/>
                  <a:alpha val="0"/>
                </a:schemeClr>
              </a:gs>
              <a:gs pos="0">
                <a:schemeClr val="tx1"/>
              </a:gs>
              <a:gs pos="3000">
                <a:schemeClr val="accent6">
                  <a:tint val="15000"/>
                  <a:satMod val="350000"/>
                </a:schemeClr>
              </a:gs>
            </a:gsLs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38" name="Text Box 7">
            <a:extLst>
              <a:ext uri="{FF2B5EF4-FFF2-40B4-BE49-F238E27FC236}">
                <a16:creationId xmlns:a16="http://schemas.microsoft.com/office/drawing/2014/main" id="{05FDDA6B-F6FF-CF81-472B-FB548266D3E0}"/>
              </a:ext>
            </a:extLst>
          </p:cNvPr>
          <p:cNvSpPr txBox="1">
            <a:spLocks noChangeArrowheads="1"/>
          </p:cNvSpPr>
          <p:nvPr/>
        </p:nvSpPr>
        <p:spPr bwMode="auto">
          <a:xfrm>
            <a:off x="191486" y="3857804"/>
            <a:ext cx="20937684" cy="2932352"/>
          </a:xfrm>
          <a:prstGeom prst="rect">
            <a:avLst/>
          </a:prstGeom>
          <a:solidFill>
            <a:schemeClr val="bg1"/>
          </a:solidFill>
          <a:ln w="38100">
            <a:solidFill>
              <a:srgbClr val="000000"/>
            </a:solidFill>
            <a:round/>
            <a:headEnd/>
            <a:tailEnd/>
          </a:ln>
        </p:spPr>
        <p:txBody>
          <a:bodyPr lIns="508542" tIns="254271" rIns="254271" bIns="254271"/>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eaLnBrk="1" hangingPunct="1">
              <a:spcBef>
                <a:spcPct val="10000"/>
              </a:spcBef>
              <a:spcAft>
                <a:spcPts val="0"/>
              </a:spcAft>
            </a:pPr>
            <a:r>
              <a:rPr lang="en-US" altLang="ja-JP" sz="2800" b="1" dirty="0">
                <a:latin typeface="Arial Rounded MT Bold" panose="020F0704030504030204" pitchFamily="34" charset="77"/>
                <a:cs typeface="Arial" panose="020B0604020202020204" pitchFamily="34" charset="0"/>
              </a:rPr>
              <a:t>Background</a:t>
            </a:r>
          </a:p>
          <a:p>
            <a:pPr eaLnBrk="1" hangingPunct="1">
              <a:spcBef>
                <a:spcPct val="10000"/>
              </a:spcBef>
              <a:spcAft>
                <a:spcPts val="0"/>
              </a:spcAft>
            </a:pPr>
            <a:r>
              <a:rPr lang="en-US" altLang="ja-JP" sz="2400" dirty="0">
                <a:latin typeface="Arial" panose="020B0604020202020204" pitchFamily="34" charset="0"/>
                <a:cs typeface="Arial" panose="020B0604020202020204" pitchFamily="34" charset="0"/>
              </a:rPr>
              <a:t>Spatial transcriptomics (ST) has offered </a:t>
            </a:r>
            <a:r>
              <a:rPr lang="en-US" altLang="zh-CN" sz="2400" dirty="0">
                <a:latin typeface="Arial" panose="020B0604020202020204" pitchFamily="34" charset="0"/>
                <a:cs typeface="Arial" panose="020B0604020202020204" pitchFamily="34" charset="0"/>
              </a:rPr>
              <a:t>unprecedented opportunities to study disease heterogeneity at spatial level. With the latest deep learning framework, we generate a large number of </a:t>
            </a:r>
            <a:r>
              <a:rPr lang="en-US" altLang="zh-CN" sz="2400" i="1" dirty="0">
                <a:latin typeface="Arial" panose="020B0604020202020204" pitchFamily="34" charset="0"/>
                <a:cs typeface="Arial" panose="020B0604020202020204" pitchFamily="34" charset="0"/>
              </a:rPr>
              <a:t>in-silico </a:t>
            </a:r>
            <a:r>
              <a:rPr lang="en-US" altLang="zh-CN" sz="2400" dirty="0">
                <a:latin typeface="Arial" panose="020B0604020202020204" pitchFamily="34" charset="0"/>
                <a:cs typeface="Arial" panose="020B0604020202020204" pitchFamily="34" charset="0"/>
              </a:rPr>
              <a:t>single-cell spatial gene expression using H&amp;E histology of TCGA breast cancer patients.</a:t>
            </a:r>
          </a:p>
          <a:p>
            <a:pPr eaLnBrk="1" hangingPunct="1">
              <a:spcBef>
                <a:spcPct val="10000"/>
              </a:spcBef>
              <a:spcAft>
                <a:spcPts val="0"/>
              </a:spcAft>
            </a:pPr>
            <a:endParaRPr lang="en-US" altLang="zh-CN" sz="2400" dirty="0">
              <a:latin typeface="Arial" panose="020B0604020202020204" pitchFamily="34" charset="0"/>
              <a:cs typeface="Arial" panose="020B0604020202020204" pitchFamily="34" charset="0"/>
            </a:endParaRPr>
          </a:p>
          <a:p>
            <a:pPr eaLnBrk="1" hangingPunct="1">
              <a:spcBef>
                <a:spcPct val="10000"/>
              </a:spcBef>
              <a:spcAft>
                <a:spcPts val="0"/>
              </a:spcAft>
            </a:pPr>
            <a:r>
              <a:rPr lang="en-US" altLang="zh-CN" sz="2800" b="1" dirty="0">
                <a:latin typeface="Arial Rounded MT Bold" panose="020F0704030504030204" pitchFamily="34" charset="77"/>
                <a:cs typeface="Arial" panose="020B0604020202020204" pitchFamily="34" charset="0"/>
              </a:rPr>
              <a:t>Aim</a:t>
            </a:r>
          </a:p>
          <a:p>
            <a:pPr eaLnBrk="1" hangingPunct="1">
              <a:spcBef>
                <a:spcPct val="10000"/>
              </a:spcBef>
              <a:spcAft>
                <a:spcPts val="1500"/>
              </a:spcAft>
            </a:pPr>
            <a:r>
              <a:rPr lang="en-US" altLang="zh-CN" sz="2400" dirty="0">
                <a:latin typeface="Arial" panose="020B0604020202020204" pitchFamily="34" charset="0"/>
                <a:cs typeface="Arial" panose="020B0604020202020204" pitchFamily="34" charset="0"/>
              </a:rPr>
              <a:t>To investigate how different each spatial metric is in data integration of genomic profiles and single-cell spatial gene expression.</a:t>
            </a:r>
          </a:p>
        </p:txBody>
      </p:sp>
      <p:sp>
        <p:nvSpPr>
          <p:cNvPr id="59" name="Rectangle 58">
            <a:extLst>
              <a:ext uri="{FF2B5EF4-FFF2-40B4-BE49-F238E27FC236}">
                <a16:creationId xmlns:a16="http://schemas.microsoft.com/office/drawing/2014/main" id="{2BA46CF4-9649-1E9A-2C44-17D0A07A8EC3}"/>
              </a:ext>
            </a:extLst>
          </p:cNvPr>
          <p:cNvSpPr>
            <a:spLocks noChangeArrowheads="1"/>
          </p:cNvSpPr>
          <p:nvPr/>
        </p:nvSpPr>
        <p:spPr bwMode="auto">
          <a:xfrm>
            <a:off x="191486" y="219920"/>
            <a:ext cx="20937683" cy="2945471"/>
          </a:xfrm>
          <a:prstGeom prst="rect">
            <a:avLst/>
          </a:prstGeom>
          <a:solidFill>
            <a:schemeClr val="accent1"/>
          </a:solidFill>
          <a:ln w="9525">
            <a:noFill/>
            <a:miter lim="800000"/>
            <a:headEnd/>
            <a:tailEnd/>
          </a:ln>
          <a:effectLst/>
        </p:spPr>
        <p:txBody>
          <a:bodyPr anchor="ctr">
            <a:prstTxWarp prst="textNoShape">
              <a:avLst/>
            </a:prstTxWarp>
          </a:bodyPr>
          <a:lstStyle/>
          <a:p>
            <a:pPr algn="ctr" defTabSz="1475137" fontAlgn="auto">
              <a:spcBef>
                <a:spcPts val="0"/>
              </a:spcBef>
              <a:spcAft>
                <a:spcPts val="0"/>
              </a:spcAft>
              <a:defRPr/>
            </a:pPr>
            <a:endParaRPr lang="en-US" sz="4103" dirty="0">
              <a:solidFill>
                <a:schemeClr val="lt1"/>
              </a:solidFill>
              <a:highlight>
                <a:srgbClr val="E64626"/>
              </a:highlight>
              <a:latin typeface="+mn-lt"/>
              <a:ea typeface="+mn-ea"/>
              <a:cs typeface="+mn-cs"/>
            </a:endParaRPr>
          </a:p>
        </p:txBody>
      </p:sp>
      <p:pic>
        <p:nvPicPr>
          <p:cNvPr id="61" name="Picture 60">
            <a:extLst>
              <a:ext uri="{FF2B5EF4-FFF2-40B4-BE49-F238E27FC236}">
                <a16:creationId xmlns:a16="http://schemas.microsoft.com/office/drawing/2014/main" id="{7FAB4DD0-7DE2-1827-2025-A5B0130520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016" y="894628"/>
            <a:ext cx="4661639" cy="1612416"/>
          </a:xfrm>
          <a:prstGeom prst="rect">
            <a:avLst/>
          </a:prstGeom>
        </p:spPr>
      </p:pic>
      <p:sp>
        <p:nvSpPr>
          <p:cNvPr id="63" name="Title Placeholder 1">
            <a:extLst>
              <a:ext uri="{FF2B5EF4-FFF2-40B4-BE49-F238E27FC236}">
                <a16:creationId xmlns:a16="http://schemas.microsoft.com/office/drawing/2014/main" id="{B9BC6288-5B38-22BC-00C5-AC74977897AA}"/>
              </a:ext>
            </a:extLst>
          </p:cNvPr>
          <p:cNvSpPr txBox="1">
            <a:spLocks/>
          </p:cNvSpPr>
          <p:nvPr/>
        </p:nvSpPr>
        <p:spPr>
          <a:xfrm>
            <a:off x="4381640" y="317321"/>
            <a:ext cx="16536416" cy="2792878"/>
          </a:xfrm>
          <a:prstGeom prst="rect">
            <a:avLst/>
          </a:prstGeom>
        </p:spPr>
        <p:txBody>
          <a:bodyPr lIns="687360" tIns="151033" rIns="302066" bIns="151033" anchor="ctr">
            <a:prstTxWarp prst="textNoShape">
              <a:avLst/>
            </a:prstTxWarp>
            <a:normAutofit fontScale="25000" lnSpcReduction="20000"/>
          </a:bodyPr>
          <a:lstStyle/>
          <a:p>
            <a:pPr algn="ctr" defTabSz="1475137" fontAlgn="auto">
              <a:lnSpc>
                <a:spcPct val="120000"/>
              </a:lnSpc>
              <a:spcAft>
                <a:spcPts val="0"/>
              </a:spcAft>
              <a:defRPr/>
            </a:pPr>
            <a:r>
              <a:rPr lang="en-US" sz="16000" b="1" dirty="0">
                <a:solidFill>
                  <a:schemeClr val="bg1"/>
                </a:solidFill>
                <a:latin typeface="Arial Rounded MT Bold" panose="020F0704030504030204" pitchFamily="34" charset="77"/>
                <a:ea typeface="+mn-ea"/>
                <a:cs typeface="+mn-cs"/>
              </a:rPr>
              <a:t>Uncovering genetic effects on single-cell spatial pattern using multiple spatial metrics</a:t>
            </a:r>
          </a:p>
          <a:p>
            <a:pPr algn="ctr">
              <a:lnSpc>
                <a:spcPct val="120000"/>
              </a:lnSpc>
            </a:pPr>
            <a:r>
              <a:rPr lang="en-US" sz="9600" dirty="0" err="1">
                <a:latin typeface="+mn-lt"/>
                <a:cs typeface="Arial"/>
              </a:rPr>
              <a:t>Beilei</a:t>
            </a:r>
            <a:r>
              <a:rPr lang="en-US" sz="9600" dirty="0">
                <a:latin typeface="+mn-lt"/>
                <a:cs typeface="Arial"/>
              </a:rPr>
              <a:t> Bian</a:t>
            </a:r>
            <a:r>
              <a:rPr lang="en-US" sz="9600" baseline="30000" dirty="0">
                <a:latin typeface="+mn-lt"/>
                <a:cs typeface="Arial"/>
              </a:rPr>
              <a:t>1</a:t>
            </a:r>
            <a:r>
              <a:rPr lang="en-US" sz="9600" dirty="0">
                <a:latin typeface="+mn-lt"/>
                <a:cs typeface="Arial"/>
              </a:rPr>
              <a:t>, Yue Cao</a:t>
            </a:r>
            <a:r>
              <a:rPr lang="en-US" sz="9600" baseline="30000" dirty="0">
                <a:latin typeface="+mn-lt"/>
                <a:cs typeface="Arial"/>
              </a:rPr>
              <a:t>1</a:t>
            </a:r>
            <a:r>
              <a:rPr lang="en-US" sz="9600" dirty="0">
                <a:latin typeface="+mn-lt"/>
                <a:cs typeface="Arial"/>
              </a:rPr>
              <a:t>, Helen Fu</a:t>
            </a:r>
            <a:r>
              <a:rPr lang="en-US" sz="9600" baseline="30000" dirty="0">
                <a:latin typeface="+mn-lt"/>
                <a:cs typeface="Arial"/>
              </a:rPr>
              <a:t>1</a:t>
            </a:r>
            <a:r>
              <a:rPr lang="en-US" sz="9600" dirty="0">
                <a:latin typeface="+mn-lt"/>
                <a:cs typeface="Arial"/>
              </a:rPr>
              <a:t> and Jean Y. H. Yang</a:t>
            </a:r>
            <a:r>
              <a:rPr lang="en-US" sz="9600" baseline="30000" dirty="0">
                <a:latin typeface="+mn-lt"/>
                <a:cs typeface="Arial"/>
              </a:rPr>
              <a:t>1*</a:t>
            </a:r>
          </a:p>
          <a:p>
            <a:pPr algn="ctr">
              <a:lnSpc>
                <a:spcPct val="120000"/>
              </a:lnSpc>
            </a:pPr>
            <a:r>
              <a:rPr lang="en-US" sz="9600" baseline="30000" dirty="0">
                <a:latin typeface="+mn-lt"/>
                <a:cs typeface="Arial"/>
              </a:rPr>
              <a:t>1</a:t>
            </a:r>
            <a:r>
              <a:rPr lang="en-US" sz="9600" dirty="0">
                <a:latin typeface="+mn-lt"/>
                <a:cs typeface="Arial"/>
              </a:rPr>
              <a:t> School of Mathematics and Statistics, Faculty of Science, the University of Sydney, Australia</a:t>
            </a:r>
          </a:p>
          <a:p>
            <a:pPr algn="ctr">
              <a:lnSpc>
                <a:spcPct val="120000"/>
              </a:lnSpc>
            </a:pPr>
            <a:r>
              <a:rPr lang="en-US" sz="9600" dirty="0">
                <a:latin typeface="+mn-lt"/>
                <a:ea typeface="NanumMyeongjo" pitchFamily="2" charset="-127"/>
              </a:rPr>
              <a:t>*Corresponding author (</a:t>
            </a:r>
            <a:r>
              <a:rPr lang="en-US" sz="9600" dirty="0" err="1">
                <a:latin typeface="+mn-lt"/>
                <a:ea typeface="NanumMyeongjo" pitchFamily="2" charset="-127"/>
              </a:rPr>
              <a:t>jean.yang@sydney.edu.au</a:t>
            </a:r>
            <a:r>
              <a:rPr lang="en-US" sz="9600" dirty="0">
                <a:latin typeface="+mn-lt"/>
                <a:ea typeface="NanumMyeongjo" pitchFamily="2" charset="-127"/>
              </a:rPr>
              <a:t>)</a:t>
            </a:r>
          </a:p>
        </p:txBody>
      </p:sp>
      <p:sp>
        <p:nvSpPr>
          <p:cNvPr id="2" name="Rectangle 1">
            <a:extLst>
              <a:ext uri="{FF2B5EF4-FFF2-40B4-BE49-F238E27FC236}">
                <a16:creationId xmlns:a16="http://schemas.microsoft.com/office/drawing/2014/main" id="{2EE59D7A-C7BE-5896-E670-4EE563675A88}"/>
              </a:ext>
            </a:extLst>
          </p:cNvPr>
          <p:cNvSpPr/>
          <p:nvPr/>
        </p:nvSpPr>
        <p:spPr>
          <a:xfrm>
            <a:off x="191486" y="3204204"/>
            <a:ext cx="20937683" cy="578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dirty="0">
                <a:highlight>
                  <a:srgbClr val="E64626"/>
                </a:highlight>
                <a:latin typeface="Arial Rounded MT Bold" panose="020F0704030504030204" pitchFamily="34" charset="77"/>
              </a:rPr>
              <a:t>INTRODUCTION</a:t>
            </a:r>
          </a:p>
        </p:txBody>
      </p:sp>
      <p:sp>
        <p:nvSpPr>
          <p:cNvPr id="3" name="Rectangle 2">
            <a:extLst>
              <a:ext uri="{FF2B5EF4-FFF2-40B4-BE49-F238E27FC236}">
                <a16:creationId xmlns:a16="http://schemas.microsoft.com/office/drawing/2014/main" id="{68D19A9C-810C-314E-EF93-5A318E890357}"/>
              </a:ext>
            </a:extLst>
          </p:cNvPr>
          <p:cNvSpPr/>
          <p:nvPr/>
        </p:nvSpPr>
        <p:spPr>
          <a:xfrm>
            <a:off x="175611" y="6877778"/>
            <a:ext cx="20953558" cy="512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dirty="0">
                <a:latin typeface="Arial Rounded MT Bold" panose="020F0704030504030204" pitchFamily="34" charset="77"/>
              </a:rPr>
              <a:t>METHODS</a:t>
            </a:r>
          </a:p>
        </p:txBody>
      </p:sp>
      <p:pic>
        <p:nvPicPr>
          <p:cNvPr id="5" name="Picture 4" descr="A purple and white marbled surface&#10;&#10;Description automatically generated">
            <a:extLst>
              <a:ext uri="{FF2B5EF4-FFF2-40B4-BE49-F238E27FC236}">
                <a16:creationId xmlns:a16="http://schemas.microsoft.com/office/drawing/2014/main" id="{DA4780AC-A407-8EEC-D936-CBF8B7190542}"/>
              </a:ext>
            </a:extLst>
          </p:cNvPr>
          <p:cNvPicPr>
            <a:picLocks noChangeAspect="1"/>
          </p:cNvPicPr>
          <p:nvPr/>
        </p:nvPicPr>
        <p:blipFill>
          <a:blip r:embed="rId4"/>
          <a:stretch>
            <a:fillRect/>
          </a:stretch>
        </p:blipFill>
        <p:spPr>
          <a:xfrm>
            <a:off x="424834" y="7523054"/>
            <a:ext cx="1258317" cy="1088274"/>
          </a:xfrm>
          <a:prstGeom prst="rect">
            <a:avLst/>
          </a:prstGeom>
        </p:spPr>
      </p:pic>
      <p:pic>
        <p:nvPicPr>
          <p:cNvPr id="7" name="Picture 6" descr="Blue and white speckled background&#10;&#10;Description automatically generated">
            <a:extLst>
              <a:ext uri="{FF2B5EF4-FFF2-40B4-BE49-F238E27FC236}">
                <a16:creationId xmlns:a16="http://schemas.microsoft.com/office/drawing/2014/main" id="{E140BF65-CA38-7797-5EED-1BD3693C6F3E}"/>
              </a:ext>
            </a:extLst>
          </p:cNvPr>
          <p:cNvPicPr>
            <a:picLocks noChangeAspect="1"/>
          </p:cNvPicPr>
          <p:nvPr/>
        </p:nvPicPr>
        <p:blipFill>
          <a:blip r:embed="rId5"/>
          <a:stretch>
            <a:fillRect/>
          </a:stretch>
        </p:blipFill>
        <p:spPr>
          <a:xfrm>
            <a:off x="336617" y="12015158"/>
            <a:ext cx="1432607" cy="1133696"/>
          </a:xfrm>
          <a:prstGeom prst="rect">
            <a:avLst/>
          </a:prstGeom>
        </p:spPr>
      </p:pic>
      <p:sp>
        <p:nvSpPr>
          <p:cNvPr id="8" name="TextBox 7">
            <a:extLst>
              <a:ext uri="{FF2B5EF4-FFF2-40B4-BE49-F238E27FC236}">
                <a16:creationId xmlns:a16="http://schemas.microsoft.com/office/drawing/2014/main" id="{40CF6045-3135-B178-0AC5-4F47DBE93671}"/>
              </a:ext>
            </a:extLst>
          </p:cNvPr>
          <p:cNvSpPr txBox="1"/>
          <p:nvPr/>
        </p:nvSpPr>
        <p:spPr>
          <a:xfrm>
            <a:off x="160509" y="8648511"/>
            <a:ext cx="3523489" cy="584775"/>
          </a:xfrm>
          <a:prstGeom prst="rect">
            <a:avLst/>
          </a:prstGeom>
          <a:noFill/>
        </p:spPr>
        <p:txBody>
          <a:bodyPr wrap="square" rtlCol="0">
            <a:spAutoFit/>
          </a:bodyPr>
          <a:lstStyle/>
          <a:p>
            <a:pPr algn="ctr"/>
            <a:r>
              <a:rPr lang="en-AU" sz="1600" dirty="0">
                <a:latin typeface="+mn-lt"/>
                <a:ea typeface="YuKyokasho Medium" panose="02000500000000000000" pitchFamily="2" charset="-128"/>
              </a:rPr>
              <a:t>Pre-trained model</a:t>
            </a:r>
          </a:p>
          <a:p>
            <a:pPr algn="ctr"/>
            <a:r>
              <a:rPr lang="en-AU" sz="1600" dirty="0">
                <a:latin typeface="+mn-lt"/>
                <a:ea typeface="YuKyokasho Medium" panose="02000500000000000000" pitchFamily="2" charset="-128"/>
              </a:rPr>
              <a:t>with Xenium breast cancer data </a:t>
            </a:r>
          </a:p>
        </p:txBody>
      </p:sp>
      <p:pic>
        <p:nvPicPr>
          <p:cNvPr id="14" name="Picture 13" descr="A close-up of a colorful splattered background&#10;&#10;Description automatically generated">
            <a:extLst>
              <a:ext uri="{FF2B5EF4-FFF2-40B4-BE49-F238E27FC236}">
                <a16:creationId xmlns:a16="http://schemas.microsoft.com/office/drawing/2014/main" id="{12903E68-F132-2782-C1A9-35732D66530A}"/>
              </a:ext>
            </a:extLst>
          </p:cNvPr>
          <p:cNvPicPr>
            <a:picLocks noChangeAspect="1"/>
          </p:cNvPicPr>
          <p:nvPr/>
        </p:nvPicPr>
        <p:blipFill>
          <a:blip r:embed="rId6"/>
          <a:stretch>
            <a:fillRect/>
          </a:stretch>
        </p:blipFill>
        <p:spPr>
          <a:xfrm>
            <a:off x="1683151" y="7508032"/>
            <a:ext cx="1711641" cy="1118318"/>
          </a:xfrm>
          <a:prstGeom prst="rect">
            <a:avLst/>
          </a:prstGeom>
        </p:spPr>
      </p:pic>
      <p:pic>
        <p:nvPicPr>
          <p:cNvPr id="17" name="Graphic 16" descr="DNA with solid fill">
            <a:extLst>
              <a:ext uri="{FF2B5EF4-FFF2-40B4-BE49-F238E27FC236}">
                <a16:creationId xmlns:a16="http://schemas.microsoft.com/office/drawing/2014/main" id="{263DACF7-8ACD-5083-2B04-38C609A78A4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429642">
            <a:off x="5958435" y="7609840"/>
            <a:ext cx="1397046" cy="1397046"/>
          </a:xfrm>
          <a:prstGeom prst="rect">
            <a:avLst/>
          </a:prstGeom>
        </p:spPr>
      </p:pic>
      <p:sp>
        <p:nvSpPr>
          <p:cNvPr id="18" name="TextBox 17">
            <a:extLst>
              <a:ext uri="{FF2B5EF4-FFF2-40B4-BE49-F238E27FC236}">
                <a16:creationId xmlns:a16="http://schemas.microsoft.com/office/drawing/2014/main" id="{73AE0326-A64C-2ACF-3D94-0D87A420FACF}"/>
              </a:ext>
            </a:extLst>
          </p:cNvPr>
          <p:cNvSpPr txBox="1"/>
          <p:nvPr/>
        </p:nvSpPr>
        <p:spPr>
          <a:xfrm>
            <a:off x="4556292" y="12608749"/>
            <a:ext cx="2874185" cy="338554"/>
          </a:xfrm>
          <a:prstGeom prst="rect">
            <a:avLst/>
          </a:prstGeom>
          <a:noFill/>
        </p:spPr>
        <p:txBody>
          <a:bodyPr wrap="none" rtlCol="0">
            <a:spAutoFit/>
          </a:bodyPr>
          <a:lstStyle/>
          <a:p>
            <a:r>
              <a:rPr lang="en-AU" sz="1600" dirty="0">
                <a:latin typeface="Arial Rounded MT Bold" panose="020F0704030504030204" pitchFamily="34" charset="77"/>
              </a:rPr>
              <a:t>Breast cancer GWAS SNPs</a:t>
            </a:r>
          </a:p>
        </p:txBody>
      </p:sp>
      <p:sp>
        <p:nvSpPr>
          <p:cNvPr id="19" name="TextBox 18">
            <a:extLst>
              <a:ext uri="{FF2B5EF4-FFF2-40B4-BE49-F238E27FC236}">
                <a16:creationId xmlns:a16="http://schemas.microsoft.com/office/drawing/2014/main" id="{66FBA89F-7CF8-DDFA-2A50-3D80EC3B89A6}"/>
              </a:ext>
            </a:extLst>
          </p:cNvPr>
          <p:cNvSpPr txBox="1"/>
          <p:nvPr/>
        </p:nvSpPr>
        <p:spPr>
          <a:xfrm>
            <a:off x="4595246" y="12983658"/>
            <a:ext cx="2326984" cy="338554"/>
          </a:xfrm>
          <a:prstGeom prst="rect">
            <a:avLst/>
          </a:prstGeom>
          <a:noFill/>
        </p:spPr>
        <p:txBody>
          <a:bodyPr wrap="none" rtlCol="0">
            <a:spAutoFit/>
          </a:bodyPr>
          <a:lstStyle/>
          <a:p>
            <a:r>
              <a:rPr lang="en-AU" sz="1600" dirty="0">
                <a:latin typeface="Arial Rounded MT Bold" panose="020F0704030504030204" pitchFamily="34" charset="77"/>
              </a:rPr>
              <a:t>BRCA1/BRCA2 status</a:t>
            </a:r>
          </a:p>
        </p:txBody>
      </p:sp>
      <p:sp>
        <p:nvSpPr>
          <p:cNvPr id="20" name="TextBox 19">
            <a:extLst>
              <a:ext uri="{FF2B5EF4-FFF2-40B4-BE49-F238E27FC236}">
                <a16:creationId xmlns:a16="http://schemas.microsoft.com/office/drawing/2014/main" id="{98B03EE5-F30D-440D-7C6E-18ADE976B398}"/>
              </a:ext>
            </a:extLst>
          </p:cNvPr>
          <p:cNvSpPr txBox="1"/>
          <p:nvPr/>
        </p:nvSpPr>
        <p:spPr>
          <a:xfrm>
            <a:off x="4564910" y="13352990"/>
            <a:ext cx="2512611" cy="338554"/>
          </a:xfrm>
          <a:prstGeom prst="rect">
            <a:avLst/>
          </a:prstGeom>
          <a:noFill/>
        </p:spPr>
        <p:txBody>
          <a:bodyPr wrap="none" rtlCol="0">
            <a:spAutoFit/>
          </a:bodyPr>
          <a:lstStyle/>
          <a:p>
            <a:r>
              <a:rPr lang="en-AU" sz="1600" dirty="0">
                <a:latin typeface="Arial Rounded MT Bold" panose="020F0704030504030204" pitchFamily="34" charset="77"/>
              </a:rPr>
              <a:t>Copy number alteration</a:t>
            </a:r>
          </a:p>
        </p:txBody>
      </p:sp>
      <p:sp>
        <p:nvSpPr>
          <p:cNvPr id="28" name="TextBox 27">
            <a:extLst>
              <a:ext uri="{FF2B5EF4-FFF2-40B4-BE49-F238E27FC236}">
                <a16:creationId xmlns:a16="http://schemas.microsoft.com/office/drawing/2014/main" id="{4DEDC6CF-9850-8EF9-E31F-79B73C6EF4A7}"/>
              </a:ext>
            </a:extLst>
          </p:cNvPr>
          <p:cNvSpPr txBox="1"/>
          <p:nvPr/>
        </p:nvSpPr>
        <p:spPr>
          <a:xfrm>
            <a:off x="10060147" y="10839224"/>
            <a:ext cx="1444626" cy="400110"/>
          </a:xfrm>
          <a:prstGeom prst="rect">
            <a:avLst/>
          </a:prstGeom>
          <a:noFill/>
        </p:spPr>
        <p:txBody>
          <a:bodyPr wrap="none" rtlCol="0">
            <a:spAutoFit/>
          </a:bodyPr>
          <a:lstStyle>
            <a:defPPr>
              <a:defRPr lang="en-US"/>
            </a:defPPr>
            <a:lvl1pPr>
              <a:defRPr sz="1600">
                <a:solidFill>
                  <a:srgbClr val="FF0000"/>
                </a:solidFill>
                <a:latin typeface="Arial Rounded MT Bold" panose="020F0704030504030204" pitchFamily="34" charset="77"/>
                <a:ea typeface="YuKyokasho Medium" panose="02000500000000000000" pitchFamily="2" charset="-128"/>
              </a:defRPr>
            </a:lvl1pPr>
          </a:lstStyle>
          <a:p>
            <a:r>
              <a:rPr lang="en-AU" sz="2000" dirty="0">
                <a:solidFill>
                  <a:schemeClr val="accent6">
                    <a:lumMod val="60000"/>
                    <a:lumOff val="40000"/>
                  </a:schemeClr>
                </a:solidFill>
              </a:rPr>
              <a:t>L-function</a:t>
            </a:r>
          </a:p>
        </p:txBody>
      </p:sp>
      <p:sp>
        <p:nvSpPr>
          <p:cNvPr id="31" name="TextBox 30">
            <a:extLst>
              <a:ext uri="{FF2B5EF4-FFF2-40B4-BE49-F238E27FC236}">
                <a16:creationId xmlns:a16="http://schemas.microsoft.com/office/drawing/2014/main" id="{0ABF4CC2-D678-964E-7454-03A3422BE365}"/>
              </a:ext>
            </a:extLst>
          </p:cNvPr>
          <p:cNvSpPr txBox="1"/>
          <p:nvPr/>
        </p:nvSpPr>
        <p:spPr>
          <a:xfrm>
            <a:off x="16969838" y="7974305"/>
            <a:ext cx="1321067" cy="400110"/>
          </a:xfrm>
          <a:prstGeom prst="rect">
            <a:avLst/>
          </a:prstGeom>
          <a:noFill/>
        </p:spPr>
        <p:txBody>
          <a:bodyPr wrap="none" rtlCol="0">
            <a:spAutoFit/>
          </a:bodyPr>
          <a:lstStyle>
            <a:defPPr>
              <a:defRPr lang="en-US"/>
            </a:defPPr>
            <a:lvl1pPr>
              <a:defRPr sz="1200">
                <a:solidFill>
                  <a:srgbClr val="FF0000"/>
                </a:solidFill>
                <a:latin typeface="Arial Rounded MT Bold" panose="020F0704030504030204" pitchFamily="34" charset="77"/>
                <a:ea typeface="YuKyokasho Medium" panose="02000500000000000000" pitchFamily="2" charset="-128"/>
              </a:defRPr>
            </a:lvl1pPr>
          </a:lstStyle>
          <a:p>
            <a:r>
              <a:rPr lang="en-AU" sz="2000" dirty="0">
                <a:solidFill>
                  <a:schemeClr val="accent6">
                    <a:lumMod val="60000"/>
                    <a:lumOff val="40000"/>
                  </a:schemeClr>
                </a:solidFill>
              </a:rPr>
              <a:t>Moran’s I</a:t>
            </a:r>
          </a:p>
        </p:txBody>
      </p:sp>
      <p:pic>
        <p:nvPicPr>
          <p:cNvPr id="37" name="Picture 36" descr="Blue and white speckled background&#10;&#10;Description automatically generated">
            <a:extLst>
              <a:ext uri="{FF2B5EF4-FFF2-40B4-BE49-F238E27FC236}">
                <a16:creationId xmlns:a16="http://schemas.microsoft.com/office/drawing/2014/main" id="{0EA177B5-DA88-0596-3368-6F8E9208F3DA}"/>
              </a:ext>
            </a:extLst>
          </p:cNvPr>
          <p:cNvPicPr>
            <a:picLocks noChangeAspect="1"/>
          </p:cNvPicPr>
          <p:nvPr/>
        </p:nvPicPr>
        <p:blipFill>
          <a:blip r:embed="rId5"/>
          <a:stretch>
            <a:fillRect/>
          </a:stretch>
        </p:blipFill>
        <p:spPr>
          <a:xfrm>
            <a:off x="928934" y="12074029"/>
            <a:ext cx="1295495" cy="1025192"/>
          </a:xfrm>
          <a:prstGeom prst="rect">
            <a:avLst/>
          </a:prstGeom>
        </p:spPr>
      </p:pic>
      <p:pic>
        <p:nvPicPr>
          <p:cNvPr id="41" name="Picture 40" descr="Blue and white speckled background&#10;&#10;Description automatically generated">
            <a:extLst>
              <a:ext uri="{FF2B5EF4-FFF2-40B4-BE49-F238E27FC236}">
                <a16:creationId xmlns:a16="http://schemas.microsoft.com/office/drawing/2014/main" id="{C8D6E092-B408-90F2-D504-F5D4B00ECF5E}"/>
              </a:ext>
            </a:extLst>
          </p:cNvPr>
          <p:cNvPicPr>
            <a:picLocks noChangeAspect="1"/>
          </p:cNvPicPr>
          <p:nvPr/>
        </p:nvPicPr>
        <p:blipFill>
          <a:blip r:embed="rId5"/>
          <a:stretch>
            <a:fillRect/>
          </a:stretch>
        </p:blipFill>
        <p:spPr>
          <a:xfrm>
            <a:off x="1258944" y="12237118"/>
            <a:ext cx="1204664" cy="953313"/>
          </a:xfrm>
          <a:prstGeom prst="rect">
            <a:avLst/>
          </a:prstGeom>
        </p:spPr>
      </p:pic>
      <p:sp>
        <p:nvSpPr>
          <p:cNvPr id="42" name="Rectangle 41">
            <a:extLst>
              <a:ext uri="{FF2B5EF4-FFF2-40B4-BE49-F238E27FC236}">
                <a16:creationId xmlns:a16="http://schemas.microsoft.com/office/drawing/2014/main" id="{F2600B93-F31F-7B23-38FF-D98DAD60110F}"/>
              </a:ext>
            </a:extLst>
          </p:cNvPr>
          <p:cNvSpPr/>
          <p:nvPr/>
        </p:nvSpPr>
        <p:spPr>
          <a:xfrm>
            <a:off x="222969" y="14214134"/>
            <a:ext cx="20937683" cy="578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dirty="0">
                <a:highlight>
                  <a:srgbClr val="E64626"/>
                </a:highlight>
                <a:latin typeface="Arial Rounded MT Bold" panose="020F0704030504030204" pitchFamily="34" charset="77"/>
              </a:rPr>
              <a:t>RESULTS</a:t>
            </a:r>
          </a:p>
        </p:txBody>
      </p:sp>
      <p:sp>
        <p:nvSpPr>
          <p:cNvPr id="44" name="Text Box 11">
            <a:extLst>
              <a:ext uri="{FF2B5EF4-FFF2-40B4-BE49-F238E27FC236}">
                <a16:creationId xmlns:a16="http://schemas.microsoft.com/office/drawing/2014/main" id="{6133E969-FE8C-5D3E-EAF9-3C74459C5C8B}"/>
              </a:ext>
            </a:extLst>
          </p:cNvPr>
          <p:cNvSpPr txBox="1">
            <a:spLocks noChangeArrowheads="1"/>
          </p:cNvSpPr>
          <p:nvPr/>
        </p:nvSpPr>
        <p:spPr bwMode="auto">
          <a:xfrm>
            <a:off x="175611" y="14828196"/>
            <a:ext cx="21007377" cy="14267610"/>
          </a:xfrm>
          <a:prstGeom prst="rect">
            <a:avLst/>
          </a:prstGeom>
          <a:solidFill>
            <a:schemeClr val="bg1"/>
          </a:solidFill>
          <a:ln w="38100">
            <a:solidFill>
              <a:srgbClr val="000000"/>
            </a:solidFill>
            <a:round/>
            <a:headEnd/>
            <a:tailEnd/>
          </a:ln>
        </p:spPr>
        <p:txBody>
          <a:bodyPr lIns="508542" tIns="254271" rIns="254271" bIns="254271"/>
          <a:lstStyle>
            <a:lvl1pPr eaLnBrk="0" hangingPunct="0">
              <a:tabLst>
                <a:tab pos="508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8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8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8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8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9pPr>
          </a:lstStyle>
          <a:p>
            <a:pPr eaLnBrk="1" hangingPunct="1">
              <a:spcBef>
                <a:spcPts val="0"/>
              </a:spcBef>
              <a:spcAft>
                <a:spcPts val="1500"/>
              </a:spcAft>
            </a:pPr>
            <a:endParaRPr lang="en-US" altLang="ja-JP" sz="2800" dirty="0">
              <a:latin typeface="Arial" panose="020B0604020202020204" pitchFamily="34" charset="0"/>
              <a:cs typeface="Arial" panose="020B0604020202020204" pitchFamily="34" charset="0"/>
            </a:endParaRPr>
          </a:p>
          <a:p>
            <a:pPr eaLnBrk="1" hangingPunct="1">
              <a:spcBef>
                <a:spcPts val="0"/>
              </a:spcBef>
              <a:spcAft>
                <a:spcPts val="1500"/>
              </a:spcAft>
            </a:pPr>
            <a:endParaRPr lang="en-US" altLang="en-US" sz="2800" dirty="0">
              <a:latin typeface="Arial" panose="020B0604020202020204" pitchFamily="34" charset="0"/>
              <a:cs typeface="Arial" panose="020B0604020202020204" pitchFamily="34" charset="0"/>
            </a:endParaRPr>
          </a:p>
        </p:txBody>
      </p:sp>
      <p:sp>
        <p:nvSpPr>
          <p:cNvPr id="45" name="Rounded Rectangle 44">
            <a:extLst>
              <a:ext uri="{FF2B5EF4-FFF2-40B4-BE49-F238E27FC236}">
                <a16:creationId xmlns:a16="http://schemas.microsoft.com/office/drawing/2014/main" id="{1E761688-21D3-3E62-A93D-F1A4203F60AF}"/>
              </a:ext>
            </a:extLst>
          </p:cNvPr>
          <p:cNvSpPr/>
          <p:nvPr/>
        </p:nvSpPr>
        <p:spPr>
          <a:xfrm>
            <a:off x="4475775" y="7487893"/>
            <a:ext cx="2912198" cy="6636422"/>
          </a:xfrm>
          <a:prstGeom prst="roundRect">
            <a:avLst/>
          </a:prstGeom>
          <a:noFill/>
          <a:ln w="28575">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3" name="TextBox 52">
            <a:extLst>
              <a:ext uri="{FF2B5EF4-FFF2-40B4-BE49-F238E27FC236}">
                <a16:creationId xmlns:a16="http://schemas.microsoft.com/office/drawing/2014/main" id="{E64A8E68-4D1F-4E0D-D409-5DCF990185BC}"/>
              </a:ext>
            </a:extLst>
          </p:cNvPr>
          <p:cNvSpPr txBox="1"/>
          <p:nvPr/>
        </p:nvSpPr>
        <p:spPr>
          <a:xfrm>
            <a:off x="417016" y="14868637"/>
            <a:ext cx="10274796" cy="830997"/>
          </a:xfrm>
          <a:prstGeom prst="rect">
            <a:avLst/>
          </a:prstGeom>
          <a:noFill/>
        </p:spPr>
        <p:txBody>
          <a:bodyPr wrap="square" rtlCol="0">
            <a:spAutoFit/>
          </a:bodyPr>
          <a:lstStyle/>
          <a:p>
            <a:r>
              <a:rPr lang="en-AU" sz="2400" b="1" dirty="0">
                <a:solidFill>
                  <a:schemeClr val="accent5">
                    <a:lumMod val="75000"/>
                  </a:schemeClr>
                </a:solidFill>
                <a:latin typeface="+mn-lt"/>
              </a:rPr>
              <a:t>Associations between breast cancer SNPs and L-</a:t>
            </a:r>
            <a:r>
              <a:rPr lang="en-AU" sz="2400" b="1" dirty="0" err="1">
                <a:solidFill>
                  <a:schemeClr val="accent5">
                    <a:lumMod val="75000"/>
                  </a:schemeClr>
                </a:solidFill>
                <a:latin typeface="+mn-lt"/>
              </a:rPr>
              <a:t>statisitics</a:t>
            </a:r>
            <a:r>
              <a:rPr lang="en-AU" sz="2400" b="1" dirty="0">
                <a:solidFill>
                  <a:schemeClr val="accent5">
                    <a:lumMod val="75000"/>
                  </a:schemeClr>
                </a:solidFill>
                <a:latin typeface="+mn-lt"/>
              </a:rPr>
              <a:t> /prevalence of high spatial entropy</a:t>
            </a:r>
          </a:p>
        </p:txBody>
      </p:sp>
      <p:sp>
        <p:nvSpPr>
          <p:cNvPr id="69" name="Rectangle 68">
            <a:extLst>
              <a:ext uri="{FF2B5EF4-FFF2-40B4-BE49-F238E27FC236}">
                <a16:creationId xmlns:a16="http://schemas.microsoft.com/office/drawing/2014/main" id="{D639FB68-12A3-3AA2-63ED-D6BEF2840417}"/>
              </a:ext>
            </a:extLst>
          </p:cNvPr>
          <p:cNvSpPr/>
          <p:nvPr/>
        </p:nvSpPr>
        <p:spPr>
          <a:xfrm>
            <a:off x="16080737" y="7473175"/>
            <a:ext cx="2990863" cy="433649"/>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AU" sz="2000" dirty="0"/>
              <a:t>Spatial autocorrelation</a:t>
            </a:r>
          </a:p>
        </p:txBody>
      </p:sp>
      <p:sp>
        <p:nvSpPr>
          <p:cNvPr id="72" name="Rectangle 71">
            <a:extLst>
              <a:ext uri="{FF2B5EF4-FFF2-40B4-BE49-F238E27FC236}">
                <a16:creationId xmlns:a16="http://schemas.microsoft.com/office/drawing/2014/main" id="{D5ED3887-771D-DE6C-5F74-A64524AF2D5C}"/>
              </a:ext>
            </a:extLst>
          </p:cNvPr>
          <p:cNvSpPr/>
          <p:nvPr/>
        </p:nvSpPr>
        <p:spPr>
          <a:xfrm>
            <a:off x="9400745" y="10376956"/>
            <a:ext cx="2815206" cy="433649"/>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AU" sz="2000" dirty="0"/>
              <a:t>Spatial point pattern</a:t>
            </a:r>
          </a:p>
        </p:txBody>
      </p:sp>
      <p:sp>
        <p:nvSpPr>
          <p:cNvPr id="75" name="Rectangle 74">
            <a:extLst>
              <a:ext uri="{FF2B5EF4-FFF2-40B4-BE49-F238E27FC236}">
                <a16:creationId xmlns:a16="http://schemas.microsoft.com/office/drawing/2014/main" id="{9FF27E68-7AF7-C663-E818-7A4C90AD45C9}"/>
              </a:ext>
            </a:extLst>
          </p:cNvPr>
          <p:cNvSpPr/>
          <p:nvPr/>
        </p:nvSpPr>
        <p:spPr>
          <a:xfrm>
            <a:off x="9348509" y="7467508"/>
            <a:ext cx="2815207" cy="433650"/>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AU" sz="2000" dirty="0"/>
              <a:t>Spatial heterogeneity</a:t>
            </a:r>
          </a:p>
        </p:txBody>
      </p:sp>
      <p:pic>
        <p:nvPicPr>
          <p:cNvPr id="91" name="Picture 90" descr="A hexagon with purple and pink spots&#10;&#10;Description automatically generated">
            <a:extLst>
              <a:ext uri="{FF2B5EF4-FFF2-40B4-BE49-F238E27FC236}">
                <a16:creationId xmlns:a16="http://schemas.microsoft.com/office/drawing/2014/main" id="{4BB78BCD-5DE9-E3E0-2AED-FDDDD5292434}"/>
              </a:ext>
            </a:extLst>
          </p:cNvPr>
          <p:cNvPicPr>
            <a:picLocks noChangeAspect="1"/>
          </p:cNvPicPr>
          <p:nvPr/>
        </p:nvPicPr>
        <p:blipFill>
          <a:blip r:embed="rId9"/>
          <a:stretch>
            <a:fillRect/>
          </a:stretch>
        </p:blipFill>
        <p:spPr>
          <a:xfrm>
            <a:off x="1220890" y="10510865"/>
            <a:ext cx="1572042" cy="1579610"/>
          </a:xfrm>
          <a:prstGeom prst="rect">
            <a:avLst/>
          </a:prstGeom>
        </p:spPr>
      </p:pic>
      <p:sp>
        <p:nvSpPr>
          <p:cNvPr id="92" name="AutoShape 2">
            <a:extLst>
              <a:ext uri="{FF2B5EF4-FFF2-40B4-BE49-F238E27FC236}">
                <a16:creationId xmlns:a16="http://schemas.microsoft.com/office/drawing/2014/main" id="{814B94DB-F0AA-577B-9FBA-5F527F0A2D35}"/>
              </a:ext>
            </a:extLst>
          </p:cNvPr>
          <p:cNvSpPr>
            <a:spLocks noChangeAspect="1" noChangeArrowheads="1"/>
          </p:cNvSpPr>
          <p:nvPr/>
        </p:nvSpPr>
        <p:spPr bwMode="auto">
          <a:xfrm>
            <a:off x="32878767" y="954395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3" name="AutoShape 4">
            <a:extLst>
              <a:ext uri="{FF2B5EF4-FFF2-40B4-BE49-F238E27FC236}">
                <a16:creationId xmlns:a16="http://schemas.microsoft.com/office/drawing/2014/main" id="{43D7918B-1F6F-EB1A-C472-37CB8F3FF4B3}"/>
              </a:ext>
            </a:extLst>
          </p:cNvPr>
          <p:cNvSpPr>
            <a:spLocks noChangeAspect="1" noChangeArrowheads="1"/>
          </p:cNvSpPr>
          <p:nvPr/>
        </p:nvSpPr>
        <p:spPr bwMode="auto">
          <a:xfrm>
            <a:off x="7951462" y="69223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4" name="AutoShape 6">
            <a:extLst>
              <a:ext uri="{FF2B5EF4-FFF2-40B4-BE49-F238E27FC236}">
                <a16:creationId xmlns:a16="http://schemas.microsoft.com/office/drawing/2014/main" id="{B068552D-9BD1-60F7-067B-7B1A8699E3B2}"/>
              </a:ext>
            </a:extLst>
          </p:cNvPr>
          <p:cNvSpPr>
            <a:spLocks noChangeAspect="1" noChangeArrowheads="1"/>
          </p:cNvSpPr>
          <p:nvPr/>
        </p:nvSpPr>
        <p:spPr bwMode="auto">
          <a:xfrm>
            <a:off x="8103862" y="7074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1" name="Rectangle 10">
            <a:extLst>
              <a:ext uri="{FF2B5EF4-FFF2-40B4-BE49-F238E27FC236}">
                <a16:creationId xmlns:a16="http://schemas.microsoft.com/office/drawing/2014/main" id="{8B0F7A64-F6CF-0197-7CE4-2D08CFADEC49}"/>
              </a:ext>
            </a:extLst>
          </p:cNvPr>
          <p:cNvSpPr/>
          <p:nvPr/>
        </p:nvSpPr>
        <p:spPr>
          <a:xfrm>
            <a:off x="257899" y="7456678"/>
            <a:ext cx="3309965" cy="6623937"/>
          </a:xfrm>
          <a:prstGeom prst="rect">
            <a:avLst/>
          </a:prstGeom>
          <a:noFill/>
          <a:ln>
            <a:solidFill>
              <a:schemeClr val="bg2">
                <a:lumMod val="75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22" name="Graphic 21" descr="Group of people with solid fill">
            <a:extLst>
              <a:ext uri="{FF2B5EF4-FFF2-40B4-BE49-F238E27FC236}">
                <a16:creationId xmlns:a16="http://schemas.microsoft.com/office/drawing/2014/main" id="{18B5354D-A2A8-6415-C8C3-456EFDFF4D8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49397" y="7635950"/>
            <a:ext cx="1393821" cy="1393821"/>
          </a:xfrm>
          <a:prstGeom prst="rect">
            <a:avLst/>
          </a:prstGeom>
        </p:spPr>
      </p:pic>
      <p:pic>
        <p:nvPicPr>
          <p:cNvPr id="34" name="Graphic 33" descr="Woman with solid fill">
            <a:extLst>
              <a:ext uri="{FF2B5EF4-FFF2-40B4-BE49-F238E27FC236}">
                <a16:creationId xmlns:a16="http://schemas.microsoft.com/office/drawing/2014/main" id="{7C667415-3BAA-DC15-F812-B938A0179B7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96684" y="9566592"/>
            <a:ext cx="627150" cy="627150"/>
          </a:xfrm>
          <a:prstGeom prst="rect">
            <a:avLst/>
          </a:prstGeom>
        </p:spPr>
      </p:pic>
      <p:sp>
        <p:nvSpPr>
          <p:cNvPr id="46" name="TextBox 45">
            <a:extLst>
              <a:ext uri="{FF2B5EF4-FFF2-40B4-BE49-F238E27FC236}">
                <a16:creationId xmlns:a16="http://schemas.microsoft.com/office/drawing/2014/main" id="{F110FBCA-72B5-40DC-4131-76D2203EE214}"/>
              </a:ext>
            </a:extLst>
          </p:cNvPr>
          <p:cNvSpPr txBox="1"/>
          <p:nvPr/>
        </p:nvSpPr>
        <p:spPr>
          <a:xfrm>
            <a:off x="4967521" y="9737762"/>
            <a:ext cx="2372352" cy="307777"/>
          </a:xfrm>
          <a:prstGeom prst="rect">
            <a:avLst/>
          </a:prstGeom>
          <a:noFill/>
        </p:spPr>
        <p:txBody>
          <a:bodyPr wrap="square" rtlCol="0">
            <a:spAutoFit/>
          </a:bodyPr>
          <a:lstStyle/>
          <a:p>
            <a:r>
              <a:rPr lang="en-AU" sz="1400" dirty="0">
                <a:solidFill>
                  <a:schemeClr val="bg2">
                    <a:lumMod val="75000"/>
                  </a:schemeClr>
                </a:solidFill>
                <a:latin typeface="Arial Rounded MT Bold" panose="020F0704030504030204" pitchFamily="34" charset="77"/>
              </a:rPr>
              <a:t>AA | BRCA1+ | Deletion</a:t>
            </a:r>
          </a:p>
        </p:txBody>
      </p:sp>
      <p:sp>
        <p:nvSpPr>
          <p:cNvPr id="64" name="TextBox 63">
            <a:extLst>
              <a:ext uri="{FF2B5EF4-FFF2-40B4-BE49-F238E27FC236}">
                <a16:creationId xmlns:a16="http://schemas.microsoft.com/office/drawing/2014/main" id="{EEB6F7E6-92CF-81C1-652B-99701BB6A7FC}"/>
              </a:ext>
            </a:extLst>
          </p:cNvPr>
          <p:cNvSpPr txBox="1"/>
          <p:nvPr/>
        </p:nvSpPr>
        <p:spPr>
          <a:xfrm>
            <a:off x="4917012" y="9007681"/>
            <a:ext cx="2297813" cy="338554"/>
          </a:xfrm>
          <a:prstGeom prst="rect">
            <a:avLst/>
          </a:prstGeom>
          <a:noFill/>
        </p:spPr>
        <p:txBody>
          <a:bodyPr wrap="square" rtlCol="0">
            <a:spAutoFit/>
          </a:bodyPr>
          <a:lstStyle/>
          <a:p>
            <a:r>
              <a:rPr lang="en-AU" sz="1600" b="1" dirty="0">
                <a:latin typeface="+mn-lt"/>
              </a:rPr>
              <a:t>TCGA BRCA patients</a:t>
            </a:r>
          </a:p>
        </p:txBody>
      </p:sp>
      <p:sp>
        <p:nvSpPr>
          <p:cNvPr id="73" name="TextBox 72">
            <a:extLst>
              <a:ext uri="{FF2B5EF4-FFF2-40B4-BE49-F238E27FC236}">
                <a16:creationId xmlns:a16="http://schemas.microsoft.com/office/drawing/2014/main" id="{464ADD5A-2B73-FFFF-E3B5-61896B73C3B2}"/>
              </a:ext>
            </a:extLst>
          </p:cNvPr>
          <p:cNvSpPr txBox="1"/>
          <p:nvPr/>
        </p:nvSpPr>
        <p:spPr>
          <a:xfrm>
            <a:off x="9751729" y="7976516"/>
            <a:ext cx="2061462" cy="400110"/>
          </a:xfrm>
          <a:prstGeom prst="rect">
            <a:avLst/>
          </a:prstGeom>
          <a:noFill/>
        </p:spPr>
        <p:txBody>
          <a:bodyPr wrap="none" rtlCol="0">
            <a:spAutoFit/>
          </a:bodyPr>
          <a:lstStyle>
            <a:defPPr>
              <a:defRPr lang="en-US"/>
            </a:defPPr>
            <a:lvl1pPr>
              <a:defRPr sz="1600">
                <a:solidFill>
                  <a:srgbClr val="FF0000"/>
                </a:solidFill>
                <a:latin typeface="Arial Rounded MT Bold" panose="020F0704030504030204" pitchFamily="34" charset="77"/>
                <a:ea typeface="YuKyokasho Medium" panose="02000500000000000000" pitchFamily="2" charset="-128"/>
              </a:defRPr>
            </a:lvl1pPr>
          </a:lstStyle>
          <a:p>
            <a:r>
              <a:rPr lang="en-AU" sz="2000" dirty="0">
                <a:solidFill>
                  <a:schemeClr val="accent6">
                    <a:lumMod val="60000"/>
                    <a:lumOff val="40000"/>
                  </a:schemeClr>
                </a:solidFill>
              </a:rPr>
              <a:t>Spatial entropy</a:t>
            </a:r>
          </a:p>
        </p:txBody>
      </p:sp>
      <p:sp>
        <p:nvSpPr>
          <p:cNvPr id="114" name="TextBox 113">
            <a:extLst>
              <a:ext uri="{FF2B5EF4-FFF2-40B4-BE49-F238E27FC236}">
                <a16:creationId xmlns:a16="http://schemas.microsoft.com/office/drawing/2014/main" id="{7D52E80A-E422-686D-2352-DCFF61E106E2}"/>
              </a:ext>
            </a:extLst>
          </p:cNvPr>
          <p:cNvSpPr txBox="1"/>
          <p:nvPr/>
        </p:nvSpPr>
        <p:spPr>
          <a:xfrm>
            <a:off x="365467" y="15782916"/>
            <a:ext cx="10476636" cy="4401205"/>
          </a:xfrm>
          <a:prstGeom prst="rect">
            <a:avLst/>
          </a:prstGeom>
          <a:noFill/>
        </p:spPr>
        <p:txBody>
          <a:bodyPr wrap="square" rtlCol="0">
            <a:spAutoFit/>
          </a:bodyPr>
          <a:lstStyle/>
          <a:p>
            <a:pPr marL="457200" indent="-457200">
              <a:buFont typeface="+mj-lt"/>
              <a:buAutoNum type="arabicPeriod"/>
            </a:pPr>
            <a:r>
              <a:rPr lang="en-US" sz="2000" dirty="0">
                <a:latin typeface="+mn-lt"/>
                <a:ea typeface="ＭＳ Ｐゴシック"/>
                <a:cs typeface="Times New Roman" panose="02020603050405020304" pitchFamily="18" charset="0"/>
              </a:rPr>
              <a:t>Downloaded HRC </a:t>
            </a:r>
            <a:r>
              <a:rPr lang="en-US" sz="2000" dirty="0">
                <a:solidFill>
                  <a:schemeClr val="accent1"/>
                </a:solidFill>
                <a:latin typeface="+mn-lt"/>
                <a:ea typeface="ＭＳ Ｐゴシック"/>
                <a:cs typeface="Times New Roman" panose="02020603050405020304" pitchFamily="18" charset="0"/>
              </a:rPr>
              <a:t>imputed genotyping data </a:t>
            </a:r>
            <a:r>
              <a:rPr lang="en-US" sz="2000" dirty="0">
                <a:latin typeface="+mn-lt"/>
                <a:ea typeface="ＭＳ Ｐゴシック"/>
                <a:cs typeface="Times New Roman" panose="02020603050405020304" pitchFamily="18" charset="0"/>
              </a:rPr>
              <a:t>of TCGA cohort from Genomic Data Commons.</a:t>
            </a:r>
          </a:p>
          <a:p>
            <a:pPr marL="457200" indent="-457200">
              <a:buFont typeface="+mj-lt"/>
              <a:buAutoNum type="arabicPeriod"/>
            </a:pPr>
            <a:r>
              <a:rPr lang="en-US" sz="2000" dirty="0">
                <a:latin typeface="+mn-lt"/>
                <a:ea typeface="ＭＳ Ｐゴシック"/>
                <a:cs typeface="Times New Roman" panose="02020603050405020304" pitchFamily="18" charset="0"/>
              </a:rPr>
              <a:t>Combined Breast cancer</a:t>
            </a:r>
            <a:r>
              <a:rPr lang="en-US" sz="2000" dirty="0">
                <a:solidFill>
                  <a:schemeClr val="accent1"/>
                </a:solidFill>
                <a:latin typeface="+mn-lt"/>
                <a:ea typeface="ＭＳ Ｐゴシック"/>
                <a:cs typeface="Times New Roman" panose="02020603050405020304" pitchFamily="18" charset="0"/>
              </a:rPr>
              <a:t> GWAS SNPs </a:t>
            </a:r>
            <a:r>
              <a:rPr lang="en-US" sz="2000" dirty="0">
                <a:latin typeface="+mn-lt"/>
                <a:ea typeface="ＭＳ Ｐゴシック"/>
                <a:cs typeface="Times New Roman" panose="02020603050405020304" pitchFamily="18" charset="0"/>
              </a:rPr>
              <a:t>were from multiple published papers (NG2015, Nature 2017, NC2020).</a:t>
            </a:r>
          </a:p>
          <a:p>
            <a:pPr marL="457200" indent="-457200">
              <a:buFont typeface="+mj-lt"/>
              <a:buAutoNum type="arabicPeriod"/>
            </a:pPr>
            <a:r>
              <a:rPr lang="en-US" sz="2000" dirty="0">
                <a:latin typeface="+mn-lt"/>
                <a:ea typeface="ＭＳ Ｐゴシック"/>
                <a:cs typeface="Times New Roman" panose="02020603050405020304" pitchFamily="18" charset="0"/>
              </a:rPr>
              <a:t>Calculate </a:t>
            </a:r>
            <a:r>
              <a:rPr lang="en-US" sz="2000" dirty="0">
                <a:solidFill>
                  <a:schemeClr val="accent1"/>
                </a:solidFill>
                <a:latin typeface="+mn-lt"/>
                <a:ea typeface="ＭＳ Ｐゴシック"/>
                <a:cs typeface="Times New Roman" panose="02020603050405020304" pitchFamily="18" charset="0"/>
              </a:rPr>
              <a:t>L statistics </a:t>
            </a:r>
            <a:r>
              <a:rPr lang="en-US" sz="2000" dirty="0">
                <a:latin typeface="+mn-lt"/>
                <a:ea typeface="ＭＳ Ｐゴシック"/>
                <a:cs typeface="Times New Roman" panose="02020603050405020304" pitchFamily="18" charset="0"/>
              </a:rPr>
              <a:t>between all pairwise cell types using </a:t>
            </a:r>
            <a:r>
              <a:rPr lang="en-US" sz="2000" dirty="0" err="1">
                <a:latin typeface="+mn-lt"/>
                <a:ea typeface="ＭＳ Ｐゴシック"/>
                <a:cs typeface="Times New Roman" panose="02020603050405020304" pitchFamily="18" charset="0"/>
              </a:rPr>
              <a:t>scFeatures</a:t>
            </a:r>
            <a:r>
              <a:rPr lang="en-US" sz="2000" dirty="0">
                <a:latin typeface="+mn-lt"/>
                <a:ea typeface="ＭＳ Ｐゴシック"/>
                <a:cs typeface="Times New Roman" panose="02020603050405020304" pitchFamily="18" charset="0"/>
              </a:rPr>
              <a:t> (Ref).</a:t>
            </a:r>
          </a:p>
          <a:p>
            <a:pPr marL="457200" indent="-457200">
              <a:buFont typeface="+mj-lt"/>
              <a:buAutoNum type="arabicPeriod"/>
            </a:pPr>
            <a:r>
              <a:rPr lang="en-US" sz="2000" dirty="0">
                <a:latin typeface="+mn-lt"/>
                <a:ea typeface="ＭＳ Ｐゴシック"/>
                <a:cs typeface="Times New Roman" panose="02020603050405020304" pitchFamily="18" charset="0"/>
              </a:rPr>
              <a:t>Calculate prevalence of high </a:t>
            </a:r>
            <a:r>
              <a:rPr lang="en-US" sz="2000" dirty="0">
                <a:solidFill>
                  <a:schemeClr val="accent1"/>
                </a:solidFill>
                <a:latin typeface="+mn-lt"/>
                <a:ea typeface="ＭＳ Ｐゴシック"/>
                <a:cs typeface="Times New Roman" panose="02020603050405020304" pitchFamily="18" charset="0"/>
              </a:rPr>
              <a:t>spatial entropy (representing spatial heterogeneity) </a:t>
            </a:r>
          </a:p>
          <a:p>
            <a:pPr marL="1931905" lvl="1" indent="-457200">
              <a:buFont typeface="Arial" panose="020B0604020202020204" pitchFamily="34" charset="0"/>
              <a:buChar char="•"/>
            </a:pPr>
            <a:r>
              <a:rPr lang="en-AU" sz="2000" dirty="0"/>
              <a:t>Each slide was split into grids by a fixed increment of 800 on both axis. </a:t>
            </a:r>
          </a:p>
          <a:p>
            <a:pPr marL="1931905" lvl="1" indent="-457200">
              <a:buFont typeface="Arial" panose="020B0604020202020204" pitchFamily="34" charset="0"/>
              <a:buChar char="•"/>
            </a:pPr>
            <a:r>
              <a:rPr lang="en-AU" sz="2000" dirty="0"/>
              <a:t>For each grid square, calculate Shannon’s entropy for immune and tumour cells.</a:t>
            </a:r>
          </a:p>
          <a:p>
            <a:pPr marL="1931905" lvl="1" indent="-457200">
              <a:buFont typeface="Arial" panose="020B0604020202020204" pitchFamily="34" charset="0"/>
              <a:buChar char="•"/>
            </a:pPr>
            <a:r>
              <a:rPr lang="en-AU" sz="2000" dirty="0"/>
              <a:t>Calculate proportion of grids that show high entropy (&gt;0.75) for each slide.</a:t>
            </a:r>
            <a:endParaRPr lang="en-AU" sz="2000" dirty="0">
              <a:latin typeface="+mn-lt"/>
              <a:ea typeface="ＭＳ Ｐゴシック"/>
              <a:cs typeface="Times New Roman" panose="02020603050405020304" pitchFamily="18" charset="0"/>
            </a:endParaRPr>
          </a:p>
          <a:p>
            <a:r>
              <a:rPr lang="en-US" sz="2000" dirty="0">
                <a:latin typeface="+mn-lt"/>
                <a:ea typeface="ＭＳ Ｐゴシック"/>
                <a:cs typeface="Times New Roman" panose="02020603050405020304" pitchFamily="18" charset="0"/>
              </a:rPr>
              <a:t>5.    Regress each GWAS SNP (#2) against L-statistics (#3) adjusting for </a:t>
            </a:r>
            <a:r>
              <a:rPr lang="en-AU" sz="2000" dirty="0">
                <a:latin typeface="+mn-lt"/>
                <a:ea typeface="ＭＳ Ｐゴシック"/>
                <a:cs typeface="Times New Roman" panose="02020603050405020304" pitchFamily="18" charset="0"/>
              </a:rPr>
              <a:t>clinical characteristics (ER status, tumour stage, age, age at menopause).</a:t>
            </a:r>
            <a:endParaRPr lang="en-US" sz="2000" dirty="0">
              <a:latin typeface="+mn-lt"/>
              <a:ea typeface="ＭＳ Ｐゴシック"/>
              <a:cs typeface="Times New Roman" panose="02020603050405020304" pitchFamily="18" charset="0"/>
            </a:endParaRPr>
          </a:p>
          <a:p>
            <a:pPr marL="457200" indent="-457200">
              <a:buFont typeface="+mj-lt"/>
              <a:buAutoNum type="arabicPeriod"/>
            </a:pPr>
            <a:endParaRPr lang="en-US" sz="2000" dirty="0">
              <a:latin typeface="+mn-lt"/>
              <a:cs typeface="Times New Roman" panose="02020603050405020304" pitchFamily="18" charset="0"/>
            </a:endParaRPr>
          </a:p>
          <a:p>
            <a:pPr marL="457200" indent="-457200">
              <a:buFont typeface="+mj-lt"/>
              <a:buAutoNum type="arabicPeriod"/>
            </a:pPr>
            <a:endParaRPr lang="en-AU" sz="2000" dirty="0">
              <a:latin typeface="+mn-lt"/>
              <a:cs typeface="Times New Roman" panose="02020603050405020304" pitchFamily="18" charset="0"/>
            </a:endParaRPr>
          </a:p>
        </p:txBody>
      </p:sp>
      <p:pic>
        <p:nvPicPr>
          <p:cNvPr id="120" name="Picture 119">
            <a:extLst>
              <a:ext uri="{FF2B5EF4-FFF2-40B4-BE49-F238E27FC236}">
                <a16:creationId xmlns:a16="http://schemas.microsoft.com/office/drawing/2014/main" id="{F390A968-5FC6-E82F-D5BA-8AE0FD7B8F35}"/>
              </a:ext>
            </a:extLst>
          </p:cNvPr>
          <p:cNvPicPr>
            <a:picLocks noChangeAspect="1"/>
          </p:cNvPicPr>
          <p:nvPr/>
        </p:nvPicPr>
        <p:blipFill rotWithShape="1">
          <a:blip r:embed="rId14"/>
          <a:srcRect t="7341"/>
          <a:stretch/>
        </p:blipFill>
        <p:spPr>
          <a:xfrm>
            <a:off x="433488" y="20205287"/>
            <a:ext cx="3657600" cy="2871309"/>
          </a:xfrm>
          <a:prstGeom prst="rect">
            <a:avLst/>
          </a:prstGeom>
        </p:spPr>
      </p:pic>
      <p:sp>
        <p:nvSpPr>
          <p:cNvPr id="130" name="Rectangle 129">
            <a:extLst>
              <a:ext uri="{FF2B5EF4-FFF2-40B4-BE49-F238E27FC236}">
                <a16:creationId xmlns:a16="http://schemas.microsoft.com/office/drawing/2014/main" id="{FE4FCB22-F677-BB02-98CE-5BD511B903E8}"/>
              </a:ext>
            </a:extLst>
          </p:cNvPr>
          <p:cNvSpPr/>
          <p:nvPr/>
        </p:nvSpPr>
        <p:spPr>
          <a:xfrm>
            <a:off x="4610525" y="9479631"/>
            <a:ext cx="2675630" cy="770657"/>
          </a:xfrm>
          <a:prstGeom prst="rect">
            <a:avLst/>
          </a:pr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pic>
        <p:nvPicPr>
          <p:cNvPr id="12" name="Picture 11">
            <a:extLst>
              <a:ext uri="{FF2B5EF4-FFF2-40B4-BE49-F238E27FC236}">
                <a16:creationId xmlns:a16="http://schemas.microsoft.com/office/drawing/2014/main" id="{2BCD0A3C-F17F-EB1F-FC15-408DF96FC1C5}"/>
              </a:ext>
            </a:extLst>
          </p:cNvPr>
          <p:cNvPicPr>
            <a:picLocks noChangeAspect="1"/>
          </p:cNvPicPr>
          <p:nvPr/>
        </p:nvPicPr>
        <p:blipFill rotWithShape="1">
          <a:blip r:embed="rId15"/>
          <a:srcRect t="7546"/>
          <a:stretch/>
        </p:blipFill>
        <p:spPr>
          <a:xfrm>
            <a:off x="488092" y="23827069"/>
            <a:ext cx="3697818" cy="2634675"/>
          </a:xfrm>
          <a:prstGeom prst="rect">
            <a:avLst/>
          </a:prstGeom>
        </p:spPr>
      </p:pic>
      <p:graphicFrame>
        <p:nvGraphicFramePr>
          <p:cNvPr id="43" name="Table 42">
            <a:extLst>
              <a:ext uri="{FF2B5EF4-FFF2-40B4-BE49-F238E27FC236}">
                <a16:creationId xmlns:a16="http://schemas.microsoft.com/office/drawing/2014/main" id="{02482A00-E161-60D3-EEB3-80EB068AF96D}"/>
              </a:ext>
            </a:extLst>
          </p:cNvPr>
          <p:cNvGraphicFramePr>
            <a:graphicFrameLocks noGrp="1"/>
          </p:cNvGraphicFramePr>
          <p:nvPr>
            <p:extLst>
              <p:ext uri="{D42A27DB-BD31-4B8C-83A1-F6EECF244321}">
                <p14:modId xmlns:p14="http://schemas.microsoft.com/office/powerpoint/2010/main" val="3992977652"/>
              </p:ext>
            </p:extLst>
          </p:nvPr>
        </p:nvGraphicFramePr>
        <p:xfrm>
          <a:off x="527750" y="27183127"/>
          <a:ext cx="4244475" cy="1737360"/>
        </p:xfrm>
        <a:graphic>
          <a:graphicData uri="http://schemas.openxmlformats.org/drawingml/2006/table">
            <a:tbl>
              <a:tblPr firstRow="1" bandRow="1">
                <a:tableStyleId>{5C22544A-7EE6-4342-B048-85BDC9FD1C3A}</a:tableStyleId>
              </a:tblPr>
              <a:tblGrid>
                <a:gridCol w="1414825">
                  <a:extLst>
                    <a:ext uri="{9D8B030D-6E8A-4147-A177-3AD203B41FA5}">
                      <a16:colId xmlns:a16="http://schemas.microsoft.com/office/drawing/2014/main" val="4152900687"/>
                    </a:ext>
                  </a:extLst>
                </a:gridCol>
                <a:gridCol w="1414825">
                  <a:extLst>
                    <a:ext uri="{9D8B030D-6E8A-4147-A177-3AD203B41FA5}">
                      <a16:colId xmlns:a16="http://schemas.microsoft.com/office/drawing/2014/main" val="3722408089"/>
                    </a:ext>
                  </a:extLst>
                </a:gridCol>
                <a:gridCol w="1414825">
                  <a:extLst>
                    <a:ext uri="{9D8B030D-6E8A-4147-A177-3AD203B41FA5}">
                      <a16:colId xmlns:a16="http://schemas.microsoft.com/office/drawing/2014/main" val="3621796485"/>
                    </a:ext>
                  </a:extLst>
                </a:gridCol>
              </a:tblGrid>
              <a:tr h="393443">
                <a:tc>
                  <a:txBody>
                    <a:bodyPr/>
                    <a:lstStyle/>
                    <a:p>
                      <a:pPr algn="ctr"/>
                      <a:r>
                        <a:rPr lang="en-AU" sz="2000" dirty="0"/>
                        <a:t>Top SNPs</a:t>
                      </a:r>
                    </a:p>
                  </a:txBody>
                  <a:tcPr/>
                </a:tc>
                <a:tc>
                  <a:txBody>
                    <a:bodyPr/>
                    <a:lstStyle/>
                    <a:p>
                      <a:pPr algn="ctr"/>
                      <a:r>
                        <a:rPr lang="en-AU" sz="2000" dirty="0"/>
                        <a:t>Gene</a:t>
                      </a:r>
                    </a:p>
                  </a:txBody>
                  <a:tcPr/>
                </a:tc>
                <a:tc>
                  <a:txBody>
                    <a:bodyPr/>
                    <a:lstStyle/>
                    <a:p>
                      <a:pPr algn="ctr"/>
                      <a:r>
                        <a:rPr lang="en-AU" sz="2000" dirty="0"/>
                        <a:t>P-value</a:t>
                      </a:r>
                    </a:p>
                  </a:txBody>
                  <a:tcPr/>
                </a:tc>
                <a:extLst>
                  <a:ext uri="{0D108BD9-81ED-4DB2-BD59-A6C34878D82A}">
                    <a16:rowId xmlns:a16="http://schemas.microsoft.com/office/drawing/2014/main" val="2375619015"/>
                  </a:ext>
                </a:extLst>
              </a:tr>
              <a:tr h="328560">
                <a:tc>
                  <a:txBody>
                    <a:bodyPr/>
                    <a:lstStyle/>
                    <a:p>
                      <a:pPr algn="l"/>
                      <a:r>
                        <a:rPr lang="en-AU" sz="1600" dirty="0"/>
                        <a:t>15:91509215</a:t>
                      </a:r>
                    </a:p>
                  </a:txBody>
                  <a:tcPr/>
                </a:tc>
                <a:tc>
                  <a:txBody>
                    <a:bodyPr/>
                    <a:lstStyle/>
                    <a:p>
                      <a:pPr algn="ctr"/>
                      <a:r>
                        <a:rPr lang="en-AU" sz="1600" dirty="0"/>
                        <a:t>RCCD1</a:t>
                      </a:r>
                    </a:p>
                  </a:txBody>
                  <a:tcPr/>
                </a:tc>
                <a:tc>
                  <a:txBody>
                    <a:bodyPr/>
                    <a:lstStyle/>
                    <a:p>
                      <a:pPr algn="ctr"/>
                      <a:r>
                        <a:rPr lang="en-AU" sz="1600" dirty="0"/>
                        <a:t>0.013</a:t>
                      </a:r>
                    </a:p>
                  </a:txBody>
                  <a:tcPr/>
                </a:tc>
                <a:extLst>
                  <a:ext uri="{0D108BD9-81ED-4DB2-BD59-A6C34878D82A}">
                    <a16:rowId xmlns:a16="http://schemas.microsoft.com/office/drawing/2014/main" val="1985080896"/>
                  </a:ext>
                </a:extLst>
              </a:tr>
              <a:tr h="328560">
                <a:tc>
                  <a:txBody>
                    <a:bodyPr/>
                    <a:lstStyle/>
                    <a:p>
                      <a:pPr algn="l"/>
                      <a:r>
                        <a:rPr lang="en-AU" sz="1600" dirty="0"/>
                        <a:t>2:121156136</a:t>
                      </a:r>
                    </a:p>
                  </a:txBody>
                  <a:tcPr/>
                </a:tc>
                <a:tc>
                  <a:txBody>
                    <a:bodyPr/>
                    <a:lstStyle/>
                    <a:p>
                      <a:pPr algn="ctr"/>
                      <a:r>
                        <a:rPr lang="en-AU" sz="1600" dirty="0"/>
                        <a:t>INHBB</a:t>
                      </a:r>
                    </a:p>
                  </a:txBody>
                  <a:tcPr/>
                </a:tc>
                <a:tc>
                  <a:txBody>
                    <a:bodyPr/>
                    <a:lstStyle/>
                    <a:p>
                      <a:pPr algn="ctr"/>
                      <a:r>
                        <a:rPr lang="en-AU" sz="1600" dirty="0"/>
                        <a:t>0.014</a:t>
                      </a:r>
                    </a:p>
                  </a:txBody>
                  <a:tcPr/>
                </a:tc>
                <a:extLst>
                  <a:ext uri="{0D108BD9-81ED-4DB2-BD59-A6C34878D82A}">
                    <a16:rowId xmlns:a16="http://schemas.microsoft.com/office/drawing/2014/main" val="4090330466"/>
                  </a:ext>
                </a:extLst>
              </a:tr>
              <a:tr h="328560">
                <a:tc>
                  <a:txBody>
                    <a:bodyPr/>
                    <a:lstStyle/>
                    <a:p>
                      <a:pPr algn="l"/>
                      <a:r>
                        <a:rPr lang="en-AU" sz="1600" dirty="0"/>
                        <a:t>10:64563702</a:t>
                      </a:r>
                    </a:p>
                  </a:txBody>
                  <a:tcPr/>
                </a:tc>
                <a:tc>
                  <a:txBody>
                    <a:bodyPr/>
                    <a:lstStyle/>
                    <a:p>
                      <a:pPr algn="ctr"/>
                      <a:r>
                        <a:rPr lang="en-AU" sz="1600" dirty="0"/>
                        <a:t>ADO</a:t>
                      </a:r>
                    </a:p>
                  </a:txBody>
                  <a:tcPr/>
                </a:tc>
                <a:tc>
                  <a:txBody>
                    <a:bodyPr/>
                    <a:lstStyle/>
                    <a:p>
                      <a:pPr algn="ctr"/>
                      <a:r>
                        <a:rPr lang="en-AU" sz="1600" dirty="0"/>
                        <a:t>0.017</a:t>
                      </a:r>
                    </a:p>
                  </a:txBody>
                  <a:tcPr/>
                </a:tc>
                <a:extLst>
                  <a:ext uri="{0D108BD9-81ED-4DB2-BD59-A6C34878D82A}">
                    <a16:rowId xmlns:a16="http://schemas.microsoft.com/office/drawing/2014/main" val="4040488547"/>
                  </a:ext>
                </a:extLst>
              </a:tr>
              <a:tr h="328560">
                <a:tc>
                  <a:txBody>
                    <a:bodyPr/>
                    <a:lstStyle/>
                    <a:p>
                      <a:pPr algn="l"/>
                      <a:r>
                        <a:rPr lang="en-AU" sz="1600" dirty="0"/>
                        <a:t>16:87085237</a:t>
                      </a:r>
                    </a:p>
                  </a:txBody>
                  <a:tcPr/>
                </a:tc>
                <a:tc>
                  <a:txBody>
                    <a:bodyPr/>
                    <a:lstStyle/>
                    <a:p>
                      <a:pPr marL="0" marR="0" indent="0" algn="ctr" defTabSz="1041825" rtl="0" eaLnBrk="1" fontAlgn="auto" latinLnBrk="0" hangingPunct="1">
                        <a:lnSpc>
                          <a:spcPct val="100000"/>
                        </a:lnSpc>
                        <a:spcBef>
                          <a:spcPts val="0"/>
                        </a:spcBef>
                        <a:spcAft>
                          <a:spcPts val="0"/>
                        </a:spcAft>
                        <a:buClrTx/>
                        <a:buSzTx/>
                        <a:buFontTx/>
                        <a:buNone/>
                        <a:tabLst/>
                        <a:defRPr/>
                      </a:pPr>
                      <a:r>
                        <a:rPr lang="en-AU" sz="1600" dirty="0"/>
                        <a:t>C16orf95</a:t>
                      </a:r>
                    </a:p>
                  </a:txBody>
                  <a:tcPr/>
                </a:tc>
                <a:tc>
                  <a:txBody>
                    <a:bodyPr/>
                    <a:lstStyle/>
                    <a:p>
                      <a:pPr algn="ctr"/>
                      <a:r>
                        <a:rPr lang="en-AU" sz="1600" dirty="0"/>
                        <a:t>0.019</a:t>
                      </a:r>
                    </a:p>
                  </a:txBody>
                  <a:tcPr/>
                </a:tc>
                <a:extLst>
                  <a:ext uri="{0D108BD9-81ED-4DB2-BD59-A6C34878D82A}">
                    <a16:rowId xmlns:a16="http://schemas.microsoft.com/office/drawing/2014/main" val="1760540715"/>
                  </a:ext>
                </a:extLst>
              </a:tr>
            </a:tbl>
          </a:graphicData>
        </a:graphic>
      </p:graphicFrame>
      <p:graphicFrame>
        <p:nvGraphicFramePr>
          <p:cNvPr id="49" name="Table 48">
            <a:extLst>
              <a:ext uri="{FF2B5EF4-FFF2-40B4-BE49-F238E27FC236}">
                <a16:creationId xmlns:a16="http://schemas.microsoft.com/office/drawing/2014/main" id="{3F0E5CF6-FCC6-58BB-0FA7-440DDF3E7054}"/>
              </a:ext>
            </a:extLst>
          </p:cNvPr>
          <p:cNvGraphicFramePr>
            <a:graphicFrameLocks noGrp="1"/>
          </p:cNvGraphicFramePr>
          <p:nvPr>
            <p:extLst>
              <p:ext uri="{D42A27DB-BD31-4B8C-83A1-F6EECF244321}">
                <p14:modId xmlns:p14="http://schemas.microsoft.com/office/powerpoint/2010/main" val="3540164341"/>
              </p:ext>
            </p:extLst>
          </p:nvPr>
        </p:nvGraphicFramePr>
        <p:xfrm>
          <a:off x="5519528" y="27183127"/>
          <a:ext cx="4244475" cy="1737360"/>
        </p:xfrm>
        <a:graphic>
          <a:graphicData uri="http://schemas.openxmlformats.org/drawingml/2006/table">
            <a:tbl>
              <a:tblPr firstRow="1" bandRow="1">
                <a:tableStyleId>{5C22544A-7EE6-4342-B048-85BDC9FD1C3A}</a:tableStyleId>
              </a:tblPr>
              <a:tblGrid>
                <a:gridCol w="1414825">
                  <a:extLst>
                    <a:ext uri="{9D8B030D-6E8A-4147-A177-3AD203B41FA5}">
                      <a16:colId xmlns:a16="http://schemas.microsoft.com/office/drawing/2014/main" val="4152900687"/>
                    </a:ext>
                  </a:extLst>
                </a:gridCol>
                <a:gridCol w="1414825">
                  <a:extLst>
                    <a:ext uri="{9D8B030D-6E8A-4147-A177-3AD203B41FA5}">
                      <a16:colId xmlns:a16="http://schemas.microsoft.com/office/drawing/2014/main" val="3722408089"/>
                    </a:ext>
                  </a:extLst>
                </a:gridCol>
                <a:gridCol w="1414825">
                  <a:extLst>
                    <a:ext uri="{9D8B030D-6E8A-4147-A177-3AD203B41FA5}">
                      <a16:colId xmlns:a16="http://schemas.microsoft.com/office/drawing/2014/main" val="3621796485"/>
                    </a:ext>
                  </a:extLst>
                </a:gridCol>
              </a:tblGrid>
              <a:tr h="393443">
                <a:tc>
                  <a:txBody>
                    <a:bodyPr/>
                    <a:lstStyle/>
                    <a:p>
                      <a:pPr algn="ctr"/>
                      <a:r>
                        <a:rPr lang="en-AU" sz="2000" dirty="0"/>
                        <a:t>Top SNPs</a:t>
                      </a:r>
                    </a:p>
                  </a:txBody>
                  <a:tcPr/>
                </a:tc>
                <a:tc>
                  <a:txBody>
                    <a:bodyPr/>
                    <a:lstStyle/>
                    <a:p>
                      <a:pPr algn="ctr"/>
                      <a:r>
                        <a:rPr lang="en-AU" sz="2000" dirty="0"/>
                        <a:t>Gene</a:t>
                      </a:r>
                    </a:p>
                  </a:txBody>
                  <a:tcPr/>
                </a:tc>
                <a:tc>
                  <a:txBody>
                    <a:bodyPr/>
                    <a:lstStyle/>
                    <a:p>
                      <a:pPr algn="ctr"/>
                      <a:r>
                        <a:rPr lang="en-AU" sz="2000" dirty="0"/>
                        <a:t>P-value</a:t>
                      </a:r>
                    </a:p>
                  </a:txBody>
                  <a:tcPr/>
                </a:tc>
                <a:extLst>
                  <a:ext uri="{0D108BD9-81ED-4DB2-BD59-A6C34878D82A}">
                    <a16:rowId xmlns:a16="http://schemas.microsoft.com/office/drawing/2014/main" val="2375619015"/>
                  </a:ext>
                </a:extLst>
              </a:tr>
              <a:tr h="328560">
                <a:tc>
                  <a:txBody>
                    <a:bodyPr/>
                    <a:lstStyle/>
                    <a:p>
                      <a:pPr algn="l"/>
                      <a:r>
                        <a:rPr lang="en-AU" sz="1600" dirty="0"/>
                        <a:t>19:44283031</a:t>
                      </a:r>
                    </a:p>
                  </a:txBody>
                  <a:tcPr/>
                </a:tc>
                <a:tc>
                  <a:txBody>
                    <a:bodyPr/>
                    <a:lstStyle/>
                    <a:p>
                      <a:pPr marL="0" marR="0" indent="0" algn="ctr" defTabSz="1041825" rtl="0" eaLnBrk="1" fontAlgn="auto" latinLnBrk="0" hangingPunct="1">
                        <a:lnSpc>
                          <a:spcPct val="100000"/>
                        </a:lnSpc>
                        <a:spcBef>
                          <a:spcPts val="0"/>
                        </a:spcBef>
                        <a:spcAft>
                          <a:spcPts val="0"/>
                        </a:spcAft>
                        <a:buClrTx/>
                        <a:buSzTx/>
                        <a:buFontTx/>
                        <a:buNone/>
                        <a:tabLst/>
                        <a:defRPr/>
                      </a:pPr>
                      <a:r>
                        <a:rPr lang="en-AU" sz="1600" dirty="0"/>
                        <a:t>KCNN4</a:t>
                      </a:r>
                    </a:p>
                  </a:txBody>
                  <a:tcPr/>
                </a:tc>
                <a:tc>
                  <a:txBody>
                    <a:bodyPr/>
                    <a:lstStyle/>
                    <a:p>
                      <a:pPr algn="ctr"/>
                      <a:r>
                        <a:rPr lang="en-AU" sz="1600" dirty="0"/>
                        <a:t>0.003</a:t>
                      </a:r>
                    </a:p>
                  </a:txBody>
                  <a:tcPr/>
                </a:tc>
                <a:extLst>
                  <a:ext uri="{0D108BD9-81ED-4DB2-BD59-A6C34878D82A}">
                    <a16:rowId xmlns:a16="http://schemas.microsoft.com/office/drawing/2014/main" val="1985080896"/>
                  </a:ext>
                </a:extLst>
              </a:tr>
              <a:tr h="328560">
                <a:tc>
                  <a:txBody>
                    <a:bodyPr/>
                    <a:lstStyle/>
                    <a:p>
                      <a:pPr marL="0" marR="0" indent="0" algn="l" defTabSz="1041825" rtl="0" eaLnBrk="1" fontAlgn="auto" latinLnBrk="0" hangingPunct="1">
                        <a:lnSpc>
                          <a:spcPct val="100000"/>
                        </a:lnSpc>
                        <a:spcBef>
                          <a:spcPts val="0"/>
                        </a:spcBef>
                        <a:spcAft>
                          <a:spcPts val="0"/>
                        </a:spcAft>
                        <a:buClrTx/>
                        <a:buSzTx/>
                        <a:buFontTx/>
                        <a:buNone/>
                        <a:tabLst/>
                        <a:defRPr/>
                      </a:pPr>
                      <a:r>
                        <a:rPr lang="en-AU" sz="1600" dirty="0"/>
                        <a:t>1:42137311</a:t>
                      </a:r>
                    </a:p>
                  </a:txBody>
                  <a:tcPr/>
                </a:tc>
                <a:tc>
                  <a:txBody>
                    <a:bodyPr/>
                    <a:lstStyle/>
                    <a:p>
                      <a:pPr algn="ctr"/>
                      <a:r>
                        <a:rPr lang="en-AU" sz="1600" dirty="0"/>
                        <a:t>EDN2</a:t>
                      </a:r>
                    </a:p>
                  </a:txBody>
                  <a:tcPr/>
                </a:tc>
                <a:tc>
                  <a:txBody>
                    <a:bodyPr/>
                    <a:lstStyle/>
                    <a:p>
                      <a:pPr algn="ctr"/>
                      <a:r>
                        <a:rPr lang="en-AU" sz="1600" dirty="0"/>
                        <a:t>0.025</a:t>
                      </a:r>
                    </a:p>
                  </a:txBody>
                  <a:tcPr/>
                </a:tc>
                <a:extLst>
                  <a:ext uri="{0D108BD9-81ED-4DB2-BD59-A6C34878D82A}">
                    <a16:rowId xmlns:a16="http://schemas.microsoft.com/office/drawing/2014/main" val="4090330466"/>
                  </a:ext>
                </a:extLst>
              </a:tr>
              <a:tr h="328560">
                <a:tc>
                  <a:txBody>
                    <a:bodyPr/>
                    <a:lstStyle/>
                    <a:p>
                      <a:pPr marL="0" marR="0" indent="0" algn="l" defTabSz="1041825" rtl="0" eaLnBrk="1" fontAlgn="auto" latinLnBrk="0" hangingPunct="1">
                        <a:lnSpc>
                          <a:spcPct val="100000"/>
                        </a:lnSpc>
                        <a:spcBef>
                          <a:spcPts val="0"/>
                        </a:spcBef>
                        <a:spcAft>
                          <a:spcPts val="0"/>
                        </a:spcAft>
                        <a:buClrTx/>
                        <a:buSzTx/>
                        <a:buFontTx/>
                        <a:buNone/>
                        <a:tabLst/>
                        <a:defRPr/>
                      </a:pPr>
                      <a:r>
                        <a:rPr lang="en-AU" sz="1600" dirty="0"/>
                        <a:t>8:128372172</a:t>
                      </a:r>
                    </a:p>
                  </a:txBody>
                  <a:tcPr/>
                </a:tc>
                <a:tc>
                  <a:txBody>
                    <a:bodyPr/>
                    <a:lstStyle/>
                    <a:p>
                      <a:pPr marL="0" marR="0" indent="0" algn="ctr" defTabSz="1041825" rtl="0" eaLnBrk="1" fontAlgn="auto" latinLnBrk="0" hangingPunct="1">
                        <a:lnSpc>
                          <a:spcPct val="100000"/>
                        </a:lnSpc>
                        <a:spcBef>
                          <a:spcPts val="0"/>
                        </a:spcBef>
                        <a:spcAft>
                          <a:spcPts val="0"/>
                        </a:spcAft>
                        <a:buClrTx/>
                        <a:buSzTx/>
                        <a:buFontTx/>
                        <a:buNone/>
                        <a:tabLst/>
                        <a:defRPr/>
                      </a:pPr>
                      <a:r>
                        <a:rPr lang="en-AU" sz="1600" dirty="0"/>
                        <a:t>POU5F1B</a:t>
                      </a:r>
                    </a:p>
                  </a:txBody>
                  <a:tcPr/>
                </a:tc>
                <a:tc>
                  <a:txBody>
                    <a:bodyPr/>
                    <a:lstStyle/>
                    <a:p>
                      <a:pPr algn="ctr"/>
                      <a:r>
                        <a:rPr lang="en-AU" sz="1600" dirty="0"/>
                        <a:t>0.035</a:t>
                      </a:r>
                    </a:p>
                  </a:txBody>
                  <a:tcPr/>
                </a:tc>
                <a:extLst>
                  <a:ext uri="{0D108BD9-81ED-4DB2-BD59-A6C34878D82A}">
                    <a16:rowId xmlns:a16="http://schemas.microsoft.com/office/drawing/2014/main" val="4040488547"/>
                  </a:ext>
                </a:extLst>
              </a:tr>
              <a:tr h="328560">
                <a:tc>
                  <a:txBody>
                    <a:bodyPr/>
                    <a:lstStyle/>
                    <a:p>
                      <a:pPr marL="0" marR="0" indent="0" algn="l" defTabSz="1041825" rtl="0" eaLnBrk="1" fontAlgn="auto" latinLnBrk="0" hangingPunct="1">
                        <a:lnSpc>
                          <a:spcPct val="100000"/>
                        </a:lnSpc>
                        <a:spcBef>
                          <a:spcPts val="0"/>
                        </a:spcBef>
                        <a:spcAft>
                          <a:spcPts val="0"/>
                        </a:spcAft>
                        <a:buClrTx/>
                        <a:buSzTx/>
                        <a:buFontTx/>
                        <a:buNone/>
                        <a:tabLst/>
                        <a:defRPr/>
                      </a:pPr>
                      <a:r>
                        <a:rPr lang="en-AU" sz="1600" dirty="0"/>
                        <a:t>1:50829879</a:t>
                      </a:r>
                    </a:p>
                  </a:txBody>
                  <a:tcPr/>
                </a:tc>
                <a:tc>
                  <a:txBody>
                    <a:bodyPr/>
                    <a:lstStyle/>
                    <a:p>
                      <a:pPr marL="0" marR="0" indent="0" algn="ctr" defTabSz="1041825" rtl="0" eaLnBrk="1" fontAlgn="auto" latinLnBrk="0" hangingPunct="1">
                        <a:lnSpc>
                          <a:spcPct val="100000"/>
                        </a:lnSpc>
                        <a:spcBef>
                          <a:spcPts val="0"/>
                        </a:spcBef>
                        <a:spcAft>
                          <a:spcPts val="0"/>
                        </a:spcAft>
                        <a:buClrTx/>
                        <a:buSzTx/>
                        <a:buFontTx/>
                        <a:buNone/>
                        <a:tabLst/>
                        <a:defRPr/>
                      </a:pPr>
                      <a:r>
                        <a:rPr lang="en-AU" sz="1600" dirty="0"/>
                        <a:t>LMO4</a:t>
                      </a:r>
                    </a:p>
                  </a:txBody>
                  <a:tcPr/>
                </a:tc>
                <a:tc>
                  <a:txBody>
                    <a:bodyPr/>
                    <a:lstStyle/>
                    <a:p>
                      <a:pPr algn="ctr"/>
                      <a:r>
                        <a:rPr lang="en-AU" sz="1600" dirty="0"/>
                        <a:t>0.067</a:t>
                      </a:r>
                    </a:p>
                  </a:txBody>
                  <a:tcPr/>
                </a:tc>
                <a:extLst>
                  <a:ext uri="{0D108BD9-81ED-4DB2-BD59-A6C34878D82A}">
                    <a16:rowId xmlns:a16="http://schemas.microsoft.com/office/drawing/2014/main" val="1760540715"/>
                  </a:ext>
                </a:extLst>
              </a:tr>
            </a:tbl>
          </a:graphicData>
        </a:graphic>
      </p:graphicFrame>
      <p:sp>
        <p:nvSpPr>
          <p:cNvPr id="66" name="Rectangle 65">
            <a:extLst>
              <a:ext uri="{FF2B5EF4-FFF2-40B4-BE49-F238E27FC236}">
                <a16:creationId xmlns:a16="http://schemas.microsoft.com/office/drawing/2014/main" id="{FEF924A6-CB63-A28B-59D8-77C3AC5C994E}"/>
              </a:ext>
            </a:extLst>
          </p:cNvPr>
          <p:cNvSpPr/>
          <p:nvPr/>
        </p:nvSpPr>
        <p:spPr>
          <a:xfrm>
            <a:off x="175611" y="29116973"/>
            <a:ext cx="20937683" cy="1015365"/>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AU" sz="2800" dirty="0">
                <a:solidFill>
                  <a:schemeClr val="accent1"/>
                </a:solidFill>
                <a:latin typeface="Arial Rounded MT Bold" panose="020F0704030504030204" pitchFamily="34" charset="77"/>
              </a:rPr>
              <a:t>Conclusion</a:t>
            </a:r>
          </a:p>
        </p:txBody>
      </p:sp>
      <p:sp>
        <p:nvSpPr>
          <p:cNvPr id="67" name="TextBox 66">
            <a:extLst>
              <a:ext uri="{FF2B5EF4-FFF2-40B4-BE49-F238E27FC236}">
                <a16:creationId xmlns:a16="http://schemas.microsoft.com/office/drawing/2014/main" id="{B48AAD44-97AA-7DF5-6CDA-0353E81056D6}"/>
              </a:ext>
            </a:extLst>
          </p:cNvPr>
          <p:cNvSpPr txBox="1"/>
          <p:nvPr/>
        </p:nvSpPr>
        <p:spPr>
          <a:xfrm>
            <a:off x="175611" y="29509946"/>
            <a:ext cx="14984178" cy="646331"/>
          </a:xfrm>
          <a:prstGeom prst="rect">
            <a:avLst/>
          </a:prstGeom>
          <a:noFill/>
        </p:spPr>
        <p:txBody>
          <a:bodyPr wrap="square" rtlCol="0">
            <a:spAutoFit/>
          </a:bodyPr>
          <a:lstStyle/>
          <a:p>
            <a:r>
              <a:rPr lang="en-AU" sz="1800" dirty="0">
                <a:latin typeface="+mn-lt"/>
              </a:rPr>
              <a:t>The genetic effect on differential spatial pattern can be uncovered by multiple spatial metrics. It would be interesting to check the overlapping identified genetic variants using different metrics and further investigate the clinical utility of genetic variants associated with spatial pattern.</a:t>
            </a:r>
          </a:p>
        </p:txBody>
      </p:sp>
      <p:sp>
        <p:nvSpPr>
          <p:cNvPr id="68" name="TextBox 67">
            <a:extLst>
              <a:ext uri="{FF2B5EF4-FFF2-40B4-BE49-F238E27FC236}">
                <a16:creationId xmlns:a16="http://schemas.microsoft.com/office/drawing/2014/main" id="{3777F1D8-7229-14B1-BF59-7DB8532C9C6E}"/>
              </a:ext>
            </a:extLst>
          </p:cNvPr>
          <p:cNvSpPr txBox="1"/>
          <p:nvPr/>
        </p:nvSpPr>
        <p:spPr>
          <a:xfrm>
            <a:off x="15159789" y="29095806"/>
            <a:ext cx="7803667" cy="1077218"/>
          </a:xfrm>
          <a:prstGeom prst="rect">
            <a:avLst/>
          </a:prstGeom>
          <a:noFill/>
        </p:spPr>
        <p:txBody>
          <a:bodyPr wrap="square" rtlCol="0">
            <a:spAutoFit/>
          </a:bodyPr>
          <a:lstStyle/>
          <a:p>
            <a:r>
              <a:rPr lang="en-AU" sz="2800" dirty="0">
                <a:solidFill>
                  <a:schemeClr val="accent1"/>
                </a:solidFill>
                <a:latin typeface="Arial Rounded MT Bold" panose="020F0704030504030204" pitchFamily="34" charset="77"/>
              </a:rPr>
              <a:t>Acknowledgement</a:t>
            </a:r>
          </a:p>
          <a:p>
            <a:r>
              <a:rPr lang="en-US" altLang="ja-JP" sz="1800" dirty="0">
                <a:latin typeface="+mn-lt"/>
                <a:cs typeface="Arial" panose="020B0604020202020204" pitchFamily="34" charset="0"/>
              </a:rPr>
              <a:t>School of Mathematics and Statistics</a:t>
            </a:r>
            <a:endParaRPr lang="en-AU" altLang="ja-JP" sz="1800" dirty="0">
              <a:latin typeface="+mn-lt"/>
              <a:cs typeface="Arial" panose="020B0604020202020204" pitchFamily="34" charset="0"/>
            </a:endParaRPr>
          </a:p>
          <a:p>
            <a:r>
              <a:rPr lang="en-US" altLang="ja-JP" sz="1800" dirty="0">
                <a:latin typeface="+mn-lt"/>
                <a:cs typeface="Arial" panose="020B0604020202020204" pitchFamily="34" charset="0"/>
              </a:rPr>
              <a:t>Sydney Precision Data Science Centre</a:t>
            </a:r>
            <a:endParaRPr lang="en-AU" sz="1800" dirty="0">
              <a:latin typeface="+mn-lt"/>
            </a:endParaRPr>
          </a:p>
        </p:txBody>
      </p:sp>
      <p:pic>
        <p:nvPicPr>
          <p:cNvPr id="4" name="Picture 3" descr="A purple and white marbled surface&#10;&#10;Description automatically generated">
            <a:extLst>
              <a:ext uri="{FF2B5EF4-FFF2-40B4-BE49-F238E27FC236}">
                <a16:creationId xmlns:a16="http://schemas.microsoft.com/office/drawing/2014/main" id="{F647FAC0-62C3-FC03-19C4-2F563017869B}"/>
              </a:ext>
            </a:extLst>
          </p:cNvPr>
          <p:cNvPicPr>
            <a:picLocks noChangeAspect="1"/>
          </p:cNvPicPr>
          <p:nvPr/>
        </p:nvPicPr>
        <p:blipFill>
          <a:blip r:embed="rId4"/>
          <a:stretch>
            <a:fillRect/>
          </a:stretch>
        </p:blipFill>
        <p:spPr>
          <a:xfrm>
            <a:off x="449119" y="9232781"/>
            <a:ext cx="1146227" cy="991332"/>
          </a:xfrm>
          <a:prstGeom prst="rect">
            <a:avLst/>
          </a:prstGeom>
        </p:spPr>
      </p:pic>
      <p:sp>
        <p:nvSpPr>
          <p:cNvPr id="16" name="TextBox 15">
            <a:extLst>
              <a:ext uri="{FF2B5EF4-FFF2-40B4-BE49-F238E27FC236}">
                <a16:creationId xmlns:a16="http://schemas.microsoft.com/office/drawing/2014/main" id="{60B6A2D5-29A6-60C8-AC44-3276D783FB86}"/>
              </a:ext>
            </a:extLst>
          </p:cNvPr>
          <p:cNvSpPr txBox="1"/>
          <p:nvPr/>
        </p:nvSpPr>
        <p:spPr>
          <a:xfrm>
            <a:off x="776426" y="10201025"/>
            <a:ext cx="2417994" cy="338554"/>
          </a:xfrm>
          <a:prstGeom prst="rect">
            <a:avLst/>
          </a:prstGeom>
          <a:noFill/>
        </p:spPr>
        <p:txBody>
          <a:bodyPr wrap="square" rtlCol="0">
            <a:spAutoFit/>
          </a:bodyPr>
          <a:lstStyle/>
          <a:p>
            <a:pPr algn="ctr"/>
            <a:r>
              <a:rPr lang="en-AU" sz="1600" dirty="0">
                <a:latin typeface="+mn-lt"/>
                <a:ea typeface="YuKyokasho Medium" panose="02000500000000000000" pitchFamily="2" charset="-128"/>
              </a:rPr>
              <a:t>Histology images</a:t>
            </a:r>
          </a:p>
        </p:txBody>
      </p:sp>
      <p:sp>
        <p:nvSpPr>
          <p:cNvPr id="25" name="TextBox 24">
            <a:extLst>
              <a:ext uri="{FF2B5EF4-FFF2-40B4-BE49-F238E27FC236}">
                <a16:creationId xmlns:a16="http://schemas.microsoft.com/office/drawing/2014/main" id="{17DDBCBE-2309-0D5E-2A66-E06FCCDC88A9}"/>
              </a:ext>
            </a:extLst>
          </p:cNvPr>
          <p:cNvSpPr txBox="1"/>
          <p:nvPr/>
        </p:nvSpPr>
        <p:spPr>
          <a:xfrm>
            <a:off x="573731" y="13363350"/>
            <a:ext cx="2678300" cy="584775"/>
          </a:xfrm>
          <a:prstGeom prst="rect">
            <a:avLst/>
          </a:prstGeom>
          <a:noFill/>
        </p:spPr>
        <p:txBody>
          <a:bodyPr wrap="square" rtlCol="0">
            <a:spAutoFit/>
          </a:bodyPr>
          <a:lstStyle/>
          <a:p>
            <a:pPr algn="ctr"/>
            <a:r>
              <a:rPr lang="en-AU" sz="1600" i="1" dirty="0">
                <a:latin typeface="+mn-lt"/>
                <a:ea typeface="YuKyokasho Medium" panose="02000500000000000000" pitchFamily="2" charset="-128"/>
              </a:rPr>
              <a:t>In-silico </a:t>
            </a:r>
            <a:r>
              <a:rPr lang="en-AU" sz="1600" dirty="0">
                <a:latin typeface="+mn-lt"/>
                <a:ea typeface="YuKyokasho Medium" panose="02000500000000000000" pitchFamily="2" charset="-128"/>
              </a:rPr>
              <a:t>single-cell spatial gene expression</a:t>
            </a:r>
          </a:p>
        </p:txBody>
      </p:sp>
      <p:sp>
        <p:nvSpPr>
          <p:cNvPr id="26" name="TextBox 25">
            <a:extLst>
              <a:ext uri="{FF2B5EF4-FFF2-40B4-BE49-F238E27FC236}">
                <a16:creationId xmlns:a16="http://schemas.microsoft.com/office/drawing/2014/main" id="{EE83CEDB-729E-1BC4-0448-160FFE401214}"/>
              </a:ext>
            </a:extLst>
          </p:cNvPr>
          <p:cNvSpPr txBox="1"/>
          <p:nvPr/>
        </p:nvSpPr>
        <p:spPr>
          <a:xfrm rot="16200000">
            <a:off x="499418" y="10356745"/>
            <a:ext cx="6871731" cy="830997"/>
          </a:xfrm>
          <a:prstGeom prst="rect">
            <a:avLst/>
          </a:prstGeom>
          <a:noFill/>
        </p:spPr>
        <p:txBody>
          <a:bodyPr wrap="square" rtlCol="0">
            <a:spAutoFit/>
          </a:bodyPr>
          <a:lstStyle/>
          <a:p>
            <a:pPr algn="ctr"/>
            <a:r>
              <a:rPr lang="en-AU" sz="2400" dirty="0">
                <a:latin typeface="+mn-lt"/>
              </a:rPr>
              <a:t>Calculate multiple </a:t>
            </a:r>
            <a:r>
              <a:rPr lang="en-AU" sz="2400" dirty="0">
                <a:solidFill>
                  <a:srgbClr val="FF0000"/>
                </a:solidFill>
                <a:latin typeface="+mn-lt"/>
              </a:rPr>
              <a:t>spatial metrics </a:t>
            </a:r>
            <a:r>
              <a:rPr lang="en-AU" sz="2400" dirty="0">
                <a:latin typeface="+mn-lt"/>
              </a:rPr>
              <a:t>for each patient</a:t>
            </a:r>
          </a:p>
          <a:p>
            <a:pPr algn="ctr"/>
            <a:r>
              <a:rPr lang="en-AU" sz="2400" dirty="0">
                <a:latin typeface="+mn-lt"/>
              </a:rPr>
              <a:t>Link </a:t>
            </a:r>
            <a:r>
              <a:rPr lang="en-AU" sz="2400" dirty="0">
                <a:solidFill>
                  <a:srgbClr val="FF0000"/>
                </a:solidFill>
                <a:latin typeface="+mn-lt"/>
              </a:rPr>
              <a:t>genetic</a:t>
            </a:r>
            <a:r>
              <a:rPr lang="en-AU" sz="2400" dirty="0">
                <a:latin typeface="+mn-lt"/>
              </a:rPr>
              <a:t> information to spatial metrics</a:t>
            </a:r>
          </a:p>
        </p:txBody>
      </p:sp>
      <p:pic>
        <p:nvPicPr>
          <p:cNvPr id="32" name="Picture 31" descr="A purple and white marbled surface&#10;&#10;Description automatically generated">
            <a:extLst>
              <a:ext uri="{FF2B5EF4-FFF2-40B4-BE49-F238E27FC236}">
                <a16:creationId xmlns:a16="http://schemas.microsoft.com/office/drawing/2014/main" id="{3692E863-28AC-3E47-D620-DDE1C6AD4648}"/>
              </a:ext>
            </a:extLst>
          </p:cNvPr>
          <p:cNvPicPr>
            <a:picLocks noChangeAspect="1"/>
          </p:cNvPicPr>
          <p:nvPr/>
        </p:nvPicPr>
        <p:blipFill>
          <a:blip r:embed="rId4"/>
          <a:stretch>
            <a:fillRect/>
          </a:stretch>
        </p:blipFill>
        <p:spPr>
          <a:xfrm>
            <a:off x="1270488" y="9232781"/>
            <a:ext cx="1146227" cy="991332"/>
          </a:xfrm>
          <a:prstGeom prst="rect">
            <a:avLst/>
          </a:prstGeom>
        </p:spPr>
      </p:pic>
      <p:pic>
        <p:nvPicPr>
          <p:cNvPr id="33" name="Picture 32" descr="A purple and white marbled surface&#10;&#10;Description automatically generated">
            <a:extLst>
              <a:ext uri="{FF2B5EF4-FFF2-40B4-BE49-F238E27FC236}">
                <a16:creationId xmlns:a16="http://schemas.microsoft.com/office/drawing/2014/main" id="{0D45B92B-753D-029A-1047-6CB11D9D5DB9}"/>
              </a:ext>
            </a:extLst>
          </p:cNvPr>
          <p:cNvPicPr>
            <a:picLocks noChangeAspect="1"/>
          </p:cNvPicPr>
          <p:nvPr/>
        </p:nvPicPr>
        <p:blipFill>
          <a:blip r:embed="rId4"/>
          <a:stretch>
            <a:fillRect/>
          </a:stretch>
        </p:blipFill>
        <p:spPr>
          <a:xfrm>
            <a:off x="1963429" y="9239392"/>
            <a:ext cx="1056717" cy="913918"/>
          </a:xfrm>
          <a:prstGeom prst="rect">
            <a:avLst/>
          </a:prstGeom>
        </p:spPr>
      </p:pic>
      <p:sp>
        <p:nvSpPr>
          <p:cNvPr id="50" name="TextBox 49">
            <a:extLst>
              <a:ext uri="{FF2B5EF4-FFF2-40B4-BE49-F238E27FC236}">
                <a16:creationId xmlns:a16="http://schemas.microsoft.com/office/drawing/2014/main" id="{799A0F71-10DA-8FD5-CDBC-A951A15D760D}"/>
              </a:ext>
            </a:extLst>
          </p:cNvPr>
          <p:cNvSpPr txBox="1"/>
          <p:nvPr/>
        </p:nvSpPr>
        <p:spPr>
          <a:xfrm>
            <a:off x="11115855" y="14874048"/>
            <a:ext cx="9802201" cy="830997"/>
          </a:xfrm>
          <a:prstGeom prst="rect">
            <a:avLst/>
          </a:prstGeom>
          <a:noFill/>
        </p:spPr>
        <p:txBody>
          <a:bodyPr wrap="square" rtlCol="0">
            <a:spAutoFit/>
          </a:bodyPr>
          <a:lstStyle/>
          <a:p>
            <a:r>
              <a:rPr lang="en-AU" sz="2400" b="1" dirty="0">
                <a:solidFill>
                  <a:schemeClr val="accent5">
                    <a:lumMod val="75000"/>
                  </a:schemeClr>
                </a:solidFill>
                <a:latin typeface="+mn-lt"/>
              </a:rPr>
              <a:t>Associations between copy number alteration and nearest neighbourhood correlation</a:t>
            </a:r>
          </a:p>
        </p:txBody>
      </p:sp>
      <p:pic>
        <p:nvPicPr>
          <p:cNvPr id="57" name="Picture 56">
            <a:extLst>
              <a:ext uri="{FF2B5EF4-FFF2-40B4-BE49-F238E27FC236}">
                <a16:creationId xmlns:a16="http://schemas.microsoft.com/office/drawing/2014/main" id="{13EAF545-F585-9EDE-24FB-5A4E9F796B63}"/>
              </a:ext>
            </a:extLst>
          </p:cNvPr>
          <p:cNvPicPr>
            <a:picLocks noChangeAspect="1"/>
          </p:cNvPicPr>
          <p:nvPr/>
        </p:nvPicPr>
        <p:blipFill>
          <a:blip r:embed="rId16"/>
          <a:stretch>
            <a:fillRect/>
          </a:stretch>
        </p:blipFill>
        <p:spPr>
          <a:xfrm>
            <a:off x="11277446" y="19573900"/>
            <a:ext cx="3132341" cy="3132341"/>
          </a:xfrm>
          <a:prstGeom prst="rect">
            <a:avLst/>
          </a:prstGeom>
        </p:spPr>
      </p:pic>
      <p:pic>
        <p:nvPicPr>
          <p:cNvPr id="58" name="Picture 57">
            <a:extLst>
              <a:ext uri="{FF2B5EF4-FFF2-40B4-BE49-F238E27FC236}">
                <a16:creationId xmlns:a16="http://schemas.microsoft.com/office/drawing/2014/main" id="{D3F2D0AA-1E08-493F-979E-ED84DA6832CF}"/>
              </a:ext>
            </a:extLst>
          </p:cNvPr>
          <p:cNvPicPr>
            <a:picLocks noChangeAspect="1"/>
          </p:cNvPicPr>
          <p:nvPr/>
        </p:nvPicPr>
        <p:blipFill>
          <a:blip r:embed="rId17"/>
          <a:stretch>
            <a:fillRect/>
          </a:stretch>
        </p:blipFill>
        <p:spPr>
          <a:xfrm>
            <a:off x="14786698" y="19568602"/>
            <a:ext cx="3135822" cy="3135822"/>
          </a:xfrm>
          <a:prstGeom prst="rect">
            <a:avLst/>
          </a:prstGeom>
        </p:spPr>
      </p:pic>
      <p:pic>
        <p:nvPicPr>
          <p:cNvPr id="60" name="Picture 59">
            <a:extLst>
              <a:ext uri="{FF2B5EF4-FFF2-40B4-BE49-F238E27FC236}">
                <a16:creationId xmlns:a16="http://schemas.microsoft.com/office/drawing/2014/main" id="{0D01677F-2F7F-2224-F127-3B3D8702113C}"/>
              </a:ext>
            </a:extLst>
          </p:cNvPr>
          <p:cNvPicPr>
            <a:picLocks noChangeAspect="1"/>
          </p:cNvPicPr>
          <p:nvPr/>
        </p:nvPicPr>
        <p:blipFill>
          <a:blip r:embed="rId18"/>
          <a:stretch>
            <a:fillRect/>
          </a:stretch>
        </p:blipFill>
        <p:spPr>
          <a:xfrm>
            <a:off x="17977472" y="19574604"/>
            <a:ext cx="3135822" cy="3135822"/>
          </a:xfrm>
          <a:prstGeom prst="rect">
            <a:avLst/>
          </a:prstGeom>
        </p:spPr>
      </p:pic>
      <p:pic>
        <p:nvPicPr>
          <p:cNvPr id="71" name="Picture 70">
            <a:extLst>
              <a:ext uri="{FF2B5EF4-FFF2-40B4-BE49-F238E27FC236}">
                <a16:creationId xmlns:a16="http://schemas.microsoft.com/office/drawing/2014/main" id="{91E12574-FD65-B88B-9006-F02FD4A83549}"/>
              </a:ext>
            </a:extLst>
          </p:cNvPr>
          <p:cNvPicPr>
            <a:picLocks noChangeAspect="1"/>
          </p:cNvPicPr>
          <p:nvPr/>
        </p:nvPicPr>
        <p:blipFill>
          <a:blip r:embed="rId19"/>
          <a:stretch>
            <a:fillRect/>
          </a:stretch>
        </p:blipFill>
        <p:spPr>
          <a:xfrm>
            <a:off x="11115854" y="22916870"/>
            <a:ext cx="10012285" cy="5877985"/>
          </a:xfrm>
          <a:prstGeom prst="rect">
            <a:avLst/>
          </a:prstGeom>
        </p:spPr>
      </p:pic>
      <p:sp>
        <p:nvSpPr>
          <p:cNvPr id="74" name="Up Arrow 73">
            <a:extLst>
              <a:ext uri="{FF2B5EF4-FFF2-40B4-BE49-F238E27FC236}">
                <a16:creationId xmlns:a16="http://schemas.microsoft.com/office/drawing/2014/main" id="{540D66E7-467D-B0D6-9A05-25FA4D615EA4}"/>
              </a:ext>
            </a:extLst>
          </p:cNvPr>
          <p:cNvSpPr/>
          <p:nvPr/>
        </p:nvSpPr>
        <p:spPr>
          <a:xfrm>
            <a:off x="12164967" y="22969397"/>
            <a:ext cx="373786" cy="736952"/>
          </a:xfrm>
          <a:prstGeom prst="upArrow">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78" name="TextBox 77">
            <a:extLst>
              <a:ext uri="{FF2B5EF4-FFF2-40B4-BE49-F238E27FC236}">
                <a16:creationId xmlns:a16="http://schemas.microsoft.com/office/drawing/2014/main" id="{47B4D630-9073-EFC1-4134-0A9DC7B30888}"/>
              </a:ext>
            </a:extLst>
          </p:cNvPr>
          <p:cNvSpPr txBox="1"/>
          <p:nvPr/>
        </p:nvSpPr>
        <p:spPr>
          <a:xfrm>
            <a:off x="11115855" y="15782916"/>
            <a:ext cx="9802201" cy="3477875"/>
          </a:xfrm>
          <a:prstGeom prst="rect">
            <a:avLst/>
          </a:prstGeom>
          <a:noFill/>
        </p:spPr>
        <p:txBody>
          <a:bodyPr wrap="square" rtlCol="0">
            <a:spAutoFit/>
          </a:bodyPr>
          <a:lstStyle/>
          <a:p>
            <a:pPr marL="457200" indent="-457200">
              <a:buFont typeface="+mj-lt"/>
              <a:buAutoNum type="arabicPeriod"/>
            </a:pPr>
            <a:r>
              <a:rPr lang="en-AU" sz="2000" b="0" i="0" u="none" strike="noStrike" dirty="0">
                <a:solidFill>
                  <a:srgbClr val="000000"/>
                </a:solidFill>
                <a:effectLst/>
                <a:latin typeface="+mn-lt"/>
              </a:rPr>
              <a:t>Focal copy number alteration (CNA) was estimated using the Genomic Data Common (GDC) pipeline with the GISTIC method implemented and then threshold to -1, 0, 1, representing deletion, normal copy, or amplification.</a:t>
            </a:r>
          </a:p>
          <a:p>
            <a:pPr marL="457200" indent="-457200">
              <a:buFont typeface="+mj-lt"/>
              <a:buAutoNum type="arabicPeriod"/>
            </a:pPr>
            <a:r>
              <a:rPr lang="en-AU" sz="2000" b="0" i="0" u="none" strike="noStrike" dirty="0">
                <a:solidFill>
                  <a:srgbClr val="000000"/>
                </a:solidFill>
                <a:effectLst/>
                <a:latin typeface="+mn-lt"/>
              </a:rPr>
              <a:t>We selected all genes that have both deletion and amplification with a frequency &gt;= 5, which resulted in 2,177 CNA genes.</a:t>
            </a:r>
          </a:p>
          <a:p>
            <a:pPr marL="457200" indent="-457200">
              <a:buFont typeface="+mj-lt"/>
              <a:buAutoNum type="arabicPeriod"/>
            </a:pPr>
            <a:r>
              <a:rPr lang="en-US" sz="2000" dirty="0">
                <a:latin typeface="+mn-lt"/>
                <a:cs typeface="Times New Roman" panose="02020603050405020304" pitchFamily="18" charset="0"/>
              </a:rPr>
              <a:t>For a given </a:t>
            </a:r>
            <a:r>
              <a:rPr lang="en-US" sz="2000" dirty="0" err="1">
                <a:latin typeface="+mn-lt"/>
                <a:cs typeface="Times New Roman" panose="02020603050405020304" pitchFamily="18" charset="0"/>
              </a:rPr>
              <a:t>CNA_gene</a:t>
            </a:r>
            <a:r>
              <a:rPr lang="en-US" sz="2000" dirty="0">
                <a:latin typeface="+mn-lt"/>
                <a:cs typeface="Times New Roman" panose="02020603050405020304" pitchFamily="18" charset="0"/>
              </a:rPr>
              <a:t>, we compared between two groups of individuals, patients showing </a:t>
            </a:r>
            <a:r>
              <a:rPr lang="en-US" sz="2000" dirty="0" err="1">
                <a:latin typeface="+mn-lt"/>
                <a:cs typeface="Times New Roman" panose="02020603050405020304" pitchFamily="18" charset="0"/>
              </a:rPr>
              <a:t>CNA_gene</a:t>
            </a:r>
            <a:r>
              <a:rPr lang="en-US" sz="2000" dirty="0">
                <a:latin typeface="+mn-lt"/>
                <a:cs typeface="Times New Roman" panose="02020603050405020304" pitchFamily="18" charset="0"/>
              </a:rPr>
              <a:t> loss (-1) and </a:t>
            </a:r>
            <a:r>
              <a:rPr lang="en-US" sz="2000" dirty="0" err="1">
                <a:latin typeface="+mn-lt"/>
                <a:cs typeface="Times New Roman" panose="02020603050405020304" pitchFamily="18" charset="0"/>
              </a:rPr>
              <a:t>CNA_gene</a:t>
            </a:r>
            <a:r>
              <a:rPr lang="en-US" sz="2000" dirty="0">
                <a:latin typeface="+mn-lt"/>
                <a:cs typeface="Times New Roman" panose="02020603050405020304" pitchFamily="18" charset="0"/>
              </a:rPr>
              <a:t> gain (+1).</a:t>
            </a:r>
          </a:p>
          <a:p>
            <a:pPr marL="457200" indent="-457200">
              <a:buFont typeface="+mj-lt"/>
              <a:buAutoNum type="arabicPeriod"/>
            </a:pPr>
            <a:r>
              <a:rPr lang="en-US" sz="2000" dirty="0">
                <a:latin typeface="+mn-lt"/>
                <a:cs typeface="Times New Roman" panose="02020603050405020304" pitchFamily="18" charset="0"/>
              </a:rPr>
              <a:t>For these two groups, we identified differential patterning (DP) genes where spatial patterning was measured by NN correlation.</a:t>
            </a:r>
          </a:p>
          <a:p>
            <a:pPr marL="457200" indent="-457200">
              <a:buFont typeface="+mj-lt"/>
              <a:buAutoNum type="arabicPeriod"/>
            </a:pPr>
            <a:r>
              <a:rPr lang="en-US" sz="2000" dirty="0">
                <a:highlight>
                  <a:srgbClr val="E64626"/>
                </a:highlight>
                <a:latin typeface="+mn-lt"/>
                <a:cs typeface="Times New Roman" panose="02020603050405020304" pitchFamily="18" charset="0"/>
              </a:rPr>
              <a:t>[DO WE NEED A statement to talk about DP hotspot]</a:t>
            </a:r>
          </a:p>
          <a:p>
            <a:pPr marL="457200" indent="-457200">
              <a:buFont typeface="+mj-lt"/>
              <a:buAutoNum type="arabicPeriod"/>
            </a:pPr>
            <a:endParaRPr lang="en-AU" sz="2000" dirty="0">
              <a:latin typeface="+mn-lt"/>
              <a:cs typeface="Times New Roman" panose="02020603050405020304" pitchFamily="18" charset="0"/>
            </a:endParaRPr>
          </a:p>
        </p:txBody>
      </p:sp>
      <p:pic>
        <p:nvPicPr>
          <p:cNvPr id="79" name="Picture 78" descr="A purple and white marbled surface&#10;&#10;Description automatically generated">
            <a:extLst>
              <a:ext uri="{FF2B5EF4-FFF2-40B4-BE49-F238E27FC236}">
                <a16:creationId xmlns:a16="http://schemas.microsoft.com/office/drawing/2014/main" id="{75AB510F-ECDB-A2CE-1C9B-4073A5C41980}"/>
              </a:ext>
            </a:extLst>
          </p:cNvPr>
          <p:cNvPicPr>
            <a:picLocks noChangeAspect="1"/>
          </p:cNvPicPr>
          <p:nvPr/>
        </p:nvPicPr>
        <p:blipFill>
          <a:blip r:embed="rId4"/>
          <a:stretch>
            <a:fillRect/>
          </a:stretch>
        </p:blipFill>
        <p:spPr>
          <a:xfrm>
            <a:off x="2323226" y="9224206"/>
            <a:ext cx="1146229" cy="991333"/>
          </a:xfrm>
          <a:prstGeom prst="rect">
            <a:avLst/>
          </a:prstGeom>
        </p:spPr>
      </p:pic>
      <p:pic>
        <p:nvPicPr>
          <p:cNvPr id="80" name="Picture 79" descr="Blue and white speckled background&#10;&#10;Description automatically generated">
            <a:extLst>
              <a:ext uri="{FF2B5EF4-FFF2-40B4-BE49-F238E27FC236}">
                <a16:creationId xmlns:a16="http://schemas.microsoft.com/office/drawing/2014/main" id="{FC120277-1B54-4BEC-EA24-47CD211AA8D1}"/>
              </a:ext>
            </a:extLst>
          </p:cNvPr>
          <p:cNvPicPr>
            <a:picLocks noChangeAspect="1"/>
          </p:cNvPicPr>
          <p:nvPr/>
        </p:nvPicPr>
        <p:blipFill>
          <a:blip r:embed="rId5"/>
          <a:stretch>
            <a:fillRect/>
          </a:stretch>
        </p:blipFill>
        <p:spPr>
          <a:xfrm>
            <a:off x="1656757" y="12145908"/>
            <a:ext cx="1204664" cy="953313"/>
          </a:xfrm>
          <a:prstGeom prst="rect">
            <a:avLst/>
          </a:prstGeom>
        </p:spPr>
      </p:pic>
      <p:pic>
        <p:nvPicPr>
          <p:cNvPr id="82" name="Picture 81" descr="Blue and white speckled background&#10;&#10;Description automatically generated">
            <a:extLst>
              <a:ext uri="{FF2B5EF4-FFF2-40B4-BE49-F238E27FC236}">
                <a16:creationId xmlns:a16="http://schemas.microsoft.com/office/drawing/2014/main" id="{E812FB5C-9240-A53D-2122-77BC263F414C}"/>
              </a:ext>
            </a:extLst>
          </p:cNvPr>
          <p:cNvPicPr>
            <a:picLocks noChangeAspect="1"/>
          </p:cNvPicPr>
          <p:nvPr/>
        </p:nvPicPr>
        <p:blipFill>
          <a:blip r:embed="rId5"/>
          <a:stretch>
            <a:fillRect/>
          </a:stretch>
        </p:blipFill>
        <p:spPr>
          <a:xfrm>
            <a:off x="1946592" y="12124741"/>
            <a:ext cx="1204664" cy="953313"/>
          </a:xfrm>
          <a:prstGeom prst="rect">
            <a:avLst/>
          </a:prstGeom>
        </p:spPr>
      </p:pic>
      <p:pic>
        <p:nvPicPr>
          <p:cNvPr id="84" name="Picture 83" descr="Blue and white speckled background&#10;&#10;Description automatically generated">
            <a:extLst>
              <a:ext uri="{FF2B5EF4-FFF2-40B4-BE49-F238E27FC236}">
                <a16:creationId xmlns:a16="http://schemas.microsoft.com/office/drawing/2014/main" id="{C57FF6E1-695D-8A58-FE17-8F01F1F35458}"/>
              </a:ext>
            </a:extLst>
          </p:cNvPr>
          <p:cNvPicPr>
            <a:picLocks noChangeAspect="1"/>
          </p:cNvPicPr>
          <p:nvPr/>
        </p:nvPicPr>
        <p:blipFill>
          <a:blip r:embed="rId5"/>
          <a:stretch>
            <a:fillRect/>
          </a:stretch>
        </p:blipFill>
        <p:spPr>
          <a:xfrm>
            <a:off x="2273154" y="12152427"/>
            <a:ext cx="1204664" cy="953313"/>
          </a:xfrm>
          <a:prstGeom prst="rect">
            <a:avLst/>
          </a:prstGeom>
        </p:spPr>
      </p:pic>
      <p:sp>
        <p:nvSpPr>
          <p:cNvPr id="86" name="Rectangle 85">
            <a:extLst>
              <a:ext uri="{FF2B5EF4-FFF2-40B4-BE49-F238E27FC236}">
                <a16:creationId xmlns:a16="http://schemas.microsoft.com/office/drawing/2014/main" id="{B7C8C313-61A0-4886-F182-1CCE8B5ECD01}"/>
              </a:ext>
            </a:extLst>
          </p:cNvPr>
          <p:cNvSpPr/>
          <p:nvPr/>
        </p:nvSpPr>
        <p:spPr>
          <a:xfrm>
            <a:off x="336617" y="7456678"/>
            <a:ext cx="3231247" cy="3048456"/>
          </a:xfrm>
          <a:prstGeom prst="rect">
            <a:avLst/>
          </a:prstGeom>
          <a:noFill/>
          <a:ln>
            <a:solidFill>
              <a:schemeClr val="bg1">
                <a:lumMod val="75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8" name="Rectangle 87">
            <a:extLst>
              <a:ext uri="{FF2B5EF4-FFF2-40B4-BE49-F238E27FC236}">
                <a16:creationId xmlns:a16="http://schemas.microsoft.com/office/drawing/2014/main" id="{38BF1038-90AB-CA66-0AB2-6B09BC4B10C7}"/>
              </a:ext>
            </a:extLst>
          </p:cNvPr>
          <p:cNvSpPr/>
          <p:nvPr/>
        </p:nvSpPr>
        <p:spPr>
          <a:xfrm>
            <a:off x="336617" y="12049603"/>
            <a:ext cx="3231247" cy="2031012"/>
          </a:xfrm>
          <a:prstGeom prst="rect">
            <a:avLst/>
          </a:prstGeom>
          <a:noFill/>
          <a:ln>
            <a:solidFill>
              <a:schemeClr val="bg1">
                <a:lumMod val="75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95" name="Graphic 94" descr="Woman with solid fill">
            <a:extLst>
              <a:ext uri="{FF2B5EF4-FFF2-40B4-BE49-F238E27FC236}">
                <a16:creationId xmlns:a16="http://schemas.microsoft.com/office/drawing/2014/main" id="{96D75CB7-2C42-9E83-CE63-49331330EAB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83833" y="10560332"/>
            <a:ext cx="627150" cy="627150"/>
          </a:xfrm>
          <a:prstGeom prst="rect">
            <a:avLst/>
          </a:prstGeom>
        </p:spPr>
      </p:pic>
      <p:sp>
        <p:nvSpPr>
          <p:cNvPr id="96" name="TextBox 95">
            <a:extLst>
              <a:ext uri="{FF2B5EF4-FFF2-40B4-BE49-F238E27FC236}">
                <a16:creationId xmlns:a16="http://schemas.microsoft.com/office/drawing/2014/main" id="{CE3A6517-D3AA-EA1D-1BDF-D996DFD37B4E}"/>
              </a:ext>
            </a:extLst>
          </p:cNvPr>
          <p:cNvSpPr txBox="1"/>
          <p:nvPr/>
        </p:nvSpPr>
        <p:spPr>
          <a:xfrm>
            <a:off x="4954670" y="10731502"/>
            <a:ext cx="2502972" cy="307777"/>
          </a:xfrm>
          <a:prstGeom prst="rect">
            <a:avLst/>
          </a:prstGeom>
          <a:noFill/>
        </p:spPr>
        <p:txBody>
          <a:bodyPr wrap="square" rtlCol="0">
            <a:spAutoFit/>
          </a:bodyPr>
          <a:lstStyle/>
          <a:p>
            <a:r>
              <a:rPr lang="en-AU" sz="1400" dirty="0">
                <a:solidFill>
                  <a:schemeClr val="bg2">
                    <a:lumMod val="75000"/>
                  </a:schemeClr>
                </a:solidFill>
                <a:latin typeface="Arial Rounded MT Bold" panose="020F0704030504030204" pitchFamily="34" charset="77"/>
              </a:rPr>
              <a:t>AG | BRCA2+ | Duplication</a:t>
            </a:r>
          </a:p>
        </p:txBody>
      </p:sp>
      <p:sp>
        <p:nvSpPr>
          <p:cNvPr id="97" name="Rectangle 96">
            <a:extLst>
              <a:ext uri="{FF2B5EF4-FFF2-40B4-BE49-F238E27FC236}">
                <a16:creationId xmlns:a16="http://schemas.microsoft.com/office/drawing/2014/main" id="{857BAA1B-21B6-A461-A832-4B6EA4BC2604}"/>
              </a:ext>
            </a:extLst>
          </p:cNvPr>
          <p:cNvSpPr/>
          <p:nvPr/>
        </p:nvSpPr>
        <p:spPr>
          <a:xfrm>
            <a:off x="4597674" y="10473371"/>
            <a:ext cx="2689310" cy="846712"/>
          </a:xfrm>
          <a:prstGeom prst="rect">
            <a:avLst/>
          </a:pr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pic>
        <p:nvPicPr>
          <p:cNvPr id="98" name="Graphic 97" descr="Woman with solid fill">
            <a:extLst>
              <a:ext uri="{FF2B5EF4-FFF2-40B4-BE49-F238E27FC236}">
                <a16:creationId xmlns:a16="http://schemas.microsoft.com/office/drawing/2014/main" id="{16290A0E-D938-64B9-A8DF-E72F11B0395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96684" y="11571628"/>
            <a:ext cx="627150" cy="627150"/>
          </a:xfrm>
          <a:prstGeom prst="rect">
            <a:avLst/>
          </a:prstGeom>
        </p:spPr>
      </p:pic>
      <p:sp>
        <p:nvSpPr>
          <p:cNvPr id="99" name="TextBox 98">
            <a:extLst>
              <a:ext uri="{FF2B5EF4-FFF2-40B4-BE49-F238E27FC236}">
                <a16:creationId xmlns:a16="http://schemas.microsoft.com/office/drawing/2014/main" id="{B1CDA364-A1A8-2718-E973-BFC3182E54B3}"/>
              </a:ext>
            </a:extLst>
          </p:cNvPr>
          <p:cNvSpPr txBox="1"/>
          <p:nvPr/>
        </p:nvSpPr>
        <p:spPr>
          <a:xfrm>
            <a:off x="4967521" y="11742798"/>
            <a:ext cx="2502972" cy="307777"/>
          </a:xfrm>
          <a:prstGeom prst="rect">
            <a:avLst/>
          </a:prstGeom>
          <a:noFill/>
        </p:spPr>
        <p:txBody>
          <a:bodyPr wrap="square" rtlCol="0">
            <a:spAutoFit/>
          </a:bodyPr>
          <a:lstStyle/>
          <a:p>
            <a:r>
              <a:rPr lang="en-AU" sz="1400" dirty="0">
                <a:solidFill>
                  <a:schemeClr val="bg2">
                    <a:lumMod val="75000"/>
                  </a:schemeClr>
                </a:solidFill>
                <a:latin typeface="Arial Rounded MT Bold" panose="020F0704030504030204" pitchFamily="34" charset="77"/>
              </a:rPr>
              <a:t>GG | Wildtype | Normal</a:t>
            </a:r>
          </a:p>
        </p:txBody>
      </p:sp>
      <p:sp>
        <p:nvSpPr>
          <p:cNvPr id="100" name="Rectangle 99">
            <a:extLst>
              <a:ext uri="{FF2B5EF4-FFF2-40B4-BE49-F238E27FC236}">
                <a16:creationId xmlns:a16="http://schemas.microsoft.com/office/drawing/2014/main" id="{03042D69-E7A1-6C73-29D6-C1433344E054}"/>
              </a:ext>
            </a:extLst>
          </p:cNvPr>
          <p:cNvSpPr/>
          <p:nvPr/>
        </p:nvSpPr>
        <p:spPr>
          <a:xfrm>
            <a:off x="4610525" y="11484667"/>
            <a:ext cx="2689310" cy="846712"/>
          </a:xfrm>
          <a:prstGeom prst="rect">
            <a:avLst/>
          </a:pr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pic>
        <p:nvPicPr>
          <p:cNvPr id="101" name="Picture 100">
            <a:extLst>
              <a:ext uri="{FF2B5EF4-FFF2-40B4-BE49-F238E27FC236}">
                <a16:creationId xmlns:a16="http://schemas.microsoft.com/office/drawing/2014/main" id="{03B5AD85-BECD-0514-EE18-C5EFC18039A3}"/>
              </a:ext>
            </a:extLst>
          </p:cNvPr>
          <p:cNvPicPr>
            <a:picLocks noChangeAspect="1"/>
          </p:cNvPicPr>
          <p:nvPr/>
        </p:nvPicPr>
        <p:blipFill rotWithShape="1">
          <a:blip r:embed="rId20"/>
          <a:srcRect r="12925" b="50915"/>
          <a:stretch/>
        </p:blipFill>
        <p:spPr>
          <a:xfrm>
            <a:off x="8010083" y="8393034"/>
            <a:ext cx="5515574" cy="1800274"/>
          </a:xfrm>
          <a:prstGeom prst="rect">
            <a:avLst/>
          </a:prstGeom>
        </p:spPr>
      </p:pic>
      <p:pic>
        <p:nvPicPr>
          <p:cNvPr id="110" name="Picture 109">
            <a:extLst>
              <a:ext uri="{FF2B5EF4-FFF2-40B4-BE49-F238E27FC236}">
                <a16:creationId xmlns:a16="http://schemas.microsoft.com/office/drawing/2014/main" id="{CCB71268-F336-A2DB-7DAA-65505E5C1AF7}"/>
              </a:ext>
            </a:extLst>
          </p:cNvPr>
          <p:cNvPicPr>
            <a:picLocks noChangeAspect="1"/>
          </p:cNvPicPr>
          <p:nvPr/>
        </p:nvPicPr>
        <p:blipFill rotWithShape="1">
          <a:blip r:embed="rId21"/>
          <a:srcRect r="9345" b="52619"/>
          <a:stretch/>
        </p:blipFill>
        <p:spPr>
          <a:xfrm>
            <a:off x="13968698" y="8402687"/>
            <a:ext cx="7131285" cy="2159177"/>
          </a:xfrm>
          <a:prstGeom prst="rect">
            <a:avLst/>
          </a:prstGeom>
        </p:spPr>
      </p:pic>
      <p:pic>
        <p:nvPicPr>
          <p:cNvPr id="113" name="Picture 112">
            <a:extLst>
              <a:ext uri="{FF2B5EF4-FFF2-40B4-BE49-F238E27FC236}">
                <a16:creationId xmlns:a16="http://schemas.microsoft.com/office/drawing/2014/main" id="{BC05350A-F2D6-C040-0D89-9E6B27A71739}"/>
              </a:ext>
            </a:extLst>
          </p:cNvPr>
          <p:cNvPicPr>
            <a:picLocks noChangeAspect="1"/>
          </p:cNvPicPr>
          <p:nvPr/>
        </p:nvPicPr>
        <p:blipFill rotWithShape="1">
          <a:blip r:embed="rId22"/>
          <a:srcRect r="11360" b="49613"/>
          <a:stretch/>
        </p:blipFill>
        <p:spPr>
          <a:xfrm>
            <a:off x="7778414" y="11271890"/>
            <a:ext cx="6642870" cy="1751987"/>
          </a:xfrm>
          <a:prstGeom prst="rect">
            <a:avLst/>
          </a:prstGeom>
        </p:spPr>
      </p:pic>
      <p:sp>
        <p:nvSpPr>
          <p:cNvPr id="115" name="Rectangle 114">
            <a:extLst>
              <a:ext uri="{FF2B5EF4-FFF2-40B4-BE49-F238E27FC236}">
                <a16:creationId xmlns:a16="http://schemas.microsoft.com/office/drawing/2014/main" id="{5F5B61FA-AE1F-5DD5-8F93-F59DB1082751}"/>
              </a:ext>
            </a:extLst>
          </p:cNvPr>
          <p:cNvSpPr/>
          <p:nvPr/>
        </p:nvSpPr>
        <p:spPr>
          <a:xfrm>
            <a:off x="16056153" y="10449933"/>
            <a:ext cx="2990863" cy="433649"/>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AU" sz="2000" dirty="0"/>
              <a:t>Spatial autocorrelation</a:t>
            </a:r>
          </a:p>
        </p:txBody>
      </p:sp>
      <p:sp>
        <p:nvSpPr>
          <p:cNvPr id="118" name="TextBox 117">
            <a:extLst>
              <a:ext uri="{FF2B5EF4-FFF2-40B4-BE49-F238E27FC236}">
                <a16:creationId xmlns:a16="http://schemas.microsoft.com/office/drawing/2014/main" id="{4BDCC599-6DED-27E5-EE79-C3FB42737952}"/>
              </a:ext>
            </a:extLst>
          </p:cNvPr>
          <p:cNvSpPr txBox="1"/>
          <p:nvPr/>
        </p:nvSpPr>
        <p:spPr>
          <a:xfrm>
            <a:off x="15707503" y="10880783"/>
            <a:ext cx="3938707" cy="400110"/>
          </a:xfrm>
          <a:prstGeom prst="rect">
            <a:avLst/>
          </a:prstGeom>
          <a:noFill/>
        </p:spPr>
        <p:txBody>
          <a:bodyPr wrap="none" rtlCol="0">
            <a:spAutoFit/>
          </a:bodyPr>
          <a:lstStyle>
            <a:defPPr>
              <a:defRPr lang="en-US"/>
            </a:defPPr>
            <a:lvl1pPr>
              <a:defRPr sz="1200">
                <a:solidFill>
                  <a:srgbClr val="FF0000"/>
                </a:solidFill>
                <a:latin typeface="Arial Rounded MT Bold" panose="020F0704030504030204" pitchFamily="34" charset="77"/>
                <a:ea typeface="YuKyokasho Medium" panose="02000500000000000000" pitchFamily="2" charset="-128"/>
              </a:defRPr>
            </a:lvl1pPr>
          </a:lstStyle>
          <a:p>
            <a:r>
              <a:rPr lang="en-AU" sz="2000" dirty="0">
                <a:solidFill>
                  <a:schemeClr val="accent6">
                    <a:lumMod val="60000"/>
                    <a:lumOff val="40000"/>
                  </a:schemeClr>
                </a:solidFill>
              </a:rPr>
              <a:t>Nearest neighbour correlation</a:t>
            </a:r>
          </a:p>
        </p:txBody>
      </p:sp>
      <p:pic>
        <p:nvPicPr>
          <p:cNvPr id="122" name="Picture 121">
            <a:extLst>
              <a:ext uri="{FF2B5EF4-FFF2-40B4-BE49-F238E27FC236}">
                <a16:creationId xmlns:a16="http://schemas.microsoft.com/office/drawing/2014/main" id="{76B1B712-9F56-2BEB-2A93-2D47BB291751}"/>
              </a:ext>
            </a:extLst>
          </p:cNvPr>
          <p:cNvPicPr>
            <a:picLocks noChangeAspect="1"/>
          </p:cNvPicPr>
          <p:nvPr/>
        </p:nvPicPr>
        <p:blipFill rotWithShape="1">
          <a:blip r:embed="rId23"/>
          <a:srcRect r="16959" b="49358"/>
          <a:stretch/>
        </p:blipFill>
        <p:spPr>
          <a:xfrm>
            <a:off x="14434858" y="11293795"/>
            <a:ext cx="6391025" cy="1730082"/>
          </a:xfrm>
          <a:prstGeom prst="rect">
            <a:avLst/>
          </a:prstGeom>
        </p:spPr>
      </p:pic>
      <p:sp>
        <p:nvSpPr>
          <p:cNvPr id="123" name="TextBox 122">
            <a:extLst>
              <a:ext uri="{FF2B5EF4-FFF2-40B4-BE49-F238E27FC236}">
                <a16:creationId xmlns:a16="http://schemas.microsoft.com/office/drawing/2014/main" id="{8B5A44E3-9FB3-A1AB-7F7D-3E1A64C0618A}"/>
              </a:ext>
            </a:extLst>
          </p:cNvPr>
          <p:cNvSpPr txBox="1"/>
          <p:nvPr/>
        </p:nvSpPr>
        <p:spPr>
          <a:xfrm>
            <a:off x="18219355" y="13277037"/>
            <a:ext cx="2796599" cy="369332"/>
          </a:xfrm>
          <a:prstGeom prst="rect">
            <a:avLst/>
          </a:prstGeom>
          <a:noFill/>
        </p:spPr>
        <p:txBody>
          <a:bodyPr wrap="none" rtlCol="0">
            <a:spAutoFit/>
          </a:bodyPr>
          <a:lstStyle>
            <a:defPPr>
              <a:defRPr lang="en-US"/>
            </a:defPPr>
            <a:lvl1pPr>
              <a:defRPr sz="1600">
                <a:solidFill>
                  <a:srgbClr val="FF0000"/>
                </a:solidFill>
                <a:latin typeface="Arial Rounded MT Bold" panose="020F0704030504030204" pitchFamily="34" charset="77"/>
                <a:ea typeface="YuKyokasho Medium" panose="02000500000000000000" pitchFamily="2" charset="-128"/>
              </a:defRPr>
            </a:lvl1pPr>
          </a:lstStyle>
          <a:p>
            <a:r>
              <a:rPr lang="en-AU" sz="1800" dirty="0">
                <a:solidFill>
                  <a:schemeClr val="tx1"/>
                </a:solidFill>
                <a:latin typeface="+mn-lt"/>
              </a:rPr>
              <a:t>Differential spatial pattern</a:t>
            </a:r>
          </a:p>
        </p:txBody>
      </p:sp>
      <p:sp>
        <p:nvSpPr>
          <p:cNvPr id="124" name="TextBox 123">
            <a:extLst>
              <a:ext uri="{FF2B5EF4-FFF2-40B4-BE49-F238E27FC236}">
                <a16:creationId xmlns:a16="http://schemas.microsoft.com/office/drawing/2014/main" id="{E694D438-2725-32A1-95CE-F5D393138324}"/>
              </a:ext>
            </a:extLst>
          </p:cNvPr>
          <p:cNvSpPr txBox="1"/>
          <p:nvPr/>
        </p:nvSpPr>
        <p:spPr>
          <a:xfrm>
            <a:off x="15411938" y="13269599"/>
            <a:ext cx="1518364" cy="369332"/>
          </a:xfrm>
          <a:prstGeom prst="rect">
            <a:avLst/>
          </a:prstGeom>
          <a:noFill/>
        </p:spPr>
        <p:txBody>
          <a:bodyPr wrap="none" rtlCol="0">
            <a:spAutoFit/>
          </a:bodyPr>
          <a:lstStyle>
            <a:defPPr>
              <a:defRPr lang="en-US"/>
            </a:defPPr>
            <a:lvl1pPr>
              <a:defRPr sz="1200">
                <a:solidFill>
                  <a:srgbClr val="FF0000"/>
                </a:solidFill>
                <a:latin typeface="Arial Rounded MT Bold" panose="020F0704030504030204" pitchFamily="34" charset="77"/>
                <a:ea typeface="YuKyokasho Medium" panose="02000500000000000000" pitchFamily="2" charset="-128"/>
              </a:defRPr>
            </a:lvl1pPr>
          </a:lstStyle>
          <a:p>
            <a:r>
              <a:rPr lang="en-AU" sz="1800" dirty="0">
                <a:solidFill>
                  <a:schemeClr val="tx1"/>
                </a:solidFill>
                <a:latin typeface="+mn-lt"/>
              </a:rPr>
              <a:t>Spatial QTLs</a:t>
            </a:r>
          </a:p>
        </p:txBody>
      </p:sp>
      <p:sp>
        <p:nvSpPr>
          <p:cNvPr id="125" name="Rectangle 124">
            <a:extLst>
              <a:ext uri="{FF2B5EF4-FFF2-40B4-BE49-F238E27FC236}">
                <a16:creationId xmlns:a16="http://schemas.microsoft.com/office/drawing/2014/main" id="{0534797A-8E09-71E7-E11E-9134A9021869}"/>
              </a:ext>
            </a:extLst>
          </p:cNvPr>
          <p:cNvSpPr/>
          <p:nvPr/>
        </p:nvSpPr>
        <p:spPr>
          <a:xfrm>
            <a:off x="7693050" y="13056433"/>
            <a:ext cx="2799628" cy="948203"/>
          </a:xfrm>
          <a:prstGeom prst="rect">
            <a:avLst/>
          </a:prstGeom>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1800" dirty="0">
                <a:solidFill>
                  <a:schemeClr val="tx1"/>
                </a:solidFill>
              </a:rPr>
              <a:t>Genetic profile (SNPs, pathogenic variants, somatic mutation, CNA)</a:t>
            </a:r>
          </a:p>
        </p:txBody>
      </p:sp>
      <p:cxnSp>
        <p:nvCxnSpPr>
          <p:cNvPr id="127" name="Straight Connector 126">
            <a:extLst>
              <a:ext uri="{FF2B5EF4-FFF2-40B4-BE49-F238E27FC236}">
                <a16:creationId xmlns:a16="http://schemas.microsoft.com/office/drawing/2014/main" id="{0EA7DB89-E23F-4340-0FF8-7EBDB9C2E1E6}"/>
              </a:ext>
            </a:extLst>
          </p:cNvPr>
          <p:cNvCxnSpPr/>
          <p:nvPr/>
        </p:nvCxnSpPr>
        <p:spPr>
          <a:xfrm>
            <a:off x="10613543" y="13484038"/>
            <a:ext cx="502313"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81253D8D-467D-F0DF-5E3B-39A1F123DBB7}"/>
              </a:ext>
            </a:extLst>
          </p:cNvPr>
          <p:cNvCxnSpPr>
            <a:cxnSpLocks/>
          </p:cNvCxnSpPr>
          <p:nvPr/>
        </p:nvCxnSpPr>
        <p:spPr>
          <a:xfrm>
            <a:off x="10864699" y="13204207"/>
            <a:ext cx="0" cy="55251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34" name="Rectangle 133">
            <a:extLst>
              <a:ext uri="{FF2B5EF4-FFF2-40B4-BE49-F238E27FC236}">
                <a16:creationId xmlns:a16="http://schemas.microsoft.com/office/drawing/2014/main" id="{735CEEC0-DD9F-B954-7356-4FDE55E961BD}"/>
              </a:ext>
            </a:extLst>
          </p:cNvPr>
          <p:cNvSpPr/>
          <p:nvPr/>
        </p:nvSpPr>
        <p:spPr>
          <a:xfrm>
            <a:off x="11272789" y="13163631"/>
            <a:ext cx="2650895" cy="664874"/>
          </a:xfrm>
          <a:prstGeom prst="rect">
            <a:avLst/>
          </a:prstGeom>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1800" dirty="0">
                <a:solidFill>
                  <a:schemeClr val="tx1"/>
                </a:solidFill>
              </a:rPr>
              <a:t>Clinical characteristics</a:t>
            </a:r>
          </a:p>
        </p:txBody>
      </p:sp>
      <p:cxnSp>
        <p:nvCxnSpPr>
          <p:cNvPr id="135" name="Straight Arrow Connector 134">
            <a:extLst>
              <a:ext uri="{FF2B5EF4-FFF2-40B4-BE49-F238E27FC236}">
                <a16:creationId xmlns:a16="http://schemas.microsoft.com/office/drawing/2014/main" id="{C619D226-52C7-2F16-9B1D-FB6909CD8776}"/>
              </a:ext>
            </a:extLst>
          </p:cNvPr>
          <p:cNvCxnSpPr/>
          <p:nvPr/>
        </p:nvCxnSpPr>
        <p:spPr>
          <a:xfrm>
            <a:off x="14174840" y="13480462"/>
            <a:ext cx="1116233"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3867C97E-4E5A-C0FD-F575-E88244F32FE0}"/>
              </a:ext>
            </a:extLst>
          </p:cNvPr>
          <p:cNvCxnSpPr/>
          <p:nvPr/>
        </p:nvCxnSpPr>
        <p:spPr>
          <a:xfrm>
            <a:off x="17018051" y="13461703"/>
            <a:ext cx="1116233"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37" name="Rectangle 136">
            <a:extLst>
              <a:ext uri="{FF2B5EF4-FFF2-40B4-BE49-F238E27FC236}">
                <a16:creationId xmlns:a16="http://schemas.microsoft.com/office/drawing/2014/main" id="{BA7E2656-5D20-8CA6-EAAC-B520F62B145E}"/>
              </a:ext>
            </a:extLst>
          </p:cNvPr>
          <p:cNvSpPr/>
          <p:nvPr/>
        </p:nvSpPr>
        <p:spPr>
          <a:xfrm>
            <a:off x="7470493" y="7415037"/>
            <a:ext cx="13608476" cy="5532265"/>
          </a:xfrm>
          <a:prstGeom prst="rect">
            <a:avLst/>
          </a:prstGeom>
          <a:noFill/>
          <a:ln>
            <a:solidFill>
              <a:schemeClr val="bg1">
                <a:lumMod val="75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139" name="Picture 138">
            <a:extLst>
              <a:ext uri="{FF2B5EF4-FFF2-40B4-BE49-F238E27FC236}">
                <a16:creationId xmlns:a16="http://schemas.microsoft.com/office/drawing/2014/main" id="{E976CAAB-F73E-0A66-5516-DFC3ABB8551E}"/>
              </a:ext>
            </a:extLst>
          </p:cNvPr>
          <p:cNvPicPr>
            <a:picLocks noChangeAspect="1"/>
          </p:cNvPicPr>
          <p:nvPr/>
        </p:nvPicPr>
        <p:blipFill rotWithShape="1">
          <a:blip r:embed="rId24"/>
          <a:srcRect r="13167" b="48332"/>
          <a:stretch/>
        </p:blipFill>
        <p:spPr>
          <a:xfrm>
            <a:off x="4055964" y="20174722"/>
            <a:ext cx="6436714" cy="2313224"/>
          </a:xfrm>
          <a:prstGeom prst="rect">
            <a:avLst/>
          </a:prstGeom>
        </p:spPr>
      </p:pic>
      <p:sp>
        <p:nvSpPr>
          <p:cNvPr id="140" name="Oval 139">
            <a:extLst>
              <a:ext uri="{FF2B5EF4-FFF2-40B4-BE49-F238E27FC236}">
                <a16:creationId xmlns:a16="http://schemas.microsoft.com/office/drawing/2014/main" id="{CD8ABFB7-AFBF-D81C-1AD7-85BBB7DDC65D}"/>
              </a:ext>
            </a:extLst>
          </p:cNvPr>
          <p:cNvSpPr/>
          <p:nvPr/>
        </p:nvSpPr>
        <p:spPr>
          <a:xfrm>
            <a:off x="3252031" y="20083014"/>
            <a:ext cx="431967" cy="534066"/>
          </a:xfrm>
          <a:prstGeom prst="ellipse">
            <a:avLst/>
          </a:prstGeom>
          <a:noFill/>
          <a:ln w="2857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AU"/>
          </a:p>
        </p:txBody>
      </p:sp>
      <p:cxnSp>
        <p:nvCxnSpPr>
          <p:cNvPr id="147" name="Straight Connector 146">
            <a:extLst>
              <a:ext uri="{FF2B5EF4-FFF2-40B4-BE49-F238E27FC236}">
                <a16:creationId xmlns:a16="http://schemas.microsoft.com/office/drawing/2014/main" id="{8146F6DE-ECAE-88AF-1184-D1CBE9953FC6}"/>
              </a:ext>
            </a:extLst>
          </p:cNvPr>
          <p:cNvCxnSpPr/>
          <p:nvPr/>
        </p:nvCxnSpPr>
        <p:spPr>
          <a:xfrm flipV="1">
            <a:off x="3469455" y="19763874"/>
            <a:ext cx="0" cy="213923"/>
          </a:xfrm>
          <a:prstGeom prst="line">
            <a:avLst/>
          </a:prstGeom>
          <a:ln w="28575">
            <a:solidFill>
              <a:schemeClr val="accent1"/>
            </a:solidFill>
            <a:prstDash val="solid"/>
          </a:ln>
        </p:spPr>
        <p:style>
          <a:lnRef idx="3">
            <a:schemeClr val="accent1"/>
          </a:lnRef>
          <a:fillRef idx="0">
            <a:schemeClr val="accent1"/>
          </a:fillRef>
          <a:effectRef idx="2">
            <a:schemeClr val="accent1"/>
          </a:effectRef>
          <a:fontRef idx="minor">
            <a:schemeClr val="tx1"/>
          </a:fontRef>
        </p:style>
      </p:cxnSp>
      <p:cxnSp>
        <p:nvCxnSpPr>
          <p:cNvPr id="149" name="Straight Connector 148">
            <a:extLst>
              <a:ext uri="{FF2B5EF4-FFF2-40B4-BE49-F238E27FC236}">
                <a16:creationId xmlns:a16="http://schemas.microsoft.com/office/drawing/2014/main" id="{B67895CE-A0AC-9515-E836-45FAEC816934}"/>
              </a:ext>
            </a:extLst>
          </p:cNvPr>
          <p:cNvCxnSpPr/>
          <p:nvPr/>
        </p:nvCxnSpPr>
        <p:spPr>
          <a:xfrm>
            <a:off x="3469455" y="19763874"/>
            <a:ext cx="165437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51" name="Straight Arrow Connector 150">
            <a:extLst>
              <a:ext uri="{FF2B5EF4-FFF2-40B4-BE49-F238E27FC236}">
                <a16:creationId xmlns:a16="http://schemas.microsoft.com/office/drawing/2014/main" id="{CFE5212A-EA48-F467-46A0-245A434AB8F4}"/>
              </a:ext>
            </a:extLst>
          </p:cNvPr>
          <p:cNvCxnSpPr/>
          <p:nvPr/>
        </p:nvCxnSpPr>
        <p:spPr>
          <a:xfrm>
            <a:off x="5123834" y="19763874"/>
            <a:ext cx="0" cy="3191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4" name="Straight Connector 153">
            <a:extLst>
              <a:ext uri="{FF2B5EF4-FFF2-40B4-BE49-F238E27FC236}">
                <a16:creationId xmlns:a16="http://schemas.microsoft.com/office/drawing/2014/main" id="{919912A3-DD86-02CA-6F8E-B35FCDEB5582}"/>
              </a:ext>
            </a:extLst>
          </p:cNvPr>
          <p:cNvCxnSpPr>
            <a:cxnSpLocks/>
          </p:cNvCxnSpPr>
          <p:nvPr/>
        </p:nvCxnSpPr>
        <p:spPr>
          <a:xfrm>
            <a:off x="1639377" y="22548728"/>
            <a:ext cx="7448831" cy="12587"/>
          </a:xfrm>
          <a:prstGeom prst="line">
            <a:avLst/>
          </a:prstGeom>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3585C6F7-0BA2-D9BC-1448-7BD928AD9E1F}"/>
              </a:ext>
            </a:extLst>
          </p:cNvPr>
          <p:cNvCxnSpPr>
            <a:cxnSpLocks/>
          </p:cNvCxnSpPr>
          <p:nvPr/>
        </p:nvCxnSpPr>
        <p:spPr>
          <a:xfrm flipV="1">
            <a:off x="9088208" y="22305004"/>
            <a:ext cx="0" cy="2563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1" name="TextBox 160">
            <a:extLst>
              <a:ext uri="{FF2B5EF4-FFF2-40B4-BE49-F238E27FC236}">
                <a16:creationId xmlns:a16="http://schemas.microsoft.com/office/drawing/2014/main" id="{837AD3EF-8977-FDAE-6CA5-8137C5DAC71F}"/>
              </a:ext>
            </a:extLst>
          </p:cNvPr>
          <p:cNvSpPr txBox="1"/>
          <p:nvPr/>
        </p:nvSpPr>
        <p:spPr>
          <a:xfrm>
            <a:off x="443433" y="26720864"/>
            <a:ext cx="3991179" cy="400110"/>
          </a:xfrm>
          <a:prstGeom prst="rect">
            <a:avLst/>
          </a:prstGeom>
          <a:noFill/>
        </p:spPr>
        <p:txBody>
          <a:bodyPr wrap="square" rtlCol="0">
            <a:spAutoFit/>
          </a:bodyPr>
          <a:lstStyle/>
          <a:p>
            <a:r>
              <a:rPr lang="en-AU" sz="2000" dirty="0"/>
              <a:t>SNPs and L-statistics</a:t>
            </a:r>
          </a:p>
        </p:txBody>
      </p:sp>
      <p:sp>
        <p:nvSpPr>
          <p:cNvPr id="162" name="TextBox 161">
            <a:extLst>
              <a:ext uri="{FF2B5EF4-FFF2-40B4-BE49-F238E27FC236}">
                <a16:creationId xmlns:a16="http://schemas.microsoft.com/office/drawing/2014/main" id="{C226204F-B5F7-64A2-E9EC-DE53FDAA3421}"/>
              </a:ext>
            </a:extLst>
          </p:cNvPr>
          <p:cNvSpPr txBox="1"/>
          <p:nvPr/>
        </p:nvSpPr>
        <p:spPr>
          <a:xfrm>
            <a:off x="5474903" y="26745707"/>
            <a:ext cx="4536624" cy="400110"/>
          </a:xfrm>
          <a:prstGeom prst="rect">
            <a:avLst/>
          </a:prstGeom>
          <a:noFill/>
        </p:spPr>
        <p:txBody>
          <a:bodyPr wrap="square" rtlCol="0">
            <a:spAutoFit/>
          </a:bodyPr>
          <a:lstStyle/>
          <a:p>
            <a:r>
              <a:rPr lang="en-AU" sz="2000" dirty="0"/>
              <a:t>SNPs and prevalence of high entropy</a:t>
            </a:r>
          </a:p>
        </p:txBody>
      </p:sp>
      <p:pic>
        <p:nvPicPr>
          <p:cNvPr id="163" name="Picture 162">
            <a:extLst>
              <a:ext uri="{FF2B5EF4-FFF2-40B4-BE49-F238E27FC236}">
                <a16:creationId xmlns:a16="http://schemas.microsoft.com/office/drawing/2014/main" id="{925E43EB-E8FB-364C-2705-DF68E08134D5}"/>
              </a:ext>
            </a:extLst>
          </p:cNvPr>
          <p:cNvPicPr>
            <a:picLocks noChangeAspect="1"/>
          </p:cNvPicPr>
          <p:nvPr/>
        </p:nvPicPr>
        <p:blipFill rotWithShape="1">
          <a:blip r:embed="rId25"/>
          <a:srcRect r="9926" b="50925"/>
          <a:stretch/>
        </p:blipFill>
        <p:spPr>
          <a:xfrm>
            <a:off x="4124582" y="23657100"/>
            <a:ext cx="6143190" cy="2332867"/>
          </a:xfrm>
          <a:prstGeom prst="rect">
            <a:avLst/>
          </a:prstGeom>
        </p:spPr>
      </p:pic>
      <p:cxnSp>
        <p:nvCxnSpPr>
          <p:cNvPr id="166" name="Straight Connector 165">
            <a:extLst>
              <a:ext uri="{FF2B5EF4-FFF2-40B4-BE49-F238E27FC236}">
                <a16:creationId xmlns:a16="http://schemas.microsoft.com/office/drawing/2014/main" id="{1A4FBB88-D847-018E-3789-E963D9F40B8F}"/>
              </a:ext>
            </a:extLst>
          </p:cNvPr>
          <p:cNvCxnSpPr/>
          <p:nvPr/>
        </p:nvCxnSpPr>
        <p:spPr>
          <a:xfrm flipV="1">
            <a:off x="1639377" y="23405432"/>
            <a:ext cx="0" cy="258106"/>
          </a:xfrm>
          <a:prstGeom prst="line">
            <a:avLst/>
          </a:prstGeom>
          <a:ln>
            <a:solidFill>
              <a:schemeClr val="accent5"/>
            </a:solidFill>
          </a:ln>
        </p:spPr>
        <p:style>
          <a:lnRef idx="3">
            <a:schemeClr val="accent1"/>
          </a:lnRef>
          <a:fillRef idx="0">
            <a:schemeClr val="accent1"/>
          </a:fillRef>
          <a:effectRef idx="2">
            <a:schemeClr val="accent1"/>
          </a:effectRef>
          <a:fontRef idx="minor">
            <a:schemeClr val="tx1"/>
          </a:fontRef>
        </p:style>
      </p:cxnSp>
      <p:cxnSp>
        <p:nvCxnSpPr>
          <p:cNvPr id="168" name="Straight Connector 167">
            <a:extLst>
              <a:ext uri="{FF2B5EF4-FFF2-40B4-BE49-F238E27FC236}">
                <a16:creationId xmlns:a16="http://schemas.microsoft.com/office/drawing/2014/main" id="{16245B28-0BF2-B391-2400-76109FC64662}"/>
              </a:ext>
            </a:extLst>
          </p:cNvPr>
          <p:cNvCxnSpPr/>
          <p:nvPr/>
        </p:nvCxnSpPr>
        <p:spPr>
          <a:xfrm>
            <a:off x="1639377" y="23405432"/>
            <a:ext cx="3354921"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170" name="Straight Arrow Connector 169">
            <a:extLst>
              <a:ext uri="{FF2B5EF4-FFF2-40B4-BE49-F238E27FC236}">
                <a16:creationId xmlns:a16="http://schemas.microsoft.com/office/drawing/2014/main" id="{0CF08873-27D3-0577-7CB7-C717237DF647}"/>
              </a:ext>
            </a:extLst>
          </p:cNvPr>
          <p:cNvCxnSpPr/>
          <p:nvPr/>
        </p:nvCxnSpPr>
        <p:spPr>
          <a:xfrm>
            <a:off x="5008000" y="23405432"/>
            <a:ext cx="0" cy="258106"/>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173" name="Straight Connector 172">
            <a:extLst>
              <a:ext uri="{FF2B5EF4-FFF2-40B4-BE49-F238E27FC236}">
                <a16:creationId xmlns:a16="http://schemas.microsoft.com/office/drawing/2014/main" id="{204E0056-0CCB-6A12-C865-61D092FCBDB2}"/>
              </a:ext>
            </a:extLst>
          </p:cNvPr>
          <p:cNvCxnSpPr>
            <a:cxnSpLocks/>
          </p:cNvCxnSpPr>
          <p:nvPr/>
        </p:nvCxnSpPr>
        <p:spPr>
          <a:xfrm>
            <a:off x="2565610" y="26084907"/>
            <a:ext cx="6305674"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5" name="Straight Arrow Connector 174">
            <a:extLst>
              <a:ext uri="{FF2B5EF4-FFF2-40B4-BE49-F238E27FC236}">
                <a16:creationId xmlns:a16="http://schemas.microsoft.com/office/drawing/2014/main" id="{E6613113-D67B-A6F5-3027-7CED3C3B02D4}"/>
              </a:ext>
            </a:extLst>
          </p:cNvPr>
          <p:cNvCxnSpPr/>
          <p:nvPr/>
        </p:nvCxnSpPr>
        <p:spPr>
          <a:xfrm flipV="1">
            <a:off x="8871284" y="25864090"/>
            <a:ext cx="0" cy="2208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6" name="Up Arrow 175">
            <a:extLst>
              <a:ext uri="{FF2B5EF4-FFF2-40B4-BE49-F238E27FC236}">
                <a16:creationId xmlns:a16="http://schemas.microsoft.com/office/drawing/2014/main" id="{D9AE6516-8BA8-F5BE-8810-FBADC1188558}"/>
              </a:ext>
            </a:extLst>
          </p:cNvPr>
          <p:cNvSpPr/>
          <p:nvPr/>
        </p:nvSpPr>
        <p:spPr>
          <a:xfrm>
            <a:off x="16857344" y="22954071"/>
            <a:ext cx="373786" cy="736952"/>
          </a:xfrm>
          <a:prstGeom prst="upArrow">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177" name="Up Arrow 176">
            <a:extLst>
              <a:ext uri="{FF2B5EF4-FFF2-40B4-BE49-F238E27FC236}">
                <a16:creationId xmlns:a16="http://schemas.microsoft.com/office/drawing/2014/main" id="{A19DD7DD-0646-C855-C486-F9D5E9E8496D}"/>
              </a:ext>
            </a:extLst>
          </p:cNvPr>
          <p:cNvSpPr/>
          <p:nvPr/>
        </p:nvSpPr>
        <p:spPr>
          <a:xfrm>
            <a:off x="19617654" y="22860176"/>
            <a:ext cx="373786" cy="736952"/>
          </a:xfrm>
          <a:prstGeom prst="upArrow">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9" name="Oval 8">
            <a:extLst>
              <a:ext uri="{FF2B5EF4-FFF2-40B4-BE49-F238E27FC236}">
                <a16:creationId xmlns:a16="http://schemas.microsoft.com/office/drawing/2014/main" id="{29893B21-3033-7559-58BB-F8A4835C0D42}"/>
              </a:ext>
            </a:extLst>
          </p:cNvPr>
          <p:cNvSpPr/>
          <p:nvPr/>
        </p:nvSpPr>
        <p:spPr>
          <a:xfrm>
            <a:off x="1337093" y="22123849"/>
            <a:ext cx="431967" cy="534066"/>
          </a:xfrm>
          <a:prstGeom prst="ellipse">
            <a:avLst/>
          </a:prstGeom>
          <a:noFill/>
          <a:ln w="2857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AU"/>
          </a:p>
        </p:txBody>
      </p:sp>
      <p:sp>
        <p:nvSpPr>
          <p:cNvPr id="10" name="Oval 9">
            <a:extLst>
              <a:ext uri="{FF2B5EF4-FFF2-40B4-BE49-F238E27FC236}">
                <a16:creationId xmlns:a16="http://schemas.microsoft.com/office/drawing/2014/main" id="{899358F1-5F3C-77C8-2A53-F532AD209F7F}"/>
              </a:ext>
            </a:extLst>
          </p:cNvPr>
          <p:cNvSpPr/>
          <p:nvPr/>
        </p:nvSpPr>
        <p:spPr>
          <a:xfrm>
            <a:off x="1396728" y="23733996"/>
            <a:ext cx="431967" cy="534066"/>
          </a:xfrm>
          <a:prstGeom prst="ellipse">
            <a:avLst/>
          </a:prstGeom>
          <a:noFill/>
          <a:ln w="2857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AU"/>
          </a:p>
        </p:txBody>
      </p:sp>
      <p:sp>
        <p:nvSpPr>
          <p:cNvPr id="13" name="Oval 12">
            <a:extLst>
              <a:ext uri="{FF2B5EF4-FFF2-40B4-BE49-F238E27FC236}">
                <a16:creationId xmlns:a16="http://schemas.microsoft.com/office/drawing/2014/main" id="{07CF181C-F4C5-6775-669F-36671AA3CA56}"/>
              </a:ext>
            </a:extLst>
          </p:cNvPr>
          <p:cNvSpPr/>
          <p:nvPr/>
        </p:nvSpPr>
        <p:spPr>
          <a:xfrm>
            <a:off x="2350881" y="25523034"/>
            <a:ext cx="431967" cy="534066"/>
          </a:xfrm>
          <a:prstGeom prst="ellipse">
            <a:avLst/>
          </a:prstGeom>
          <a:noFill/>
          <a:ln w="2857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AU"/>
          </a:p>
        </p:txBody>
      </p:sp>
      <p:sp>
        <p:nvSpPr>
          <p:cNvPr id="15" name="TextBox 14">
            <a:extLst>
              <a:ext uri="{FF2B5EF4-FFF2-40B4-BE49-F238E27FC236}">
                <a16:creationId xmlns:a16="http://schemas.microsoft.com/office/drawing/2014/main" id="{9EE094DE-3C0D-FF5A-DC0A-7DFBC61634CF}"/>
              </a:ext>
            </a:extLst>
          </p:cNvPr>
          <p:cNvSpPr txBox="1"/>
          <p:nvPr/>
        </p:nvSpPr>
        <p:spPr>
          <a:xfrm>
            <a:off x="914767" y="19816922"/>
            <a:ext cx="832279" cy="338554"/>
          </a:xfrm>
          <a:prstGeom prst="rect">
            <a:avLst/>
          </a:prstGeom>
          <a:noFill/>
          <a:ln>
            <a:noFill/>
          </a:ln>
        </p:spPr>
        <p:txBody>
          <a:bodyPr wrap="none" rtlCol="0">
            <a:spAutoFit/>
          </a:bodyPr>
          <a:lstStyle/>
          <a:p>
            <a:r>
              <a:rPr lang="en-US" sz="1600" b="1" dirty="0">
                <a:solidFill>
                  <a:schemeClr val="accent5">
                    <a:lumMod val="75000"/>
                  </a:schemeClr>
                </a:solidFill>
              </a:rPr>
              <a:t>INHBB</a:t>
            </a:r>
          </a:p>
        </p:txBody>
      </p:sp>
      <p:sp>
        <p:nvSpPr>
          <p:cNvPr id="21" name="TextBox 20">
            <a:extLst>
              <a:ext uri="{FF2B5EF4-FFF2-40B4-BE49-F238E27FC236}">
                <a16:creationId xmlns:a16="http://schemas.microsoft.com/office/drawing/2014/main" id="{66D3A6FD-D751-2D87-14B2-EB124FBC1F18}"/>
              </a:ext>
            </a:extLst>
          </p:cNvPr>
          <p:cNvSpPr txBox="1"/>
          <p:nvPr/>
        </p:nvSpPr>
        <p:spPr>
          <a:xfrm>
            <a:off x="897687" y="23448719"/>
            <a:ext cx="888385" cy="338554"/>
          </a:xfrm>
          <a:prstGeom prst="rect">
            <a:avLst/>
          </a:prstGeom>
          <a:noFill/>
        </p:spPr>
        <p:txBody>
          <a:bodyPr wrap="none" rtlCol="0">
            <a:spAutoFit/>
          </a:bodyPr>
          <a:lstStyle/>
          <a:p>
            <a:r>
              <a:rPr lang="en-US" sz="1600" b="1" dirty="0">
                <a:solidFill>
                  <a:schemeClr val="accent5">
                    <a:lumMod val="75000"/>
                  </a:schemeClr>
                </a:solidFill>
              </a:rPr>
              <a:t>KCNN4</a:t>
            </a:r>
          </a:p>
        </p:txBody>
      </p:sp>
    </p:spTree>
    <p:extLst>
      <p:ext uri="{BB962C8B-B14F-4D97-AF65-F5344CB8AC3E}">
        <p14:creationId xmlns:p14="http://schemas.microsoft.com/office/powerpoint/2010/main" val="419728833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Research-poster-template-landscape">
  <a:themeElements>
    <a:clrScheme name="University of Sydney 2023">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Research-poster-template-landscape</Template>
  <TotalTime>26413</TotalTime>
  <Words>607</Words>
  <Application>Microsoft Macintosh PowerPoint</Application>
  <PresentationFormat>Custom</PresentationFormat>
  <Paragraphs>91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Rounded MT Bold</vt:lpstr>
      <vt:lpstr>Calibri</vt:lpstr>
      <vt:lpstr>Research-poster-template-landscape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Amber Breeze</dc:creator>
  <cp:keywords/>
  <dc:description/>
  <cp:lastModifiedBy>Jean Yang</cp:lastModifiedBy>
  <cp:revision>226</cp:revision>
  <dcterms:created xsi:type="dcterms:W3CDTF">2023-01-23T22:28:14Z</dcterms:created>
  <dcterms:modified xsi:type="dcterms:W3CDTF">2024-08-14T04:17:39Z</dcterms:modified>
  <cp:category/>
</cp:coreProperties>
</file>